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5"/>
  </p:notesMasterIdLst>
  <p:handoutMasterIdLst>
    <p:handoutMasterId r:id="rId6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303" r:id="rId15"/>
    <p:sldId id="271" r:id="rId16"/>
    <p:sldId id="272" r:id="rId17"/>
    <p:sldId id="273" r:id="rId18"/>
    <p:sldId id="274" r:id="rId19"/>
    <p:sldId id="275" r:id="rId20"/>
    <p:sldId id="276" r:id="rId21"/>
    <p:sldId id="304" r:id="rId22"/>
    <p:sldId id="332" r:id="rId23"/>
    <p:sldId id="305" r:id="rId24"/>
    <p:sldId id="306" r:id="rId25"/>
    <p:sldId id="277" r:id="rId26"/>
    <p:sldId id="330" r:id="rId27"/>
    <p:sldId id="331" r:id="rId28"/>
    <p:sldId id="329" r:id="rId29"/>
    <p:sldId id="279" r:id="rId30"/>
    <p:sldId id="278" r:id="rId31"/>
    <p:sldId id="328" r:id="rId32"/>
    <p:sldId id="307" r:id="rId33"/>
    <p:sldId id="280" r:id="rId34"/>
    <p:sldId id="301" r:id="rId35"/>
    <p:sldId id="281" r:id="rId36"/>
    <p:sldId id="308" r:id="rId37"/>
    <p:sldId id="333" r:id="rId38"/>
    <p:sldId id="282" r:id="rId39"/>
    <p:sldId id="302" r:id="rId40"/>
    <p:sldId id="313" r:id="rId41"/>
    <p:sldId id="343" r:id="rId42"/>
    <p:sldId id="334" r:id="rId43"/>
    <p:sldId id="285" r:id="rId44"/>
    <p:sldId id="286" r:id="rId45"/>
    <p:sldId id="287" r:id="rId46"/>
    <p:sldId id="326" r:id="rId47"/>
    <p:sldId id="288" r:id="rId48"/>
    <p:sldId id="289" r:id="rId49"/>
    <p:sldId id="320" r:id="rId50"/>
    <p:sldId id="322" r:id="rId51"/>
    <p:sldId id="290" r:id="rId52"/>
    <p:sldId id="291" r:id="rId53"/>
    <p:sldId id="292" r:id="rId54"/>
    <p:sldId id="335" r:id="rId55"/>
    <p:sldId id="337" r:id="rId56"/>
    <p:sldId id="298" r:id="rId57"/>
    <p:sldId id="295" r:id="rId58"/>
    <p:sldId id="300" r:id="rId59"/>
    <p:sldId id="336" r:id="rId60"/>
    <p:sldId id="338" r:id="rId61"/>
    <p:sldId id="342" r:id="rId62"/>
    <p:sldId id="340" r:id="rId63"/>
    <p:sldId id="341" r:id="rId6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CC00"/>
    <a:srgbClr val="6666FF"/>
    <a:srgbClr val="009900"/>
    <a:srgbClr val="CC3300"/>
    <a:srgbClr val="800080"/>
    <a:srgbClr val="339966"/>
    <a:srgbClr val="99CC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e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E5BE480-82EC-4904-BAA0-BD7F86682068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7097089-306A-46FA-B4B0-8EA863B94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7038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7F91533-D538-474A-B255-53BD35DAA7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3153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1B047EB-3FF8-44B8-B26B-487C8BB7DFA9}" type="datetime1">
              <a:rPr lang="vi-VN" smtClean="0"/>
              <a:pPr/>
              <a:t>20/02/2022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5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8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13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05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30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84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50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4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86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32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9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5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90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6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97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20/02/2022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7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263170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grpSp>
          <p:nvGrpSpPr>
            <p:cNvPr id="3" name="Group 1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263171" name="Rectangle 3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72" name="Rectangle 4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78" name="Line 10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5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263179" name="Rectangle 11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80" name="Line 12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317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6317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63175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26317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63177" name="Rectangle 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FC18A56-02AF-4E34-A4B4-7465085CE6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E56B6-077A-4A36-A778-66B152E4D6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E8974-8525-48C6-8B8B-0CF1E605D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1462C-95F2-4338-9725-C420CDFDE0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3DE1C-4BDA-440A-A41F-E16C4E2D5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7534F-29FB-4919-8BAB-5FEBEEEB81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600A1-4633-4F5B-897C-D8E656B3F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A9772-CA93-4EB4-9EBF-42A5979DC0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5C556-580B-475C-AFB0-CFDBA8156D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5A1CE8-D3B8-43CA-81C2-73EAD8A6C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5E666-5980-4488-BF3C-D9BF156946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2621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262146" name="Rectangle 2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2148" name="Line 4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21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 smtClean="0"/>
              <a:t>Chương 1. Cơ sở lôgic</a:t>
            </a:r>
            <a:endParaRPr lang="en-US"/>
          </a:p>
        </p:txBody>
      </p:sp>
      <p:sp>
        <p:nvSpPr>
          <p:cNvPr id="26215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26215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7E771C45-088B-4C6D-8E84-CBEAD85176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2154" name="Line 10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6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1.wmf"/><Relationship Id="rId5" Type="http://schemas.openxmlformats.org/officeDocument/2006/relationships/image" Target="../media/image13.wmf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4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7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3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5" Type="http://schemas.openxmlformats.org/officeDocument/2006/relationships/image" Target="../media/image44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34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png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5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36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37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8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1143000"/>
            <a:ext cx="7010400" cy="2209800"/>
          </a:xfrm>
        </p:spPr>
        <p:txBody>
          <a:bodyPr/>
          <a:lstStyle/>
          <a:p>
            <a:r>
              <a:rPr lang="en-US" sz="5400" b="1" dirty="0" smtClean="0"/>
              <a:t>CẤU TRÚC RỜI RẠC</a:t>
            </a:r>
            <a:endParaRPr lang="en-US" sz="5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C18A56-02AF-4E34-A4B4-7465085CE68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Hình chữ nhật 1"/>
          <p:cNvSpPr/>
          <p:nvPr/>
        </p:nvSpPr>
        <p:spPr>
          <a:xfrm>
            <a:off x="1524000" y="4038600"/>
            <a:ext cx="655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 smtClean="0">
                <a:solidFill>
                  <a:schemeClr val="bg2"/>
                </a:solidFill>
              </a:rPr>
              <a:t>CHƯƠNG I: CƠ SỞ LOGIC </a:t>
            </a:r>
            <a:endParaRPr lang="vi-VN" sz="3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CHƯƠNG I: CƠ SỞ 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sz="3200" dirty="0" smtClean="0">
              <a:solidFill>
                <a:srgbClr val="0070C0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 smtClean="0">
                <a:solidFill>
                  <a:srgbClr val="0070C0"/>
                </a:solidFill>
              </a:rPr>
              <a:t>Mệnh đề</a:t>
            </a: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3200" dirty="0" err="1" smtClean="0">
                <a:solidFill>
                  <a:srgbClr val="0070C0"/>
                </a:solidFill>
              </a:rPr>
              <a:t>Biểu</a:t>
            </a:r>
            <a:r>
              <a:rPr lang="en-US" sz="3200" dirty="0" smtClean="0">
                <a:solidFill>
                  <a:srgbClr val="0070C0"/>
                </a:solidFill>
              </a:rPr>
              <a:t> </a:t>
            </a:r>
            <a:r>
              <a:rPr lang="en-US" sz="3200" dirty="0" err="1" smtClean="0">
                <a:solidFill>
                  <a:srgbClr val="0070C0"/>
                </a:solidFill>
              </a:rPr>
              <a:t>thức</a:t>
            </a:r>
            <a:r>
              <a:rPr lang="en-US" sz="3200" dirty="0" smtClean="0">
                <a:solidFill>
                  <a:srgbClr val="0070C0"/>
                </a:solidFill>
              </a:rPr>
              <a:t> logic (</a:t>
            </a:r>
            <a:r>
              <a:rPr lang="en-US" sz="3200" dirty="0" err="1" smtClean="0">
                <a:solidFill>
                  <a:srgbClr val="0070C0"/>
                </a:solidFill>
              </a:rPr>
              <a:t>Dạng</a:t>
            </a:r>
            <a:r>
              <a:rPr lang="en-US" sz="3200" dirty="0" smtClean="0">
                <a:solidFill>
                  <a:srgbClr val="0070C0"/>
                </a:solidFill>
              </a:rPr>
              <a:t> </a:t>
            </a:r>
            <a:r>
              <a:rPr lang="en-US" sz="3200" dirty="0" err="1" smtClean="0">
                <a:solidFill>
                  <a:srgbClr val="0070C0"/>
                </a:solidFill>
              </a:rPr>
              <a:t>mệnh</a:t>
            </a:r>
            <a:r>
              <a:rPr lang="en-US" sz="3200" dirty="0" smtClean="0">
                <a:solidFill>
                  <a:srgbClr val="0070C0"/>
                </a:solidFill>
              </a:rPr>
              <a:t> </a:t>
            </a:r>
            <a:r>
              <a:rPr lang="en-US" sz="3200" dirty="0" err="1" smtClean="0">
                <a:solidFill>
                  <a:srgbClr val="0070C0"/>
                </a:solidFill>
              </a:rPr>
              <a:t>đề</a:t>
            </a:r>
            <a:r>
              <a:rPr lang="en-US" sz="3200" dirty="0" smtClean="0">
                <a:solidFill>
                  <a:srgbClr val="0070C0"/>
                </a:solidFill>
              </a:rPr>
              <a:t>)</a:t>
            </a:r>
            <a:endParaRPr lang="vi-VN" sz="3200" dirty="0">
              <a:solidFill>
                <a:srgbClr val="0070C0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Qui tắc suy diễn</a:t>
            </a: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Vị từ, lượng từ</a:t>
            </a: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Quy nạp </a:t>
            </a:r>
            <a:r>
              <a:rPr lang="vi-VN" sz="3200" dirty="0" smtClean="0">
                <a:solidFill>
                  <a:srgbClr val="0070C0"/>
                </a:solidFill>
              </a:rPr>
              <a:t>toán học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b="1" dirty="0" smtClean="0">
                <a:solidFill>
                  <a:srgbClr val="0070C0"/>
                </a:solidFill>
              </a:rPr>
              <a:t> Định nghĩa: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vi-VN" dirty="0" smtClean="0"/>
              <a:t>Mệnh đề là một khẳng định có giá trị chân lý</a:t>
            </a:r>
            <a:r>
              <a:rPr lang="en-US" dirty="0" smtClean="0"/>
              <a:t> </a:t>
            </a:r>
            <a:r>
              <a:rPr lang="vi-VN" dirty="0" smtClean="0"/>
              <a:t>xác định, đúng hoặc sai.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vi-VN" dirty="0" smtClean="0"/>
              <a:t>Câu hỏi, câu cảm thán, mệnh lệnh… không là mệnh đề.</a:t>
            </a:r>
            <a:endParaRPr lang="en-US" dirty="0" smtClean="0"/>
          </a:p>
          <a:p>
            <a:pPr>
              <a:buNone/>
            </a:pPr>
            <a:r>
              <a:rPr lang="vi-VN" dirty="0" smtClean="0">
                <a:solidFill>
                  <a:srgbClr val="CC3300"/>
                </a:solidFill>
              </a:rPr>
              <a:t>Ví dụ: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CNTT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ĐHQG TP.HCM.</a:t>
            </a:r>
            <a:endParaRPr lang="vi-V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vi-VN" dirty="0" smtClean="0"/>
              <a:t> 1+</a:t>
            </a:r>
            <a:r>
              <a:rPr lang="en-US" dirty="0" smtClean="0"/>
              <a:t>7</a:t>
            </a:r>
            <a:r>
              <a:rPr lang="vi-VN" dirty="0" smtClean="0"/>
              <a:t> =</a:t>
            </a:r>
            <a:r>
              <a:rPr lang="en-US" dirty="0" smtClean="0"/>
              <a:t>8.</a:t>
            </a:r>
            <a:endParaRPr lang="vi-V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vi-VN" dirty="0" smtClean="0"/>
              <a:t> Hôm nay </a:t>
            </a:r>
            <a:r>
              <a:rPr lang="en-US" dirty="0" err="1" smtClean="0"/>
              <a:t>em</a:t>
            </a:r>
            <a:r>
              <a:rPr lang="vi-VN" dirty="0" smtClean="0"/>
              <a:t> đẹp quá!  (k</a:t>
            </a:r>
            <a:r>
              <a:rPr lang="en-US" dirty="0" err="1" smtClean="0"/>
              <a:t>hông</a:t>
            </a:r>
            <a:r>
              <a:rPr lang="vi-VN" dirty="0" smtClean="0"/>
              <a:t> là mệnh đề)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err="1" smtClean="0"/>
              <a:t>Hôm</a:t>
            </a:r>
            <a:r>
              <a:rPr lang="en-US" dirty="0" smtClean="0"/>
              <a:t> nay </a:t>
            </a:r>
            <a:r>
              <a:rPr lang="en-US" dirty="0" err="1" smtClean="0"/>
              <a:t>ngày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mấy</a:t>
            </a:r>
            <a:r>
              <a:rPr lang="en-US" dirty="0" smtClean="0"/>
              <a:t>?</a:t>
            </a:r>
            <a:r>
              <a:rPr lang="vi-VN" dirty="0" smtClean="0"/>
              <a:t> (k</a:t>
            </a:r>
            <a:r>
              <a:rPr lang="en-US" dirty="0" err="1" smtClean="0"/>
              <a:t>hông</a:t>
            </a:r>
            <a:r>
              <a:rPr lang="vi-VN" dirty="0" smtClean="0"/>
              <a:t> là mệnh đề)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 smtClean="0">
                <a:solidFill>
                  <a:srgbClr val="CC3300"/>
                </a:solidFill>
              </a:rPr>
              <a:t>Ký hiệu:  </a:t>
            </a:r>
            <a:r>
              <a:rPr lang="vi-VN" dirty="0" smtClean="0"/>
              <a:t>người ta dùng các ký hiệu P, Q, R… </a:t>
            </a:r>
            <a:r>
              <a:rPr lang="en-US" dirty="0" smtClean="0"/>
              <a:t>(</a:t>
            </a:r>
            <a:r>
              <a:rPr lang="en-US" dirty="0" err="1" smtClean="0"/>
              <a:t>p,q,r</a:t>
            </a:r>
            <a:r>
              <a:rPr lang="en-US" dirty="0" smtClean="0"/>
              <a:t>,…) </a:t>
            </a:r>
            <a:r>
              <a:rPr lang="vi-VN" dirty="0" smtClean="0"/>
              <a:t>để chỉ mệnh đề.</a:t>
            </a:r>
          </a:p>
          <a:p>
            <a:pPr algn="just"/>
            <a:r>
              <a:rPr lang="vi-VN" dirty="0" smtClean="0">
                <a:solidFill>
                  <a:srgbClr val="CC3300"/>
                </a:solidFill>
              </a:rPr>
              <a:t>Chân trị của mệnh đề: </a:t>
            </a:r>
            <a:r>
              <a:rPr lang="vi-VN" dirty="0" smtClean="0"/>
              <a:t>Một mệnh đề chỉ có thể đúng hoặc sai, không thể</a:t>
            </a:r>
            <a:r>
              <a:rPr lang="en-US" dirty="0" smtClean="0"/>
              <a:t> </a:t>
            </a:r>
            <a:r>
              <a:rPr lang="vi-VN" dirty="0" smtClean="0"/>
              <a:t>đồng thời vừa đúng vừa sai. Khi mệnh đề P đúng ta nói P có chân trị đúng, ngược lại ta nói P có chân</a:t>
            </a:r>
            <a:r>
              <a:rPr lang="en-US" dirty="0" smtClean="0"/>
              <a:t> </a:t>
            </a:r>
            <a:r>
              <a:rPr lang="vi-VN" dirty="0" smtClean="0"/>
              <a:t>trị sai. </a:t>
            </a:r>
          </a:p>
          <a:p>
            <a:pPr algn="just"/>
            <a:r>
              <a:rPr lang="vi-VN" dirty="0" smtClean="0"/>
              <a:t>Chân trị đúng và chân trị sai sẽ được ký hiệu lần lượt </a:t>
            </a:r>
            <a:r>
              <a:rPr lang="vi-VN" dirty="0" err="1" smtClean="0"/>
              <a:t>là</a:t>
            </a:r>
            <a:r>
              <a:rPr lang="vi-VN" dirty="0" smtClean="0"/>
              <a:t> 1 (hay Đ, T) </a:t>
            </a:r>
            <a:r>
              <a:rPr lang="vi-VN" dirty="0" err="1" smtClean="0"/>
              <a:t>và</a:t>
            </a:r>
            <a:r>
              <a:rPr lang="vi-VN" dirty="0" smtClean="0"/>
              <a:t> 0 (hay S, F)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 smtClean="0">
                <a:solidFill>
                  <a:srgbClr val="0070C0"/>
                </a:solidFill>
              </a:rPr>
              <a:t>Phân loại: </a:t>
            </a:r>
            <a:r>
              <a:rPr lang="vi-VN" dirty="0" smtClean="0"/>
              <a:t>gồm 2 loại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vi-VN" dirty="0" smtClean="0">
                <a:solidFill>
                  <a:srgbClr val="CC3300"/>
                </a:solidFill>
              </a:rPr>
              <a:t>Mệnh đề phức hợp: </a:t>
            </a:r>
            <a:r>
              <a:rPr lang="vi-VN" dirty="0" smtClean="0"/>
              <a:t>là mệnh đề được xây dựng từ các</a:t>
            </a:r>
            <a:r>
              <a:rPr lang="en-US" dirty="0" smtClean="0"/>
              <a:t> </a:t>
            </a:r>
            <a:r>
              <a:rPr lang="vi-VN" dirty="0" smtClean="0"/>
              <a:t>mệnh đề khác nhờ liên kết bằng các liên từ (và, hay, khi</a:t>
            </a:r>
            <a:r>
              <a:rPr lang="en-US" dirty="0" smtClean="0"/>
              <a:t> </a:t>
            </a:r>
            <a:r>
              <a:rPr lang="vi-VN" dirty="0" smtClean="0"/>
              <a:t>và chỉ khi,…) hoặc trạng từ “không”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vi-VN" dirty="0" smtClean="0">
                <a:solidFill>
                  <a:srgbClr val="CC3300"/>
                </a:solidFill>
              </a:rPr>
              <a:t>Mệnh đề sơ cấp (nguyên thủy): </a:t>
            </a:r>
            <a:r>
              <a:rPr lang="vi-VN" dirty="0" smtClean="0"/>
              <a:t>Là mệnh đề không thể</a:t>
            </a:r>
            <a:r>
              <a:rPr lang="en-US" dirty="0" smtClean="0"/>
              <a:t> </a:t>
            </a:r>
            <a:r>
              <a:rPr lang="vi-VN" dirty="0" smtClean="0"/>
              <a:t>xây dựng từ các mệnh đề khác thông qua liên từ hoặc</a:t>
            </a:r>
            <a:r>
              <a:rPr lang="en-US" dirty="0" smtClean="0"/>
              <a:t> </a:t>
            </a:r>
            <a:r>
              <a:rPr lang="vi-VN" dirty="0" smtClean="0"/>
              <a:t>trạng từ “không”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 smtClean="0">
                <a:solidFill>
                  <a:schemeClr val="accent2"/>
                </a:solidFill>
              </a:rPr>
              <a:t>Ví dụ: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 smtClean="0"/>
              <a:t> 2 là số nguyên </a:t>
            </a:r>
            <a:r>
              <a:rPr lang="vi-VN" dirty="0" err="1" smtClean="0"/>
              <a:t>tố</a:t>
            </a:r>
            <a:r>
              <a:rPr lang="en-US" dirty="0" smtClean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 smtClean="0"/>
              <a:t> 2 </a:t>
            </a:r>
            <a:r>
              <a:rPr lang="en-US" dirty="0" err="1" smtClean="0"/>
              <a:t>không</a:t>
            </a:r>
            <a:r>
              <a:rPr lang="en-US" dirty="0" smtClean="0"/>
              <a:t> l</a:t>
            </a:r>
            <a:r>
              <a:rPr lang="vi-VN" dirty="0" smtClean="0"/>
              <a:t>à số nguyên tố</a:t>
            </a:r>
            <a:r>
              <a:rPr lang="en-US" dirty="0" smtClean="0"/>
              <a:t>.</a:t>
            </a:r>
            <a:endParaRPr lang="vi-VN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/>
              <a:t> 2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r>
              <a:rPr lang="en-US" dirty="0" smtClean="0"/>
              <a:t>.</a:t>
            </a:r>
            <a:endParaRPr lang="vi-VN" dirty="0" smtClean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/>
              <a:t> An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ti</a:t>
            </a:r>
            <a:r>
              <a:rPr lang="en-US" dirty="0" smtClean="0"/>
              <a:t> vi hay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 smtClean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Các phép toán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có 5 phép toán</a:t>
            </a:r>
          </a:p>
          <a:p>
            <a:pPr marL="4763" indent="400050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phủ định: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 của mệnh đề P </a:t>
            </a:r>
            <a:r>
              <a:rPr lang="en-US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một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mệnh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ký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hiệu là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Symbol"/>
              </a:rPr>
              <a:t>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hay    (đọc là “không” P hay “phủ định</a:t>
            </a:r>
            <a:r>
              <a:rPr lang="en-US" dirty="0"/>
              <a:t> </a:t>
            </a:r>
            <a:r>
              <a:rPr lang="en-US" dirty="0" smtClean="0"/>
              <a:t>c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ủa” P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algn="just">
              <a:buNone/>
            </a:pP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Bảng chân trị : </a:t>
            </a:r>
          </a:p>
          <a:p>
            <a:pPr algn="just">
              <a:buNone/>
            </a:pP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 là số nguyên tố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vi-VN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định: 2 không là số nguyên tố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&gt; 5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định: 1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</a:t>
            </a:r>
            <a:r>
              <a:rPr lang="vi-V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≤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buFontTx/>
              <a:buChar char="-"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0" y="3505200"/>
          <a:ext cx="2438400" cy="125984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175281" y="3519268"/>
          <a:ext cx="3063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46" name="Equation" r:id="rId3" imgW="241200" imgH="406080" progId="Equation.DSMT4">
                  <p:embed/>
                </p:oleObj>
              </mc:Choice>
              <mc:Fallback>
                <p:oleObj name="Equation" r:id="rId3" imgW="241200" imgH="406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81" y="3519268"/>
                        <a:ext cx="3063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934200" y="2514600"/>
          <a:ext cx="306387" cy="45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47" name="Equation" r:id="rId5" imgW="241200" imgH="406080" progId="Equation.DSMT4">
                  <p:embed/>
                </p:oleObj>
              </mc:Choice>
              <mc:Fallback>
                <p:oleObj name="Equation" r:id="rId5" imgW="241200" imgH="4060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14600"/>
                        <a:ext cx="306387" cy="457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9530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2"/>
            </a:pP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hội (nối liền, giao): </a:t>
            </a:r>
            <a:r>
              <a:rPr lang="vi-VN" dirty="0" smtClean="0">
                <a:latin typeface="+mn-lt"/>
                <a:ea typeface="+mn-ea"/>
                <a:cs typeface="+mn-cs"/>
              </a:rPr>
              <a:t>của hai mệnh đề P, Q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,</a:t>
            </a:r>
            <a:r>
              <a:rPr lang="vi-VN" dirty="0" smtClean="0">
                <a:latin typeface="+mn-lt"/>
                <a:ea typeface="+mn-ea"/>
                <a:cs typeface="+mn-cs"/>
              </a:rPr>
              <a:t> kí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hiệu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P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  <a:sym typeface="Symbol"/>
              </a:rPr>
              <a:t></a:t>
            </a:r>
            <a:r>
              <a:rPr lang="vi-VN" dirty="0" smtClean="0">
                <a:latin typeface="+mn-lt"/>
                <a:ea typeface="+mn-ea"/>
                <a:cs typeface="+mn-cs"/>
              </a:rPr>
              <a:t> Q (đọc là “P và Q</a:t>
            </a:r>
            <a:r>
              <a:rPr lang="en-US" dirty="0" smtClean="0">
                <a:latin typeface="+mn-lt"/>
                <a:ea typeface="+mn-ea"/>
                <a:cs typeface="+mn-cs"/>
              </a:rPr>
              <a:t>)</a:t>
            </a:r>
            <a:endParaRPr lang="vi-VN" dirty="0" smtClean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 smtClean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 smtClean="0">
                <a:latin typeface="+mn-lt"/>
                <a:ea typeface="+mn-ea"/>
                <a:cs typeface="+mn-cs"/>
              </a:rPr>
              <a:t>: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accent2"/>
                </a:solidFill>
              </a:rPr>
              <a:t>NX</a:t>
            </a:r>
            <a:r>
              <a:rPr lang="en-US" dirty="0" smtClean="0"/>
              <a:t>: </a:t>
            </a:r>
            <a:r>
              <a:rPr lang="vi-VN" dirty="0" smtClean="0"/>
              <a:t>P</a:t>
            </a:r>
            <a:r>
              <a:rPr lang="vi-VN" dirty="0" smtClean="0">
                <a:sym typeface="Symbol"/>
              </a:rPr>
              <a:t></a:t>
            </a:r>
            <a:r>
              <a:rPr lang="vi-VN" dirty="0" smtClean="0"/>
              <a:t>Q đúng khi và chỉ khi </a:t>
            </a:r>
            <a:endParaRPr lang="en-US" dirty="0" smtClean="0"/>
          </a:p>
          <a:p>
            <a:pPr algn="just">
              <a:buNone/>
            </a:pPr>
            <a:r>
              <a:rPr lang="vi-VN" dirty="0" smtClean="0"/>
              <a:t>P và Q</a:t>
            </a:r>
            <a:r>
              <a:rPr lang="en-US" dirty="0" smtClean="0"/>
              <a:t> </a:t>
            </a:r>
            <a:r>
              <a:rPr lang="vi-VN" dirty="0" smtClean="0"/>
              <a:t>đồng thời đúng.</a:t>
            </a:r>
            <a:endParaRPr lang="vi-VN" dirty="0" smtClean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None/>
            </a:pPr>
            <a:r>
              <a:rPr lang="en-US" dirty="0"/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smtClean="0">
                <a:latin typeface="+mn-lt"/>
                <a:ea typeface="+mn-ea"/>
                <a:cs typeface="+mn-cs"/>
              </a:rPr>
              <a:t>P: “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Hôm</a:t>
            </a:r>
            <a:r>
              <a:rPr lang="en-US" dirty="0" smtClean="0">
                <a:latin typeface="+mn-lt"/>
                <a:ea typeface="+mn-ea"/>
                <a:cs typeface="+mn-cs"/>
              </a:rPr>
              <a:t> nay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chủ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nhật</a:t>
            </a:r>
            <a:r>
              <a:rPr lang="en-US" dirty="0" smtClean="0">
                <a:latin typeface="+mn-lt"/>
                <a:ea typeface="+mn-ea"/>
                <a:cs typeface="+mn-cs"/>
              </a:rPr>
              <a:t>”</a:t>
            </a:r>
            <a:endParaRPr lang="vi-VN" dirty="0" smtClean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en-US" dirty="0" smtClean="0">
                <a:latin typeface="+mn-lt"/>
                <a:ea typeface="+mn-ea"/>
                <a:cs typeface="+mn-cs"/>
              </a:rPr>
              <a:t>  Q: “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Hôm</a:t>
            </a:r>
            <a:r>
              <a:rPr lang="en-US" dirty="0" smtClean="0">
                <a:latin typeface="+mn-lt"/>
                <a:ea typeface="+mn-ea"/>
                <a:cs typeface="+mn-cs"/>
              </a:rPr>
              <a:t> nay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trời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mưa</a:t>
            </a:r>
            <a:r>
              <a:rPr lang="en-US" dirty="0" smtClean="0">
                <a:latin typeface="+mn-lt"/>
                <a:ea typeface="+mn-ea"/>
                <a:cs typeface="+mn-cs"/>
              </a:rPr>
              <a:t>”</a:t>
            </a:r>
          </a:p>
          <a:p>
            <a:pPr algn="just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P </a:t>
            </a:r>
            <a:r>
              <a:rPr lang="vi-VN" dirty="0" smtClean="0">
                <a:latin typeface="+mn-lt"/>
                <a:ea typeface="+mn-ea"/>
                <a:cs typeface="+mn-cs"/>
                <a:sym typeface="Symbol"/>
              </a:rPr>
              <a:t></a:t>
            </a:r>
            <a:r>
              <a:rPr lang="vi-VN" dirty="0" smtClean="0">
                <a:latin typeface="+mn-lt"/>
                <a:ea typeface="+mn-ea"/>
                <a:cs typeface="+mn-cs"/>
              </a:rPr>
              <a:t> Q</a:t>
            </a:r>
            <a:r>
              <a:rPr lang="en-US" dirty="0" smtClean="0">
                <a:latin typeface="+mn-lt"/>
                <a:ea typeface="+mn-ea"/>
                <a:cs typeface="+mn-cs"/>
              </a:rPr>
              <a:t>: “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Hôm</a:t>
            </a:r>
            <a:r>
              <a:rPr lang="en-US" dirty="0" smtClean="0">
                <a:latin typeface="+mn-lt"/>
                <a:ea typeface="+mn-ea"/>
                <a:cs typeface="+mn-cs"/>
              </a:rPr>
              <a:t> nay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chủ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nhật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và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trời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mưa</a:t>
            </a:r>
            <a:r>
              <a:rPr lang="en-US" dirty="0" smtClean="0">
                <a:latin typeface="+mn-lt"/>
                <a:ea typeface="+mn-ea"/>
                <a:cs typeface="+mn-cs"/>
              </a:rPr>
              <a:t>”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2667000"/>
          <a:ext cx="2755245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9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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8006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3"/>
            </a:pP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tuyển (nối rời,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hợp): </a:t>
            </a:r>
            <a:r>
              <a:rPr lang="vi-VN" dirty="0" smtClean="0">
                <a:latin typeface="+mn-lt"/>
                <a:ea typeface="+mn-ea"/>
                <a:cs typeface="+mn-cs"/>
              </a:rPr>
              <a:t>của hai mệnh đề P, Q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mộ</a:t>
            </a:r>
            <a:r>
              <a:rPr lang="en-US" dirty="0" err="1" smtClean="0"/>
              <a:t>t</a:t>
            </a:r>
            <a:r>
              <a:rPr lang="en-US" dirty="0" smtClean="0"/>
              <a:t>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,</a:t>
            </a:r>
            <a:r>
              <a:rPr lang="vi-VN" dirty="0" smtClean="0">
                <a:latin typeface="+mn-lt"/>
                <a:ea typeface="+mn-ea"/>
                <a:cs typeface="+mn-cs"/>
              </a:rPr>
              <a:t> kí hiệu P </a:t>
            </a:r>
            <a:r>
              <a:rPr lang="vi-VN" dirty="0" smtClean="0">
                <a:latin typeface="+mn-lt"/>
                <a:ea typeface="+mn-ea"/>
                <a:cs typeface="+mn-cs"/>
                <a:sym typeface="Symbol"/>
              </a:rPr>
              <a:t></a:t>
            </a:r>
            <a:r>
              <a:rPr lang="en-US" dirty="0" smtClean="0">
                <a:latin typeface="+mn-lt"/>
                <a:ea typeface="+mn-ea"/>
                <a:cs typeface="+mn-cs"/>
                <a:sym typeface="Symbol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Q (đọc là “P hay Q”)</a:t>
            </a:r>
            <a:r>
              <a:rPr lang="en-US" dirty="0" smtClean="0">
                <a:latin typeface="+mn-lt"/>
                <a:ea typeface="+mn-ea"/>
                <a:cs typeface="+mn-cs"/>
              </a:rPr>
              <a:t>.</a:t>
            </a: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 smtClean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</a:rPr>
              <a:t>NX:</a:t>
            </a:r>
            <a:r>
              <a:rPr lang="vi-VN" dirty="0" smtClean="0"/>
              <a:t> P</a:t>
            </a:r>
            <a:r>
              <a:rPr lang="en-US" dirty="0" smtClean="0"/>
              <a:t> </a:t>
            </a:r>
            <a:r>
              <a:rPr lang="vi-VN" dirty="0" smtClean="0">
                <a:sym typeface="Symbol"/>
              </a:rPr>
              <a:t>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/>
              <a:t>Q sai khi và chỉ khi </a:t>
            </a:r>
            <a:endParaRPr lang="en-US" dirty="0" smtClean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/>
              <a:t>P và Q đồng thời sai.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e </a:t>
            </a:r>
            <a:r>
              <a:rPr lang="vi-VN" dirty="0" smtClean="0">
                <a:latin typeface="+mn-lt"/>
                <a:ea typeface="+mn-ea"/>
                <a:cs typeface="+mn-cs"/>
              </a:rPr>
              <a:t>&gt;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4 hay </a:t>
            </a:r>
            <a:r>
              <a:rPr lang="en-US" dirty="0" smtClean="0"/>
              <a:t>e </a:t>
            </a:r>
            <a:r>
              <a:rPr lang="vi-VN" dirty="0" smtClean="0">
                <a:latin typeface="+mn-lt"/>
                <a:ea typeface="+mn-ea"/>
                <a:cs typeface="+mn-cs"/>
              </a:rPr>
              <a:t>&gt;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5 (S)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smtClean="0">
                <a:latin typeface="+mn-lt"/>
                <a:ea typeface="+mn-ea"/>
                <a:cs typeface="+mn-cs"/>
              </a:rPr>
              <a:t>  </a:t>
            </a:r>
            <a:r>
              <a:rPr lang="vi-VN" dirty="0" smtClean="0"/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2 là số nguyên tố hay là số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lẻ</a:t>
            </a:r>
            <a:r>
              <a:rPr lang="vi-VN" dirty="0" smtClean="0">
                <a:latin typeface="+mn-lt"/>
                <a:ea typeface="+mn-ea"/>
                <a:cs typeface="+mn-cs"/>
              </a:rPr>
              <a:t> (Đ)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599" y="3020672"/>
          <a:ext cx="2755245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9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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/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kéo theo: </a:t>
            </a:r>
            <a:r>
              <a:rPr lang="vi-VN" dirty="0" smtClean="0">
                <a:latin typeface="+mn-lt"/>
                <a:ea typeface="+mn-ea"/>
                <a:cs typeface="+mn-cs"/>
              </a:rPr>
              <a:t>Mệnh đề P kéo theo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mệnh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đề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Q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một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mệnh đề, kí hiệu P </a:t>
            </a:r>
            <a:r>
              <a:rPr lang="vi-VN" dirty="0">
                <a:sym typeface="Symbol"/>
              </a:rPr>
              <a:t></a:t>
            </a:r>
            <a:r>
              <a:rPr lang="vi-VN" dirty="0" smtClean="0">
                <a:latin typeface="+mn-lt"/>
                <a:ea typeface="+mn-ea"/>
                <a:cs typeface="+mn-cs"/>
              </a:rPr>
              <a:t> Q (đọc là “P kéo theo Q” hay “Nếu P thì Q” hay “P là điều kiện đủ của Q” hay “Q 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điều kiện cần của P”)</a:t>
            </a:r>
            <a:r>
              <a:rPr lang="en-US" dirty="0" smtClean="0">
                <a:latin typeface="+mn-lt"/>
                <a:ea typeface="+mn-ea"/>
                <a:cs typeface="+mn-cs"/>
              </a:rPr>
              <a:t>.</a:t>
            </a: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 smtClean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chemeClr val="accent2"/>
                </a:solidFill>
              </a:rPr>
              <a:t>NX:</a:t>
            </a:r>
            <a:r>
              <a:rPr lang="en-US" dirty="0" smtClean="0"/>
              <a:t> </a:t>
            </a:r>
            <a:r>
              <a:rPr lang="vi-VN" dirty="0" smtClean="0"/>
              <a:t>P </a:t>
            </a:r>
            <a:r>
              <a:rPr lang="vi-VN" dirty="0" smtClean="0">
                <a:sym typeface="Symbol"/>
              </a:rPr>
              <a:t></a:t>
            </a:r>
            <a:r>
              <a:rPr lang="vi-VN" dirty="0" smtClean="0"/>
              <a:t> Q sai khi và chỉ </a:t>
            </a:r>
            <a:endParaRPr lang="en-US" dirty="0" smtClean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/>
              <a:t>khi P đúng mà Q sai.</a:t>
            </a:r>
            <a:endParaRPr lang="en-US" dirty="0" smtClean="0"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/>
              <a:t> e &gt;4 </a:t>
            </a:r>
            <a:r>
              <a:rPr lang="en-US" dirty="0" err="1" smtClean="0"/>
              <a:t>kéo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5&gt;6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10400" y="3429000"/>
          <a:ext cx="3429000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 smtClean="0">
                          <a:solidFill>
                            <a:schemeClr val="tx1"/>
                          </a:solidFill>
                          <a:sym typeface="Symbol"/>
                        </a:rPr>
                        <a:t>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4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435230"/>
              </p:ext>
            </p:extLst>
          </p:nvPr>
        </p:nvGraphicFramePr>
        <p:xfrm>
          <a:off x="4419600" y="6157913"/>
          <a:ext cx="381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51" name="Equation" r:id="rId4" imgW="380880" imgH="304560" progId="Equation.DSMT4">
                  <p:embed/>
                </p:oleObj>
              </mc:Choice>
              <mc:Fallback>
                <p:oleObj name="Equation" r:id="rId4" imgW="380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6157913"/>
                        <a:ext cx="3810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52578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5"/>
            </a:pPr>
            <a:r>
              <a:rPr lang="en-US" dirty="0"/>
              <a:t> 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kéo theo hai chiều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tương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đương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)</a:t>
            </a:r>
            <a:r>
              <a:rPr lang="vi-VN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vi-VN" dirty="0" smtClean="0">
                <a:latin typeface="+mn-lt"/>
                <a:ea typeface="+mn-ea"/>
                <a:cs typeface="+mn-cs"/>
              </a:rPr>
              <a:t>Mệnh đề P kéo theo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mệnh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đề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vi-VN" dirty="0" smtClean="0">
                <a:latin typeface="+mn-lt"/>
                <a:ea typeface="+mn-ea"/>
                <a:cs typeface="+mn-cs"/>
              </a:rPr>
              <a:t>Q và ngược lại </a:t>
            </a:r>
            <a:r>
              <a:rPr lang="en-US" dirty="0" smtClean="0">
                <a:latin typeface="+mn-lt"/>
                <a:ea typeface="+mn-ea"/>
                <a:cs typeface="+mn-cs"/>
              </a:rPr>
              <a:t>(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mệnh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đề</a:t>
            </a:r>
            <a:r>
              <a:rPr lang="en-US" dirty="0" smtClean="0">
                <a:latin typeface="+mn-lt"/>
                <a:ea typeface="+mn-ea"/>
                <a:cs typeface="+mn-cs"/>
              </a:rPr>
              <a:t> P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tương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đương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với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mệnh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đề</a:t>
            </a:r>
            <a:r>
              <a:rPr lang="en-US" dirty="0" smtClean="0">
                <a:latin typeface="+mn-lt"/>
                <a:ea typeface="+mn-ea"/>
                <a:cs typeface="+mn-cs"/>
              </a:rPr>
              <a:t> Q)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là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một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mệnh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đề</a:t>
            </a:r>
            <a:r>
              <a:rPr lang="vi-VN" dirty="0" smtClean="0">
                <a:latin typeface="+mn-lt"/>
                <a:ea typeface="+mn-ea"/>
                <a:cs typeface="+mn-cs"/>
              </a:rPr>
              <a:t>, ký hiệu P </a:t>
            </a:r>
            <a:r>
              <a:rPr lang="vi-VN" dirty="0" smtClean="0">
                <a:latin typeface="+mn-lt"/>
                <a:ea typeface="+mn-ea"/>
                <a:cs typeface="+mn-cs"/>
                <a:sym typeface="Symbol"/>
              </a:rPr>
              <a:t></a:t>
            </a:r>
            <a:r>
              <a:rPr lang="vi-VN" dirty="0" smtClean="0">
                <a:latin typeface="+mn-lt"/>
                <a:ea typeface="+mn-ea"/>
                <a:cs typeface="+mn-cs"/>
              </a:rPr>
              <a:t> Q (đọc là “P nếu và chỉ nếu Q” hay “P khi và chỉ khi Q” hay “P là điều  kiện cần và đủ của Q”)</a:t>
            </a:r>
            <a:r>
              <a:rPr lang="en-US" dirty="0" smtClean="0">
                <a:latin typeface="+mn-lt"/>
                <a:ea typeface="+mn-ea"/>
                <a:cs typeface="+mn-cs"/>
              </a:rPr>
              <a:t>.</a:t>
            </a:r>
            <a:r>
              <a:rPr lang="vi-VN" dirty="0" smtClean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 smtClean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chemeClr val="accent2"/>
                </a:solidFill>
              </a:rPr>
              <a:t>NX:</a:t>
            </a:r>
            <a:r>
              <a:rPr lang="vi-VN" dirty="0" smtClean="0"/>
              <a:t> P </a:t>
            </a:r>
            <a:r>
              <a:rPr lang="vi-VN" dirty="0" smtClean="0">
                <a:sym typeface="Symbol"/>
              </a:rPr>
              <a:t></a:t>
            </a:r>
            <a:r>
              <a:rPr lang="vi-VN" dirty="0" smtClean="0"/>
              <a:t> Q đúng khi và chỉ</a:t>
            </a:r>
            <a:endParaRPr lang="en-US" dirty="0" smtClean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/>
              <a:t> khi P và Q có cùng chân trị</a:t>
            </a:r>
            <a:endParaRPr lang="vi-VN" dirty="0" smtClean="0"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dirty="0" smtClean="0"/>
              <a:t> </a:t>
            </a:r>
            <a:r>
              <a:rPr lang="it-IT" dirty="0" smtClean="0"/>
              <a:t>6 chia hết cho 3 khi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it-IT" dirty="0"/>
              <a:t>v</a:t>
            </a:r>
            <a:r>
              <a:rPr lang="it-IT" dirty="0" smtClean="0"/>
              <a:t>à chỉ khi 6 chia hết cho 2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62600" y="4191000"/>
          <a:ext cx="3276600" cy="2032363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364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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0</a:t>
                      </a:r>
                    </a:p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845496"/>
              </p:ext>
            </p:extLst>
          </p:nvPr>
        </p:nvGraphicFramePr>
        <p:xfrm>
          <a:off x="6553200" y="6473825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75" name="Equation" r:id="rId3" imgW="419040" imgH="304560" progId="Equation.DSMT4">
                  <p:embed/>
                </p:oleObj>
              </mc:Choice>
              <mc:Fallback>
                <p:oleObj name="Equation" r:id="rId3" imgW="419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6473825"/>
                        <a:ext cx="419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50292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</a:rPr>
              <a:t> Định nghĩa: </a:t>
            </a:r>
            <a:r>
              <a:rPr lang="en-US" dirty="0" smtClean="0"/>
              <a:t>B</a:t>
            </a:r>
            <a:r>
              <a:rPr lang="vi-VN" dirty="0" smtClean="0"/>
              <a:t>iểu thức </a:t>
            </a:r>
            <a:r>
              <a:rPr lang="en-US" dirty="0" smtClean="0"/>
              <a:t>logic </a:t>
            </a:r>
            <a:r>
              <a:rPr lang="vi-VN" dirty="0" smtClean="0"/>
              <a:t>được cấu tạo từ: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  <a:r>
              <a:rPr lang="vi-VN" dirty="0" smtClean="0"/>
              <a:t>- Các mệnh đề (các hằng mệnh đề)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  <a:r>
              <a:rPr lang="vi-VN" dirty="0" smtClean="0"/>
              <a:t>-</a:t>
            </a:r>
            <a:r>
              <a:rPr lang="en-US" dirty="0" smtClean="0"/>
              <a:t> </a:t>
            </a:r>
            <a:r>
              <a:rPr lang="vi-VN" dirty="0" smtClean="0"/>
              <a:t>Các biến mệnh đề p, q, r, …, tức là các biến lấy giá trị là</a:t>
            </a:r>
            <a:r>
              <a:rPr lang="en-US" dirty="0" smtClean="0"/>
              <a:t> </a:t>
            </a:r>
            <a:r>
              <a:rPr lang="vi-VN" dirty="0" smtClean="0"/>
              <a:t>các mệnh đề nào đó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  <a:r>
              <a:rPr lang="vi-VN" dirty="0" smtClean="0"/>
              <a:t>- Các phép toán </a:t>
            </a:r>
            <a:r>
              <a:rPr lang="en-US" dirty="0" smtClean="0"/>
              <a:t>logic </a:t>
            </a:r>
            <a:r>
              <a:rPr lang="vi-VN" dirty="0" smtClean="0">
                <a:sym typeface="Symbol"/>
              </a:rPr>
              <a:t></a:t>
            </a:r>
            <a:r>
              <a:rPr lang="en-US" dirty="0" smtClean="0">
                <a:sym typeface="Symbol"/>
              </a:rPr>
              <a:t>, </a:t>
            </a:r>
            <a:r>
              <a:rPr lang="vi-VN" dirty="0" smtClean="0">
                <a:sym typeface="Symbol"/>
              </a:rPr>
              <a:t></a:t>
            </a:r>
            <a:r>
              <a:rPr lang="en-US" dirty="0" smtClean="0">
                <a:sym typeface="Symbol"/>
              </a:rPr>
              <a:t>, </a:t>
            </a:r>
            <a:r>
              <a:rPr lang="vi-VN" dirty="0" smtClean="0">
                <a:sym typeface="Symbol"/>
              </a:rPr>
              <a:t></a:t>
            </a:r>
            <a:r>
              <a:rPr lang="en-US" dirty="0" smtClean="0">
                <a:sym typeface="Symbol"/>
              </a:rPr>
              <a:t>, , </a:t>
            </a:r>
            <a:r>
              <a:rPr lang="vi-VN" dirty="0" smtClean="0"/>
              <a:t> và dấu đóng mở ngoặc ()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.</a:t>
            </a:r>
            <a:endParaRPr lang="vi-VN" dirty="0" smtClean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</a:rPr>
              <a:t>Ví dụ: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/>
              <a:t>E(p,q) =</a:t>
            </a:r>
            <a:r>
              <a:rPr lang="vi-VN" dirty="0" smtClean="0">
                <a:sym typeface="Symbol"/>
              </a:rPr>
              <a:t> </a:t>
            </a:r>
            <a:r>
              <a:rPr lang="vi-VN" dirty="0" smtClean="0"/>
              <a:t>(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p </a:t>
            </a:r>
            <a:r>
              <a:rPr lang="vi-VN" dirty="0" smtClean="0">
                <a:sym typeface="Symbol"/>
              </a:rPr>
              <a:t> </a:t>
            </a:r>
            <a:r>
              <a:rPr lang="vi-VN" dirty="0" smtClean="0"/>
              <a:t>q)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 smtClean="0"/>
              <a:t>F(p,q,r) = (p </a:t>
            </a:r>
            <a:r>
              <a:rPr lang="vi-VN" dirty="0" smtClean="0">
                <a:sym typeface="Symbol"/>
              </a:rPr>
              <a:t></a:t>
            </a:r>
            <a:r>
              <a:rPr lang="vi-VN" dirty="0" smtClean="0"/>
              <a:t> q)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(q </a:t>
            </a:r>
            <a:r>
              <a:rPr lang="vi-VN" dirty="0" smtClean="0">
                <a:sym typeface="Symbol"/>
              </a:rPr>
              <a:t> </a:t>
            </a:r>
            <a:r>
              <a:rPr lang="vi-VN" dirty="0" smtClean="0"/>
              <a:t>r)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 smtClean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7813"/>
            <a:ext cx="8458200" cy="1143000"/>
          </a:xfrm>
        </p:spPr>
        <p:txBody>
          <a:bodyPr/>
          <a:lstStyle/>
          <a:p>
            <a:r>
              <a:rPr lang="en-US" sz="4800" b="1" dirty="0" err="1" smtClean="0"/>
              <a:t>Biểu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thức</a:t>
            </a:r>
            <a:r>
              <a:rPr lang="en-US" sz="4800" b="1" dirty="0" smtClean="0"/>
              <a:t> logic (</a:t>
            </a:r>
            <a:r>
              <a:rPr lang="en-US" sz="4800" b="1" dirty="0" err="1" smtClean="0"/>
              <a:t>Dạng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mệnh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đề</a:t>
            </a:r>
            <a:r>
              <a:rPr lang="en-US" sz="4800" b="1" dirty="0" smtClean="0"/>
              <a:t>)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Độ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của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các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toán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tử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logic: </a:t>
            </a:r>
          </a:p>
          <a:p>
            <a:pPr>
              <a:buNone/>
            </a:pP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1: 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>
              <a:buNone/>
            </a:pPr>
            <a:r>
              <a:rPr lang="en-US" sz="2600" dirty="0" smtClean="0"/>
              <a:t>- </a:t>
            </a:r>
            <a:r>
              <a:rPr lang="en-US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2: </a:t>
            </a:r>
            <a:r>
              <a:rPr lang="vi-VN" sz="2600" dirty="0" smtClean="0">
                <a:sym typeface="Symbol"/>
              </a:rPr>
              <a:t></a:t>
            </a:r>
            <a:endParaRPr lang="en-US" sz="26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3: </a:t>
            </a:r>
            <a:r>
              <a:rPr lang="vi-VN" sz="2600" dirty="0" smtClean="0">
                <a:sym typeface="Symbol"/>
              </a:rPr>
              <a:t></a:t>
            </a:r>
            <a:r>
              <a:rPr lang="en-US" sz="2600" dirty="0" smtClean="0">
                <a:sym typeface="Symbol"/>
              </a:rPr>
              <a:t>, </a:t>
            </a:r>
            <a:r>
              <a:rPr lang="vi-VN" sz="2600" dirty="0" smtClean="0">
                <a:sym typeface="Symbol"/>
              </a:rPr>
              <a:t>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4: </a:t>
            </a:r>
            <a:r>
              <a:rPr lang="en-US" sz="2600" dirty="0" smtClean="0">
                <a:sym typeface="Symbol"/>
              </a:rPr>
              <a:t>, </a:t>
            </a:r>
            <a:r>
              <a:rPr lang="vi-VN" sz="2600" dirty="0" smtClean="0"/>
              <a:t> 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sz="2600" dirty="0" smtClean="0">
                <a:solidFill>
                  <a:srgbClr val="FF0000"/>
                </a:solidFill>
              </a:rPr>
              <a:t>Bảng chân trị của </a:t>
            </a:r>
            <a:r>
              <a:rPr lang="en-US" sz="2600" dirty="0" err="1" smtClean="0">
                <a:solidFill>
                  <a:srgbClr val="FF0000"/>
                </a:solidFill>
              </a:rPr>
              <a:t>một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biểu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thức</a:t>
            </a:r>
            <a:r>
              <a:rPr lang="en-US" sz="2600" dirty="0" smtClean="0">
                <a:solidFill>
                  <a:srgbClr val="FF0000"/>
                </a:solidFill>
              </a:rPr>
              <a:t> logic: </a:t>
            </a:r>
            <a:r>
              <a:rPr lang="vi-VN" sz="2600" dirty="0" smtClean="0"/>
              <a:t>là bảng </a:t>
            </a:r>
            <a:r>
              <a:rPr lang="en-US" sz="2600" dirty="0" err="1" smtClean="0"/>
              <a:t>liệt</a:t>
            </a:r>
            <a:r>
              <a:rPr lang="en-US" sz="2600" dirty="0" smtClean="0"/>
              <a:t> </a:t>
            </a:r>
            <a:r>
              <a:rPr lang="en-US" sz="2600" dirty="0" err="1" smtClean="0"/>
              <a:t>kê</a:t>
            </a:r>
            <a:r>
              <a:rPr lang="en-US" sz="2600" dirty="0" smtClean="0"/>
              <a:t> </a:t>
            </a:r>
            <a:r>
              <a:rPr lang="vi-VN" sz="2600" dirty="0" smtClean="0"/>
              <a:t>chân trị c</a:t>
            </a:r>
            <a:r>
              <a:rPr lang="en-US" sz="2600" dirty="0" err="1" smtClean="0"/>
              <a:t>ủa</a:t>
            </a:r>
            <a:r>
              <a:rPr lang="en-US" sz="2600" dirty="0" smtClean="0"/>
              <a:t> </a:t>
            </a:r>
            <a:r>
              <a:rPr lang="en-US" sz="2600" dirty="0" err="1" smtClean="0"/>
              <a:t>biểu</a:t>
            </a:r>
            <a:r>
              <a:rPr lang="en-US" sz="2600" dirty="0" smtClean="0"/>
              <a:t> </a:t>
            </a:r>
            <a:r>
              <a:rPr lang="en-US" sz="2600" dirty="0" err="1" smtClean="0"/>
              <a:t>thức</a:t>
            </a:r>
            <a:r>
              <a:rPr lang="en-US" sz="2600" dirty="0" smtClean="0"/>
              <a:t> logic </a:t>
            </a:r>
            <a:r>
              <a:rPr lang="en-US" sz="2600" dirty="0" err="1" smtClean="0"/>
              <a:t>theo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trường</a:t>
            </a:r>
            <a:r>
              <a:rPr lang="en-US" sz="2600" dirty="0" smtClean="0"/>
              <a:t> </a:t>
            </a:r>
            <a:r>
              <a:rPr lang="en-US" sz="2600" dirty="0" err="1" smtClean="0"/>
              <a:t>hợp</a:t>
            </a:r>
            <a:r>
              <a:rPr lang="en-US" sz="2600" dirty="0" smtClean="0"/>
              <a:t> </a:t>
            </a:r>
            <a:r>
              <a:rPr lang="en-US" sz="2600" dirty="0" err="1" smtClean="0"/>
              <a:t>về</a:t>
            </a:r>
            <a:r>
              <a:rPr lang="vi-VN" sz="2600" dirty="0" smtClean="0"/>
              <a:t> chân trị của </a:t>
            </a:r>
            <a:r>
              <a:rPr lang="en-US" sz="2600" dirty="0" err="1" smtClean="0"/>
              <a:t>tất</a:t>
            </a:r>
            <a:r>
              <a:rPr lang="en-US" sz="2600" dirty="0" smtClean="0"/>
              <a:t> </a:t>
            </a:r>
            <a:r>
              <a:rPr lang="en-US" sz="2600" dirty="0" err="1" smtClean="0"/>
              <a:t>cả</a:t>
            </a:r>
            <a:r>
              <a:rPr lang="en-US" sz="2600" dirty="0" smtClean="0"/>
              <a:t> </a:t>
            </a:r>
            <a:r>
              <a:rPr lang="vi-VN" sz="2600" dirty="0" smtClean="0"/>
              <a:t>các biến mệnh đề</a:t>
            </a:r>
            <a:r>
              <a:rPr lang="en-US" sz="2600" dirty="0" smtClean="0"/>
              <a:t> </a:t>
            </a:r>
            <a:r>
              <a:rPr lang="en-US" sz="2600" dirty="0" err="1" smtClean="0"/>
              <a:t>trong</a:t>
            </a:r>
            <a:r>
              <a:rPr lang="en-US" sz="2600" dirty="0" smtClean="0"/>
              <a:t> </a:t>
            </a:r>
            <a:r>
              <a:rPr lang="en-US" sz="2600" dirty="0" err="1" smtClean="0"/>
              <a:t>biểu</a:t>
            </a:r>
            <a:r>
              <a:rPr lang="en-US" sz="2600" dirty="0" smtClean="0"/>
              <a:t> </a:t>
            </a:r>
            <a:r>
              <a:rPr lang="en-US" sz="2600" dirty="0" err="1" smtClean="0"/>
              <a:t>thức</a:t>
            </a:r>
            <a:r>
              <a:rPr lang="en-US" sz="2600" dirty="0" smtClean="0"/>
              <a:t> logic hay </a:t>
            </a:r>
            <a:r>
              <a:rPr lang="en-US" sz="2600" dirty="0" err="1" smtClean="0"/>
              <a:t>theo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bộ</a:t>
            </a:r>
            <a:r>
              <a:rPr lang="en-US" sz="2600" dirty="0" smtClean="0"/>
              <a:t> </a:t>
            </a:r>
            <a:r>
              <a:rPr lang="en-US" sz="2600" dirty="0" err="1" smtClean="0"/>
              <a:t>giá</a:t>
            </a:r>
            <a:r>
              <a:rPr lang="en-US" sz="2600" dirty="0" smtClean="0"/>
              <a:t> </a:t>
            </a:r>
            <a:r>
              <a:rPr lang="en-US" sz="2600" dirty="0" err="1" smtClean="0"/>
              <a:t>trị</a:t>
            </a:r>
            <a:r>
              <a:rPr lang="en-US" sz="2600" dirty="0" smtClean="0"/>
              <a:t> </a:t>
            </a:r>
            <a:r>
              <a:rPr lang="en-US" sz="2600" dirty="0" err="1" smtClean="0"/>
              <a:t>của</a:t>
            </a:r>
            <a:r>
              <a:rPr lang="en-US" sz="2600" dirty="0" smtClean="0"/>
              <a:t> </a:t>
            </a:r>
            <a:r>
              <a:rPr lang="en-US" sz="2600" dirty="0" err="1" smtClean="0"/>
              <a:t>bộ</a:t>
            </a:r>
            <a:r>
              <a:rPr lang="en-US" sz="2600" dirty="0" smtClean="0"/>
              <a:t> </a:t>
            </a:r>
            <a:r>
              <a:rPr lang="en-US" sz="2600" dirty="0" err="1" smtClean="0"/>
              <a:t>biến</a:t>
            </a:r>
            <a:r>
              <a:rPr lang="en-US" sz="2600" dirty="0" smtClean="0"/>
              <a:t> </a:t>
            </a:r>
            <a:r>
              <a:rPr lang="en-US" sz="2600" dirty="0" err="1" smtClean="0"/>
              <a:t>mệnh</a:t>
            </a:r>
            <a:r>
              <a:rPr lang="en-US" sz="2600" dirty="0" smtClean="0"/>
              <a:t> </a:t>
            </a:r>
            <a:r>
              <a:rPr lang="en-US" sz="2600" dirty="0" err="1" smtClean="0"/>
              <a:t>đề</a:t>
            </a:r>
            <a:r>
              <a:rPr lang="vi-VN" sz="2600" dirty="0" smtClean="0"/>
              <a:t>.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Biểu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thức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1588" algn="just">
              <a:buClr>
                <a:srgbClr val="FF0000"/>
              </a:buClr>
              <a:buNone/>
            </a:pPr>
            <a:r>
              <a:rPr lang="vi-VN" sz="2600" dirty="0" smtClean="0">
                <a:solidFill>
                  <a:srgbClr val="FF0000"/>
                </a:solidFill>
              </a:rPr>
              <a:t>Bảng chân trị của </a:t>
            </a:r>
            <a:r>
              <a:rPr lang="en-US" sz="2600" dirty="0" err="1" smtClean="0">
                <a:solidFill>
                  <a:srgbClr val="FF0000"/>
                </a:solidFill>
              </a:rPr>
              <a:t>một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biểu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thức</a:t>
            </a:r>
            <a:r>
              <a:rPr lang="en-US" sz="2600" dirty="0" smtClean="0">
                <a:solidFill>
                  <a:srgbClr val="FF0000"/>
                </a:solidFill>
              </a:rPr>
              <a:t> logic.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 smtClean="0">
                <a:solidFill>
                  <a:srgbClr val="FF0000"/>
                </a:solidFill>
              </a:rPr>
              <a:t>Ví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</a:rPr>
              <a:t>dụ</a:t>
            </a:r>
            <a:r>
              <a:rPr lang="en-US" sz="2600" dirty="0" smtClean="0">
                <a:solidFill>
                  <a:srgbClr val="FF0000"/>
                </a:solidFill>
              </a:rPr>
              <a:t>: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 smtClean="0"/>
              <a:t>Với</a:t>
            </a:r>
            <a:r>
              <a:rPr lang="en-US" sz="2600" dirty="0" smtClean="0"/>
              <a:t> </a:t>
            </a:r>
            <a:r>
              <a:rPr lang="en-US" sz="2600" dirty="0" err="1" smtClean="0"/>
              <a:t>một</a:t>
            </a:r>
            <a:r>
              <a:rPr lang="en-US" sz="2600" dirty="0" smtClean="0"/>
              <a:t> </a:t>
            </a:r>
            <a:r>
              <a:rPr lang="en-US" sz="2600" dirty="0" err="1" smtClean="0"/>
              <a:t>biến</a:t>
            </a:r>
            <a:r>
              <a:rPr lang="en-US" sz="2600" dirty="0" smtClean="0"/>
              <a:t> </a:t>
            </a:r>
            <a:r>
              <a:rPr lang="en-US" sz="2600" dirty="0" err="1" smtClean="0"/>
              <a:t>mệnh</a:t>
            </a:r>
            <a:r>
              <a:rPr lang="en-US" sz="2600" dirty="0" smtClean="0"/>
              <a:t> </a:t>
            </a:r>
            <a:r>
              <a:rPr lang="en-US" sz="2600" dirty="0" err="1" smtClean="0"/>
              <a:t>đề</a:t>
            </a:r>
            <a:r>
              <a:rPr lang="en-US" sz="2600" dirty="0" smtClean="0"/>
              <a:t>, </a:t>
            </a:r>
            <a:r>
              <a:rPr lang="en-US" sz="2600" dirty="0" err="1" smtClean="0"/>
              <a:t>ta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hai</a:t>
            </a:r>
            <a:r>
              <a:rPr lang="en-US" sz="2600" dirty="0" smtClean="0"/>
              <a:t> </a:t>
            </a:r>
            <a:r>
              <a:rPr lang="en-US" sz="2600" dirty="0" err="1" smtClean="0"/>
              <a:t>trường</a:t>
            </a:r>
            <a:r>
              <a:rPr lang="en-US" sz="2600" dirty="0" smtClean="0"/>
              <a:t> </a:t>
            </a:r>
            <a:r>
              <a:rPr lang="en-US" sz="2600" dirty="0" err="1" smtClean="0"/>
              <a:t>hợp</a:t>
            </a:r>
            <a:r>
              <a:rPr lang="en-US" sz="2600" dirty="0" smtClean="0"/>
              <a:t> </a:t>
            </a:r>
            <a:r>
              <a:rPr lang="en-US" sz="2600" dirty="0" err="1" smtClean="0"/>
              <a:t>là</a:t>
            </a:r>
            <a:r>
              <a:rPr lang="en-US" sz="2600" dirty="0" smtClean="0"/>
              <a:t> 0 </a:t>
            </a:r>
            <a:r>
              <a:rPr lang="en-US" sz="2600" dirty="0" err="1" smtClean="0"/>
              <a:t>hoặc</a:t>
            </a:r>
            <a:r>
              <a:rPr lang="en-US" sz="2600" dirty="0" smtClean="0"/>
              <a:t> 1.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 smtClean="0"/>
              <a:t>Với</a:t>
            </a:r>
            <a:r>
              <a:rPr lang="en-US" sz="2600" dirty="0" smtClean="0"/>
              <a:t> </a:t>
            </a:r>
            <a:r>
              <a:rPr lang="en-US" sz="2600" dirty="0" err="1" smtClean="0"/>
              <a:t>hai</a:t>
            </a:r>
            <a:r>
              <a:rPr lang="en-US" sz="2600" dirty="0" smtClean="0"/>
              <a:t> </a:t>
            </a:r>
            <a:r>
              <a:rPr lang="en-US" sz="2600" dirty="0" err="1" smtClean="0"/>
              <a:t>biến</a:t>
            </a:r>
            <a:r>
              <a:rPr lang="en-US" sz="2600" dirty="0" smtClean="0"/>
              <a:t> </a:t>
            </a:r>
            <a:r>
              <a:rPr lang="en-US" sz="2600" dirty="0" err="1" smtClean="0"/>
              <a:t>mệnh</a:t>
            </a:r>
            <a:r>
              <a:rPr lang="en-US" sz="2600" dirty="0" smtClean="0"/>
              <a:t> </a:t>
            </a:r>
            <a:r>
              <a:rPr lang="en-US" sz="2600" dirty="0" err="1" smtClean="0"/>
              <a:t>đề</a:t>
            </a:r>
            <a:r>
              <a:rPr lang="en-US" sz="2600" dirty="0" smtClean="0"/>
              <a:t> </a:t>
            </a:r>
            <a:r>
              <a:rPr lang="en-US" sz="2600" dirty="0" err="1" smtClean="0"/>
              <a:t>p,q</a:t>
            </a:r>
            <a:r>
              <a:rPr lang="en-US" sz="2600" dirty="0" smtClean="0"/>
              <a:t> </a:t>
            </a:r>
            <a:r>
              <a:rPr lang="en-US" sz="2600" dirty="0" err="1" smtClean="0"/>
              <a:t>ta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bốn</a:t>
            </a:r>
            <a:r>
              <a:rPr lang="en-US" sz="2600" dirty="0" smtClean="0"/>
              <a:t> </a:t>
            </a:r>
            <a:r>
              <a:rPr lang="en-US" sz="2600" dirty="0" err="1" smtClean="0"/>
              <a:t>trường</a:t>
            </a:r>
            <a:r>
              <a:rPr lang="en-US" sz="2600" dirty="0" smtClean="0"/>
              <a:t> </a:t>
            </a:r>
            <a:r>
              <a:rPr lang="en-US" sz="2600" dirty="0" err="1" smtClean="0"/>
              <a:t>hợp</a:t>
            </a:r>
            <a:r>
              <a:rPr lang="en-US" sz="2600" dirty="0" smtClean="0"/>
              <a:t> </a:t>
            </a:r>
            <a:r>
              <a:rPr lang="en-US" sz="2600" dirty="0" err="1" smtClean="0"/>
              <a:t>chân</a:t>
            </a:r>
            <a:r>
              <a:rPr lang="en-US" sz="2600" dirty="0" smtClean="0"/>
              <a:t> </a:t>
            </a:r>
            <a:r>
              <a:rPr lang="en-US" sz="2600" dirty="0" err="1" smtClean="0"/>
              <a:t>trị</a:t>
            </a:r>
            <a:r>
              <a:rPr lang="en-US" sz="2600" dirty="0" smtClean="0"/>
              <a:t> </a:t>
            </a:r>
            <a:r>
              <a:rPr lang="en-US" sz="2600" dirty="0" err="1" smtClean="0"/>
              <a:t>của</a:t>
            </a:r>
            <a:r>
              <a:rPr lang="en-US" sz="2600" dirty="0" smtClean="0"/>
              <a:t> </a:t>
            </a:r>
            <a:r>
              <a:rPr lang="en-US" sz="2600" dirty="0" err="1" smtClean="0"/>
              <a:t>bộ</a:t>
            </a:r>
            <a:r>
              <a:rPr lang="en-US" sz="2600" dirty="0" smtClean="0"/>
              <a:t> </a:t>
            </a:r>
            <a:r>
              <a:rPr lang="en-US" sz="2600" dirty="0" err="1" smtClean="0"/>
              <a:t>biến</a:t>
            </a:r>
            <a:r>
              <a:rPr lang="en-US" sz="2600" dirty="0" smtClean="0"/>
              <a:t> (</a:t>
            </a:r>
            <a:r>
              <a:rPr lang="en-US" sz="2600" dirty="0" err="1" smtClean="0"/>
              <a:t>p,q</a:t>
            </a:r>
            <a:r>
              <a:rPr lang="en-US" sz="2600" dirty="0" smtClean="0"/>
              <a:t>) </a:t>
            </a:r>
            <a:r>
              <a:rPr lang="en-US" sz="2600" dirty="0" err="1" smtClean="0"/>
              <a:t>là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bộ</a:t>
            </a:r>
            <a:r>
              <a:rPr lang="en-US" sz="2600" dirty="0" smtClean="0"/>
              <a:t> </a:t>
            </a:r>
            <a:r>
              <a:rPr lang="en-US" sz="2600" dirty="0" err="1" smtClean="0"/>
              <a:t>giá</a:t>
            </a:r>
            <a:r>
              <a:rPr lang="en-US" sz="2600" dirty="0" smtClean="0"/>
              <a:t> </a:t>
            </a:r>
            <a:r>
              <a:rPr lang="en-US" sz="2600" dirty="0" err="1" smtClean="0"/>
              <a:t>trị</a:t>
            </a:r>
            <a:r>
              <a:rPr lang="en-US" sz="2600" dirty="0" smtClean="0"/>
              <a:t> (0,0), (0,1), (1,0) </a:t>
            </a:r>
            <a:r>
              <a:rPr lang="en-US" sz="2600" dirty="0" err="1" smtClean="0"/>
              <a:t>và</a:t>
            </a:r>
            <a:r>
              <a:rPr lang="en-US" sz="2600" dirty="0" smtClean="0"/>
              <a:t> (1,1).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smtClean="0">
                <a:solidFill>
                  <a:schemeClr val="accent2"/>
                </a:solidFill>
              </a:rPr>
              <a:t>NX: </a:t>
            </a:r>
            <a:r>
              <a:rPr lang="en-US" sz="2600" dirty="0" err="1" smtClean="0"/>
              <a:t>Trong</a:t>
            </a:r>
            <a:r>
              <a:rPr lang="en-US" sz="2600" dirty="0" smtClean="0"/>
              <a:t> </a:t>
            </a:r>
            <a:r>
              <a:rPr lang="en-US" sz="2600" dirty="0" err="1" smtClean="0"/>
              <a:t>trường</a:t>
            </a:r>
            <a:r>
              <a:rPr lang="en-US" sz="2600" dirty="0" smtClean="0"/>
              <a:t> </a:t>
            </a:r>
            <a:r>
              <a:rPr lang="en-US" sz="2600" dirty="0" err="1" smtClean="0"/>
              <a:t>hợp</a:t>
            </a:r>
            <a:r>
              <a:rPr lang="en-US" sz="2600" dirty="0" smtClean="0"/>
              <a:t> </a:t>
            </a:r>
            <a:r>
              <a:rPr lang="en-US" sz="2600" dirty="0" err="1" smtClean="0"/>
              <a:t>tổng</a:t>
            </a:r>
            <a:r>
              <a:rPr lang="en-US" sz="2600" dirty="0" smtClean="0"/>
              <a:t> </a:t>
            </a:r>
            <a:r>
              <a:rPr lang="en-US" sz="2600" dirty="0" err="1" smtClean="0"/>
              <a:t>quát</a:t>
            </a:r>
            <a:r>
              <a:rPr lang="en-US" sz="2600" dirty="0" smtClean="0"/>
              <a:t>, n</a:t>
            </a:r>
            <a:r>
              <a:rPr lang="vi-VN" sz="2600" dirty="0" smtClean="0"/>
              <a:t>ếu có n biến</a:t>
            </a:r>
            <a:r>
              <a:rPr lang="en-US" sz="2600" dirty="0" smtClean="0"/>
              <a:t> </a:t>
            </a:r>
            <a:r>
              <a:rPr lang="en-US" sz="2600" dirty="0" err="1" smtClean="0"/>
              <a:t>mệnh</a:t>
            </a:r>
            <a:r>
              <a:rPr lang="en-US" sz="2600" dirty="0" smtClean="0"/>
              <a:t> </a:t>
            </a:r>
            <a:r>
              <a:rPr lang="en-US" sz="2600" dirty="0" err="1" smtClean="0"/>
              <a:t>đề</a:t>
            </a:r>
            <a:r>
              <a:rPr lang="en-US" sz="2600" dirty="0" smtClean="0"/>
              <a:t> </a:t>
            </a:r>
            <a:r>
              <a:rPr lang="en-US" sz="2600" dirty="0" err="1" smtClean="0"/>
              <a:t>thì</a:t>
            </a:r>
            <a:r>
              <a:rPr lang="en-US" sz="2600" dirty="0" smtClean="0"/>
              <a:t> </a:t>
            </a:r>
            <a:r>
              <a:rPr lang="en-US" sz="2600" dirty="0" err="1" smtClean="0"/>
              <a:t>ta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   </a:t>
            </a:r>
            <a:r>
              <a:rPr lang="vi-VN" sz="2600" dirty="0" smtClean="0"/>
              <a:t> </a:t>
            </a:r>
            <a:r>
              <a:rPr lang="en-US" sz="2600" dirty="0" err="1" smtClean="0"/>
              <a:t>trường</a:t>
            </a:r>
            <a:r>
              <a:rPr lang="en-US" sz="2600" dirty="0" smtClean="0"/>
              <a:t> </a:t>
            </a:r>
            <a:r>
              <a:rPr lang="en-US" sz="2600" dirty="0" err="1" smtClean="0"/>
              <a:t>hợp</a:t>
            </a:r>
            <a:r>
              <a:rPr lang="en-US" sz="2600" dirty="0" smtClean="0"/>
              <a:t> </a:t>
            </a:r>
            <a:r>
              <a:rPr lang="en-US" sz="2600" dirty="0" err="1" smtClean="0"/>
              <a:t>chân</a:t>
            </a:r>
            <a:r>
              <a:rPr lang="en-US" sz="2600" dirty="0" smtClean="0"/>
              <a:t> </a:t>
            </a:r>
            <a:r>
              <a:rPr lang="en-US" sz="2600" dirty="0" err="1" smtClean="0"/>
              <a:t>trị</a:t>
            </a:r>
            <a:r>
              <a:rPr lang="en-US" sz="2600" dirty="0" smtClean="0"/>
              <a:t> </a:t>
            </a:r>
            <a:r>
              <a:rPr lang="en-US" sz="2600" dirty="0" err="1" smtClean="0"/>
              <a:t>cho</a:t>
            </a:r>
            <a:r>
              <a:rPr lang="en-US" sz="2600" dirty="0" smtClean="0"/>
              <a:t> </a:t>
            </a:r>
            <a:r>
              <a:rPr lang="vi-VN" sz="2600" dirty="0" smtClean="0"/>
              <a:t>b</a:t>
            </a:r>
            <a:r>
              <a:rPr lang="en-US" sz="2600" dirty="0" smtClean="0"/>
              <a:t>ộ n </a:t>
            </a:r>
            <a:r>
              <a:rPr lang="en-US" sz="2600" dirty="0" err="1" smtClean="0"/>
              <a:t>biến</a:t>
            </a:r>
            <a:r>
              <a:rPr lang="en-US" sz="2600" dirty="0" smtClean="0"/>
              <a:t>.</a:t>
            </a:r>
            <a:r>
              <a:rPr lang="vi-VN" sz="2600" dirty="0" smtClean="0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Biểu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thức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71900" y="5092700"/>
          <a:ext cx="30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80" name="Equation" r:id="rId3" imgW="304560" imgH="380880" progId="Equation.DSMT4">
                  <p:embed/>
                </p:oleObj>
              </mc:Choice>
              <mc:Fallback>
                <p:oleObj name="Equation" r:id="rId3" imgW="304560" imgH="3808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092700"/>
                        <a:ext cx="304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5105400"/>
          </a:xfrm>
        </p:spPr>
        <p:txBody>
          <a:bodyPr/>
          <a:lstStyle/>
          <a:p>
            <a:pPr>
              <a:buNone/>
            </a:pP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 smtClean="0">
                <a:latin typeface="+mn-lt"/>
                <a:ea typeface="+mn-ea"/>
                <a:cs typeface="+mn-cs"/>
              </a:rPr>
              <a:t>Cho</a:t>
            </a:r>
            <a:r>
              <a:rPr lang="en-US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smtClean="0">
                <a:latin typeface="+mn-lt"/>
                <a:ea typeface="+mn-ea"/>
                <a:cs typeface="+mn-cs"/>
              </a:rPr>
              <a:t>E(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p,q,r</a:t>
            </a:r>
            <a:r>
              <a:rPr lang="en-US" dirty="0" smtClean="0">
                <a:latin typeface="+mn-lt"/>
                <a:ea typeface="+mn-ea"/>
                <a:cs typeface="+mn-cs"/>
              </a:rPr>
              <a:t>) =(p </a:t>
            </a:r>
            <a:r>
              <a:rPr lang="vi-VN" dirty="0" smtClean="0">
                <a:sym typeface="Symbol"/>
              </a:rPr>
              <a:t> </a:t>
            </a:r>
            <a:r>
              <a:rPr lang="en-US" dirty="0" smtClean="0">
                <a:latin typeface="+mn-lt"/>
                <a:ea typeface="+mn-ea"/>
                <a:cs typeface="+mn-cs"/>
              </a:rPr>
              <a:t>q)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>
                <a:latin typeface="+mn-lt"/>
                <a:ea typeface="+mn-ea"/>
                <a:cs typeface="+mn-cs"/>
              </a:rPr>
              <a:t>r . </a:t>
            </a:r>
          </a:p>
          <a:p>
            <a:pPr>
              <a:buNone/>
            </a:pPr>
            <a:r>
              <a:rPr lang="en-US" dirty="0" smtClean="0">
                <a:latin typeface="+mn-lt"/>
                <a:ea typeface="+mn-ea"/>
                <a:cs typeface="+mn-cs"/>
              </a:rPr>
              <a:t>Ta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có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bảng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chân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trị</a:t>
            </a:r>
            <a:r>
              <a:rPr lang="en-US" dirty="0" smtClean="0">
                <a:latin typeface="+mn-lt"/>
                <a:ea typeface="+mn-ea"/>
                <a:cs typeface="+mn-cs"/>
              </a:rPr>
              <a:t> </a:t>
            </a:r>
            <a:r>
              <a:rPr lang="en-US" dirty="0" err="1" smtClean="0">
                <a:latin typeface="+mn-lt"/>
                <a:ea typeface="+mn-ea"/>
                <a:cs typeface="+mn-cs"/>
              </a:rPr>
              <a:t>sau</a:t>
            </a:r>
            <a:r>
              <a:rPr lang="en-US" dirty="0" smtClean="0">
                <a:latin typeface="+mn-lt"/>
                <a:ea typeface="+mn-ea"/>
                <a:cs typeface="+mn-cs"/>
              </a:rPr>
              <a:t>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Biểu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thức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743203"/>
          <a:ext cx="6781800" cy="351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13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+mn-lt"/>
                          <a:ea typeface="+mn-ea"/>
                          <a:cs typeface="+mn-cs"/>
                        </a:rPr>
                        <a:t>p </a:t>
                      </a:r>
                      <a:r>
                        <a:rPr lang="vi-VN" dirty="0" smtClean="0">
                          <a:sym typeface="Symbol"/>
                        </a:rPr>
                        <a:t> </a:t>
                      </a:r>
                      <a:r>
                        <a:rPr lang="en-US" dirty="0" smtClean="0"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+mn-lt"/>
                          <a:ea typeface="+mn-ea"/>
                          <a:cs typeface="+mn-cs"/>
                        </a:rPr>
                        <a:t>(p </a:t>
                      </a:r>
                      <a:r>
                        <a:rPr lang="vi-VN" dirty="0" smtClean="0">
                          <a:sym typeface="Symbol"/>
                        </a:rPr>
                        <a:t> </a:t>
                      </a:r>
                      <a:r>
                        <a:rPr lang="en-US" dirty="0" smtClean="0">
                          <a:latin typeface="+mn-lt"/>
                          <a:ea typeface="+mn-ea"/>
                          <a:cs typeface="+mn-cs"/>
                        </a:rPr>
                        <a:t>q) </a:t>
                      </a:r>
                      <a:r>
                        <a:rPr lang="en-US" dirty="0" smtClean="0">
                          <a:sym typeface="Symbol"/>
                        </a:rPr>
                        <a:t> </a:t>
                      </a:r>
                      <a:r>
                        <a:rPr lang="en-US" dirty="0" smtClean="0">
                          <a:latin typeface="+mn-lt"/>
                          <a:ea typeface="+mn-ea"/>
                          <a:cs typeface="+mn-cs"/>
                        </a:rPr>
                        <a:t>r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953000"/>
          </a:xfrm>
        </p:spPr>
        <p:txBody>
          <a:bodyPr/>
          <a:lstStyle/>
          <a:p>
            <a:pPr marL="0" indent="165100" algn="just">
              <a:buNone/>
            </a:pPr>
            <a:r>
              <a:rPr lang="vi-VN" dirty="0" smtClean="0">
                <a:solidFill>
                  <a:srgbClr val="FF0000"/>
                </a:solidFill>
              </a:rPr>
              <a:t>Tương đương logic: </a:t>
            </a:r>
            <a:r>
              <a:rPr lang="vi-VN" dirty="0" smtClean="0"/>
              <a:t>Hai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logic </a:t>
            </a:r>
            <a:r>
              <a:rPr lang="vi-VN" dirty="0" smtClean="0"/>
              <a:t>E và F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vi-VN" dirty="0" smtClean="0"/>
              <a:t> được gọi là</a:t>
            </a:r>
            <a:r>
              <a:rPr lang="en-US" dirty="0" smtClean="0"/>
              <a:t> </a:t>
            </a:r>
            <a:r>
              <a:rPr lang="vi-VN" dirty="0" smtClean="0"/>
              <a:t>tương đương logic nếu chúng có cùng bảng chân trị.</a:t>
            </a:r>
          </a:p>
          <a:p>
            <a:pPr>
              <a:buNone/>
            </a:pPr>
            <a:r>
              <a:rPr lang="vi-VN" dirty="0" smtClean="0"/>
              <a:t>Ký hiệu</a:t>
            </a:r>
            <a:r>
              <a:rPr lang="en-US" dirty="0" smtClean="0"/>
              <a:t>:</a:t>
            </a:r>
            <a:r>
              <a:rPr lang="vi-VN" dirty="0" smtClean="0"/>
              <a:t> E </a:t>
            </a:r>
            <a:r>
              <a:rPr lang="vi-VN" dirty="0" smtClean="0">
                <a:sym typeface="Symbol"/>
              </a:rPr>
              <a:t>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/>
              <a:t>F</a:t>
            </a:r>
            <a:r>
              <a:rPr lang="en-US" dirty="0" smtClean="0"/>
              <a:t>  (E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đương</a:t>
            </a:r>
            <a:r>
              <a:rPr lang="en-US" dirty="0" smtClean="0"/>
              <a:t> logic </a:t>
            </a:r>
            <a:r>
              <a:rPr lang="en-US" dirty="0" err="1" smtClean="0"/>
              <a:t>với</a:t>
            </a:r>
            <a:r>
              <a:rPr lang="en-US" dirty="0" smtClean="0"/>
              <a:t> F).</a:t>
            </a:r>
            <a:endParaRPr lang="vi-VN" dirty="0" smtClean="0"/>
          </a:p>
          <a:p>
            <a:pPr>
              <a:buNone/>
            </a:pPr>
            <a:r>
              <a:rPr lang="vi-VN" dirty="0" smtClean="0">
                <a:solidFill>
                  <a:srgbClr val="FF0000"/>
                </a:solidFill>
              </a:rPr>
              <a:t>Ví dụ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(p </a:t>
            </a:r>
            <a:r>
              <a:rPr lang="vi-VN" dirty="0" smtClean="0">
                <a:sym typeface="Symbol"/>
              </a:rPr>
              <a:t></a:t>
            </a:r>
            <a:r>
              <a:rPr lang="vi-VN" dirty="0" smtClean="0"/>
              <a:t> q) </a:t>
            </a:r>
            <a:r>
              <a:rPr lang="vi-VN" dirty="0" smtClean="0">
                <a:sym typeface="Symbol"/>
              </a:rPr>
              <a:t></a:t>
            </a:r>
            <a:r>
              <a:rPr lang="vi-VN" dirty="0" smtClean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 smtClean="0"/>
              <a:t>p </a:t>
            </a:r>
            <a:r>
              <a:rPr lang="vi-VN" dirty="0">
                <a:sym typeface="Symbol"/>
              </a:rPr>
              <a:t></a:t>
            </a:r>
            <a:r>
              <a:rPr lang="vi-VN" dirty="0" smtClean="0"/>
              <a:t> 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q</a:t>
            </a:r>
          </a:p>
          <a:p>
            <a:pPr marL="0" indent="165100" algn="just">
              <a:buNone/>
            </a:pP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logic E </a:t>
            </a:r>
            <a:r>
              <a:rPr lang="vi-VN" dirty="0" smtClean="0"/>
              <a:t>được gọi là </a:t>
            </a:r>
            <a:r>
              <a:rPr lang="vi-VN" dirty="0" smtClean="0">
                <a:solidFill>
                  <a:schemeClr val="accent2"/>
                </a:solidFill>
              </a:rPr>
              <a:t>hằng đúng </a:t>
            </a:r>
            <a:r>
              <a:rPr lang="vi-VN" dirty="0" smtClean="0"/>
              <a:t>nếu </a:t>
            </a:r>
            <a:r>
              <a:rPr lang="en-US" dirty="0" err="1" smtClean="0"/>
              <a:t>chân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E </a:t>
            </a:r>
            <a:r>
              <a:rPr lang="vi-VN" dirty="0" smtClean="0"/>
              <a:t>luôn </a:t>
            </a:r>
            <a:r>
              <a:rPr lang="en-US" dirty="0" err="1" smtClean="0"/>
              <a:t>bằng</a:t>
            </a:r>
            <a:r>
              <a:rPr lang="vi-VN" dirty="0"/>
              <a:t> </a:t>
            </a:r>
            <a:r>
              <a:rPr lang="vi-VN" dirty="0" smtClean="0"/>
              <a:t>1 </a:t>
            </a:r>
            <a:r>
              <a:rPr lang="en-US" dirty="0" smtClean="0"/>
              <a:t>(</a:t>
            </a:r>
            <a:r>
              <a:rPr lang="en-US" dirty="0" err="1" smtClean="0"/>
              <a:t>hằng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)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chân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mệnh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E. </a:t>
            </a:r>
            <a:r>
              <a:rPr lang="en-US" dirty="0" err="1" smtClean="0"/>
              <a:t>Nói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, 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hằng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vi-VN" dirty="0" smtClean="0"/>
              <a:t>E </a:t>
            </a:r>
            <a:r>
              <a:rPr lang="vi-VN" dirty="0" smtClean="0">
                <a:sym typeface="Symbol"/>
              </a:rPr>
              <a:t></a:t>
            </a:r>
            <a:r>
              <a:rPr lang="en-US" dirty="0" smtClean="0">
                <a:sym typeface="Symbol"/>
              </a:rPr>
              <a:t> 1.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Biểu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thức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953000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, E </a:t>
            </a:r>
            <a:r>
              <a:rPr lang="vi-VN" dirty="0" smtClean="0"/>
              <a:t>là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vi-VN" dirty="0" smtClean="0">
                <a:solidFill>
                  <a:schemeClr val="accent2"/>
                </a:solidFill>
              </a:rPr>
              <a:t>hằng sai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vi-VN" dirty="0" smtClean="0"/>
              <a:t> E </a:t>
            </a:r>
            <a:r>
              <a:rPr lang="vi-VN" dirty="0" smtClean="0">
                <a:sym typeface="Symbol"/>
              </a:rPr>
              <a:t></a:t>
            </a:r>
            <a:r>
              <a:rPr lang="en-US" dirty="0" smtClean="0">
                <a:sym typeface="Symbol"/>
              </a:rPr>
              <a:t> 0.</a:t>
            </a:r>
          </a:p>
          <a:p>
            <a:pPr marL="0" indent="165100" algn="just">
              <a:buNone/>
            </a:pP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smtClean="0">
                <a:sym typeface="Symbol"/>
              </a:rPr>
              <a:t>E(</a:t>
            </a:r>
            <a:r>
              <a:rPr lang="en-US" dirty="0" err="1" smtClean="0">
                <a:sym typeface="Symbol"/>
              </a:rPr>
              <a:t>p,q</a:t>
            </a:r>
            <a:r>
              <a:rPr lang="en-US" dirty="0" smtClean="0">
                <a:sym typeface="Symbol"/>
              </a:rPr>
              <a:t>) =</a:t>
            </a:r>
            <a:r>
              <a:rPr lang="vi-VN" dirty="0" smtClean="0"/>
              <a:t> p </a:t>
            </a:r>
            <a:r>
              <a:rPr lang="vi-VN" dirty="0" smtClean="0">
                <a:sym typeface="Symbol"/>
              </a:rPr>
              <a:t></a:t>
            </a:r>
            <a:r>
              <a:rPr lang="vi-VN" dirty="0" smtClean="0"/>
              <a:t> </a:t>
            </a:r>
            <a:r>
              <a:rPr lang="vi-VN" dirty="0" smtClean="0">
                <a:sym typeface="Symbol"/>
              </a:rPr>
              <a:t></a:t>
            </a:r>
            <a:r>
              <a:rPr lang="en-US" dirty="0" smtClean="0">
                <a:sym typeface="Symbol"/>
              </a:rPr>
              <a:t>p </a:t>
            </a:r>
            <a:r>
              <a:rPr lang="en-US" dirty="0" err="1" smtClean="0">
                <a:sym typeface="Symbol"/>
              </a:rPr>
              <a:t>là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hằng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sai</a:t>
            </a:r>
            <a:r>
              <a:rPr lang="en-US" dirty="0" smtClean="0">
                <a:sym typeface="Symbol"/>
              </a:rPr>
              <a:t>.</a:t>
            </a:r>
          </a:p>
          <a:p>
            <a:pPr marL="0" indent="165100" algn="just">
              <a:buNone/>
            </a:pPr>
            <a:r>
              <a:rPr lang="en-US" dirty="0" smtClean="0"/>
              <a:t>	   F(</a:t>
            </a:r>
            <a:r>
              <a:rPr lang="en-US" dirty="0" err="1" smtClean="0"/>
              <a:t>p,q</a:t>
            </a:r>
            <a:r>
              <a:rPr lang="en-US" dirty="0" smtClean="0"/>
              <a:t>) =(p</a:t>
            </a:r>
            <a:r>
              <a:rPr lang="vi-VN" dirty="0" smtClean="0">
                <a:sym typeface="Symbol"/>
              </a:rPr>
              <a:t></a:t>
            </a:r>
            <a:r>
              <a:rPr lang="en-US" dirty="0" smtClean="0">
                <a:sym typeface="Symbol"/>
              </a:rPr>
              <a:t>q)</a:t>
            </a:r>
            <a:r>
              <a:rPr lang="vi-VN" dirty="0" smtClean="0">
                <a:sym typeface="Symbol"/>
              </a:rPr>
              <a:t> </a:t>
            </a:r>
            <a:r>
              <a:rPr lang="en-US" dirty="0" smtClean="0">
                <a:sym typeface="Symbol"/>
              </a:rPr>
              <a:t> (</a:t>
            </a:r>
            <a:r>
              <a:rPr lang="vi-VN" dirty="0" smtClean="0">
                <a:sym typeface="Symbol"/>
              </a:rPr>
              <a:t></a:t>
            </a:r>
            <a:r>
              <a:rPr lang="en-US" dirty="0" smtClean="0">
                <a:sym typeface="Symbol"/>
              </a:rPr>
              <a:t>p </a:t>
            </a:r>
            <a:r>
              <a:rPr lang="vi-VN" dirty="0" smtClean="0">
                <a:sym typeface="Symbol"/>
              </a:rPr>
              <a:t></a:t>
            </a:r>
            <a:r>
              <a:rPr lang="vi-VN" dirty="0" smtClean="0"/>
              <a:t> q</a:t>
            </a:r>
            <a:r>
              <a:rPr lang="en-US" dirty="0" smtClean="0"/>
              <a:t>)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hằng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.</a:t>
            </a:r>
          </a:p>
          <a:p>
            <a:pPr marL="0" indent="165100" algn="just">
              <a:buNone/>
            </a:pPr>
            <a:r>
              <a:rPr lang="vi-VN" dirty="0" smtClean="0">
                <a:solidFill>
                  <a:srgbClr val="FF0000"/>
                </a:solidFill>
              </a:rPr>
              <a:t>Định lý: </a:t>
            </a:r>
            <a:r>
              <a:rPr lang="vi-VN" dirty="0" smtClean="0"/>
              <a:t>Hai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logic </a:t>
            </a:r>
            <a:r>
              <a:rPr lang="vi-VN" dirty="0" smtClean="0"/>
              <a:t>E và F tương đương với nhau khi</a:t>
            </a:r>
            <a:r>
              <a:rPr lang="en-US" dirty="0" smtClean="0"/>
              <a:t> </a:t>
            </a:r>
            <a:r>
              <a:rPr lang="vi-VN" dirty="0" smtClean="0"/>
              <a:t>và chỉ khi E</a:t>
            </a:r>
            <a:r>
              <a:rPr lang="en-US" dirty="0" smtClean="0"/>
              <a:t> </a:t>
            </a:r>
            <a:r>
              <a:rPr lang="vi-VN" dirty="0" smtClean="0">
                <a:sym typeface="Symbol"/>
              </a:rPr>
              <a:t>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/>
              <a:t>F là hằng đúng.</a:t>
            </a:r>
            <a:endParaRPr lang="en-US" dirty="0" smtClean="0"/>
          </a:p>
          <a:p>
            <a:pPr marL="0" indent="165100" algn="just">
              <a:buNone/>
            </a:pPr>
            <a:r>
              <a:rPr lang="en-US" dirty="0" err="1" smtClean="0">
                <a:solidFill>
                  <a:schemeClr val="accent2"/>
                </a:solidFill>
              </a:rPr>
              <a:t>Ví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dụ</a:t>
            </a:r>
            <a:r>
              <a:rPr lang="en-US" dirty="0" smtClean="0">
                <a:solidFill>
                  <a:schemeClr val="accent2"/>
                </a:solidFill>
              </a:rPr>
              <a:t>: </a:t>
            </a:r>
            <a:r>
              <a:rPr lang="en-US" dirty="0" smtClean="0"/>
              <a:t>(p</a:t>
            </a:r>
            <a:r>
              <a:rPr lang="vi-VN" dirty="0" smtClean="0">
                <a:sym typeface="Symbol"/>
              </a:rPr>
              <a:t></a:t>
            </a:r>
            <a:r>
              <a:rPr lang="en-US" dirty="0" smtClean="0">
                <a:sym typeface="Symbol"/>
              </a:rPr>
              <a:t>q)</a:t>
            </a:r>
            <a:r>
              <a:rPr lang="vi-VN" dirty="0" smtClean="0">
                <a:sym typeface="Symbol"/>
              </a:rPr>
              <a:t> </a:t>
            </a:r>
            <a:r>
              <a:rPr lang="en-US" dirty="0" smtClean="0">
                <a:sym typeface="Symbol"/>
              </a:rPr>
              <a:t> (</a:t>
            </a:r>
            <a:r>
              <a:rPr lang="vi-VN" dirty="0" smtClean="0">
                <a:sym typeface="Symbol"/>
              </a:rPr>
              <a:t></a:t>
            </a:r>
            <a:r>
              <a:rPr lang="en-US" dirty="0" smtClean="0">
                <a:sym typeface="Symbol"/>
              </a:rPr>
              <a:t>p </a:t>
            </a:r>
            <a:r>
              <a:rPr lang="vi-VN" dirty="0" smtClean="0">
                <a:sym typeface="Symbol"/>
              </a:rPr>
              <a:t></a:t>
            </a:r>
            <a:r>
              <a:rPr lang="vi-VN" dirty="0" smtClean="0"/>
              <a:t> q</a:t>
            </a:r>
            <a:r>
              <a:rPr lang="en-US" dirty="0" smtClean="0"/>
              <a:t>)</a:t>
            </a:r>
            <a:endParaRPr lang="en-US" dirty="0" smtClean="0">
              <a:solidFill>
                <a:schemeClr val="accent2"/>
              </a:solidFill>
            </a:endParaRPr>
          </a:p>
          <a:p>
            <a:pPr marL="0" indent="165100" algn="just">
              <a:buNone/>
            </a:pPr>
            <a:r>
              <a:rPr lang="vi-VN" dirty="0" smtClean="0">
                <a:solidFill>
                  <a:srgbClr val="FF0000"/>
                </a:solidFill>
              </a:rPr>
              <a:t>Hệ quả logic: </a:t>
            </a:r>
            <a:r>
              <a:rPr lang="vi-VN" dirty="0" smtClean="0"/>
              <a:t>F được gọi là hệ quả logic của E nếu E</a:t>
            </a:r>
            <a:r>
              <a:rPr lang="en-US" dirty="0" smtClean="0"/>
              <a:t> </a:t>
            </a:r>
            <a:r>
              <a:rPr lang="vi-VN" dirty="0" smtClean="0"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/>
              <a:t>F là</a:t>
            </a:r>
            <a:r>
              <a:rPr lang="en-US" dirty="0" smtClean="0"/>
              <a:t> </a:t>
            </a:r>
            <a:r>
              <a:rPr lang="vi-VN" dirty="0" smtClean="0"/>
              <a:t>hằng đúng.</a:t>
            </a:r>
          </a:p>
          <a:p>
            <a:pPr marL="0" indent="165100" algn="just">
              <a:buNone/>
            </a:pPr>
            <a:r>
              <a:rPr lang="vi-VN" dirty="0" smtClean="0"/>
              <a:t>Ký hiệu</a:t>
            </a:r>
            <a:r>
              <a:rPr lang="en-US" dirty="0" smtClean="0"/>
              <a:t>: </a:t>
            </a:r>
            <a:r>
              <a:rPr lang="vi-VN" dirty="0" smtClean="0"/>
              <a:t>E</a:t>
            </a:r>
            <a:r>
              <a:rPr lang="en-US" dirty="0" smtClean="0"/>
              <a:t>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/>
              <a:t>F</a:t>
            </a:r>
          </a:p>
          <a:p>
            <a:pPr marL="0" indent="165100" algn="just">
              <a:buNone/>
            </a:pPr>
            <a:r>
              <a:rPr lang="vi-VN" dirty="0" smtClean="0">
                <a:solidFill>
                  <a:srgbClr val="FF0000"/>
                </a:solidFill>
              </a:rPr>
              <a:t>Ví dụ: 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(p </a:t>
            </a:r>
            <a:r>
              <a:rPr lang="vi-VN" dirty="0" smtClean="0">
                <a:sym typeface="Symbol"/>
              </a:rPr>
              <a:t></a:t>
            </a:r>
            <a:r>
              <a:rPr lang="vi-VN" dirty="0" smtClean="0"/>
              <a:t> q) </a:t>
            </a:r>
            <a:r>
              <a:rPr lang="vi-VN" dirty="0" smtClean="0">
                <a:sym typeface="Symbol"/>
              </a:rPr>
              <a:t></a:t>
            </a:r>
            <a:r>
              <a:rPr lang="vi-VN" dirty="0" smtClean="0"/>
              <a:t> 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p</a:t>
            </a:r>
            <a:endParaRPr lang="en-US" dirty="0" smtClean="0"/>
          </a:p>
          <a:p>
            <a:pPr marL="0" indent="165100" algn="just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Biểu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thức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810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109887"/>
              </p:ext>
            </p:extLst>
          </p:nvPr>
        </p:nvGraphicFramePr>
        <p:xfrm>
          <a:off x="5734050" y="5029200"/>
          <a:ext cx="23495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9" name="Equation" r:id="rId3" imgW="2349360" imgH="2108160" progId="Equation.DSMT4">
                  <p:embed/>
                </p:oleObj>
              </mc:Choice>
              <mc:Fallback>
                <p:oleObj name="Equation" r:id="rId3" imgW="2349360" imgH="2108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050" y="5029200"/>
                        <a:ext cx="2349500" cy="1828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344488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 smtClean="0">
                <a:solidFill>
                  <a:srgbClr val="FF0000"/>
                </a:solidFill>
              </a:rPr>
              <a:t>Phủ định của phủ định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 smtClean="0">
                <a:sym typeface="Symbol"/>
              </a:rPr>
              <a:t></a:t>
            </a:r>
            <a:r>
              <a:rPr lang="vi-VN" dirty="0" smtClean="0"/>
              <a:t>p </a:t>
            </a:r>
            <a:r>
              <a:rPr lang="vi-VN" dirty="0" smtClean="0">
                <a:sym typeface="Symbol"/>
              </a:rPr>
              <a:t>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/>
              <a:t>p</a:t>
            </a:r>
            <a:endParaRPr lang="en-US" dirty="0" smtClean="0"/>
          </a:p>
          <a:p>
            <a:pPr marL="0" indent="344488" algn="just">
              <a:buClr>
                <a:srgbClr val="FF0000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Qui </a:t>
            </a:r>
            <a:r>
              <a:rPr lang="en-US" dirty="0" err="1" smtClean="0">
                <a:solidFill>
                  <a:srgbClr val="FF0000"/>
                </a:solidFill>
              </a:rPr>
              <a:t>tắc</a:t>
            </a:r>
            <a:r>
              <a:rPr lang="en-US" dirty="0" smtClean="0">
                <a:solidFill>
                  <a:srgbClr val="FF0000"/>
                </a:solidFill>
              </a:rPr>
              <a:t> De Morgan: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 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 q</a:t>
            </a:r>
          </a:p>
          <a:p>
            <a:pPr marL="0" indent="344488" algn="just">
              <a:buClr>
                <a:srgbClr val="FF0000"/>
              </a:buClr>
              <a:buNone/>
              <a:tabLst>
                <a:tab pos="3657600" algn="l"/>
              </a:tabLst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 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 q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giao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hoán</a:t>
            </a:r>
            <a:r>
              <a:rPr lang="en-US" dirty="0" smtClean="0">
                <a:solidFill>
                  <a:srgbClr val="FF0000"/>
                </a:solidFill>
              </a:rPr>
              <a:t>: 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p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hợp</a:t>
            </a:r>
            <a:r>
              <a:rPr lang="en-US" dirty="0" smtClean="0">
                <a:solidFill>
                  <a:srgbClr val="FF0000"/>
                </a:solidFill>
              </a:rPr>
              <a:t>:	</a:t>
            </a:r>
            <a:r>
              <a:rPr lang="en-US" dirty="0" smtClean="0"/>
              <a:t>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(q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r)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 smtClean="0"/>
              <a:t>			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r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p</a:t>
            </a:r>
            <a:r>
              <a:rPr lang="en-US" dirty="0" smtClean="0">
                <a:sym typeface="Symbol"/>
              </a:rPr>
              <a:t> 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r)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Các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luật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344488" algn="just">
              <a:buClr>
                <a:srgbClr val="FF0000"/>
              </a:buClr>
              <a:buFont typeface="+mj-lt"/>
              <a:buAutoNum type="arabicPeriod" startAt="5"/>
            </a:pPr>
            <a:r>
              <a:rPr lang="vi-VN" dirty="0" smtClean="0">
                <a:solidFill>
                  <a:srgbClr val="FF0000"/>
                </a:solidFill>
              </a:rPr>
              <a:t>Luật phân phối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vi-VN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vi-VN" dirty="0" smtClean="0"/>
              <a:t> (q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r)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</a:t>
            </a:r>
            <a:r>
              <a:rPr lang="vi-VN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</a:t>
            </a:r>
            <a:r>
              <a:rPr lang="vi-VN" dirty="0" smtClean="0"/>
              <a:t> r)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 smtClean="0"/>
              <a:t>			</a:t>
            </a:r>
            <a:r>
              <a:rPr lang="vi-VN" dirty="0" smtClean="0"/>
              <a:t> p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(q </a:t>
            </a:r>
            <a:r>
              <a:rPr lang="en-US" dirty="0" smtClean="0">
                <a:sym typeface="Symbol"/>
              </a:rPr>
              <a:t></a:t>
            </a:r>
            <a:r>
              <a:rPr lang="vi-VN" dirty="0" smtClean="0"/>
              <a:t> r)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q) </a:t>
            </a:r>
            <a:r>
              <a:rPr lang="en-US" dirty="0" smtClean="0">
                <a:sym typeface="Symbol"/>
              </a:rPr>
              <a:t>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r)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6"/>
            </a:pPr>
            <a:r>
              <a:rPr lang="vi-VN" dirty="0" smtClean="0">
                <a:solidFill>
                  <a:srgbClr val="FF0000"/>
                </a:solidFill>
              </a:rPr>
              <a:t>Luật lũy đẳng</a:t>
            </a:r>
            <a:r>
              <a:rPr lang="en-US" dirty="0" smtClean="0">
                <a:solidFill>
                  <a:srgbClr val="FF0000"/>
                </a:solidFill>
              </a:rPr>
              <a:t>:	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vi-VN" dirty="0" smtClean="0"/>
              <a:t>p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p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 smtClean="0"/>
              <a:t>			 	</a:t>
            </a:r>
            <a:r>
              <a:rPr lang="vi-VN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vi-VN" dirty="0" smtClean="0"/>
              <a:t> p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p</a:t>
            </a:r>
            <a:endParaRPr lang="en-US" dirty="0" smtClean="0"/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7"/>
            </a:pP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trung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hòa</a:t>
            </a:r>
            <a:r>
              <a:rPr lang="en-US" dirty="0" smtClean="0">
                <a:solidFill>
                  <a:srgbClr val="FF0000"/>
                </a:solidFill>
              </a:rPr>
              <a:t>:	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0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1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p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8"/>
            </a:pP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về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phần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bù</a:t>
            </a:r>
            <a:r>
              <a:rPr lang="en-US" dirty="0" smtClean="0">
                <a:solidFill>
                  <a:srgbClr val="FF0000"/>
                </a:solidFill>
              </a:rPr>
              <a:t>: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 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0 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1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Các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luật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 startAt="9"/>
            </a:pPr>
            <a:r>
              <a:rPr lang="en-US" dirty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thống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trị</a:t>
            </a:r>
            <a:r>
              <a:rPr lang="en-US" dirty="0" smtClean="0">
                <a:solidFill>
                  <a:srgbClr val="FF0000"/>
                </a:solidFill>
              </a:rPr>
              <a:t>: 	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0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0 </a:t>
            </a:r>
          </a:p>
          <a:p>
            <a:pPr marL="0" indent="165100" algn="just"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1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1</a:t>
            </a: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10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hấp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thu</a:t>
            </a:r>
            <a:r>
              <a:rPr lang="en-US" dirty="0" smtClean="0">
                <a:solidFill>
                  <a:srgbClr val="FF0000"/>
                </a:solidFill>
              </a:rPr>
              <a:t>: 	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 p</a:t>
            </a:r>
          </a:p>
          <a:p>
            <a:pPr marL="0" indent="165100" algn="just"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p</a:t>
            </a: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11"/>
            </a:pP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về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phép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kéo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theo</a:t>
            </a:r>
            <a:r>
              <a:rPr lang="en-US" dirty="0" smtClean="0">
                <a:solidFill>
                  <a:srgbClr val="FF0000"/>
                </a:solidFill>
              </a:rPr>
              <a:t>:	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</a:t>
            </a:r>
            <a:r>
              <a:rPr lang="en-US" dirty="0">
                <a:sym typeface="Symbol"/>
              </a:rPr>
              <a:t>p</a:t>
            </a:r>
            <a:endParaRPr lang="en-US" dirty="0" smtClean="0"/>
          </a:p>
          <a:p>
            <a:pPr marL="0" indent="0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</a:rPr>
              <a:t>12. </a:t>
            </a:r>
            <a:r>
              <a:rPr lang="en-US" dirty="0" err="1" smtClean="0">
                <a:solidFill>
                  <a:srgbClr val="FF0000"/>
                </a:solidFill>
              </a:rPr>
              <a:t>Luật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về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phép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kéo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theo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hai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chiều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pPr marL="0" indent="165100" algn="just">
              <a:buNone/>
            </a:pPr>
            <a:r>
              <a:rPr lang="vi-VN" dirty="0" smtClean="0"/>
              <a:t>	</a:t>
            </a:r>
            <a:r>
              <a:rPr lang="vi-VN" dirty="0"/>
              <a:t>	(</a:t>
            </a:r>
            <a:r>
              <a:rPr lang="vi-VN" dirty="0" smtClean="0"/>
              <a:t>p</a:t>
            </a:r>
            <a:r>
              <a:rPr lang="vi-VN" dirty="0">
                <a:sym typeface="Symbol"/>
              </a:rPr>
              <a:t> </a:t>
            </a:r>
            <a:r>
              <a:rPr lang="vi-VN" dirty="0" smtClean="0">
                <a:sym typeface="Symbol"/>
              </a:rPr>
              <a:t></a:t>
            </a:r>
            <a:r>
              <a:rPr lang="vi-VN" dirty="0" smtClean="0"/>
              <a:t> </a:t>
            </a:r>
            <a:r>
              <a:rPr lang="vi-VN" dirty="0"/>
              <a:t>q</a:t>
            </a:r>
            <a:r>
              <a:rPr lang="vi-VN" dirty="0" smtClean="0"/>
              <a:t>)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(q</a:t>
            </a:r>
            <a:r>
              <a:rPr lang="en-US" dirty="0" smtClean="0">
                <a:sym typeface="Symbol"/>
              </a:rPr>
              <a:t> </a:t>
            </a:r>
            <a:r>
              <a:rPr lang="vi-VN" dirty="0" smtClean="0"/>
              <a:t> p)</a:t>
            </a:r>
          </a:p>
          <a:p>
            <a:pPr marL="0" indent="165100" algn="just">
              <a:buNone/>
            </a:pPr>
            <a:r>
              <a:rPr lang="vi-VN" dirty="0"/>
              <a:t>	</a:t>
            </a:r>
            <a:r>
              <a:rPr lang="vi-VN" dirty="0" smtClean="0"/>
              <a:t>		</a:t>
            </a:r>
            <a:r>
              <a:rPr lang="en-US" dirty="0" smtClean="0"/>
              <a:t>   </a:t>
            </a:r>
            <a:r>
              <a:rPr lang="en-US" dirty="0" smtClean="0">
                <a:sym typeface="Symbol"/>
              </a:rPr>
              <a:t>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</a:t>
            </a:r>
            <a:r>
              <a:rPr lang="vi-VN" dirty="0" smtClean="0"/>
              <a:t>(</a:t>
            </a:r>
            <a:r>
              <a:rPr lang="en-US" dirty="0" smtClean="0">
                <a:sym typeface="Symbol"/>
              </a:rPr>
              <a:t></a:t>
            </a:r>
            <a:r>
              <a:rPr lang="vi-VN" dirty="0" smtClean="0"/>
              <a:t>p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</a:t>
            </a:r>
            <a:r>
              <a:rPr lang="vi-VN" dirty="0" smtClean="0"/>
              <a:t>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</a:t>
            </a:r>
            <a:r>
              <a:rPr lang="vi-VN" dirty="0" smtClean="0"/>
              <a:t>(</a:t>
            </a:r>
            <a:r>
              <a:rPr lang="en-US" dirty="0" smtClean="0">
                <a:sym typeface="Symbol"/>
              </a:rPr>
              <a:t></a:t>
            </a:r>
            <a:r>
              <a:rPr lang="en-US" dirty="0" smtClean="0"/>
              <a:t>q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p</a:t>
            </a:r>
            <a:r>
              <a:rPr lang="vi-VN" dirty="0" smtClean="0"/>
              <a:t>)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Các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luật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vi-VN" dirty="0" smtClean="0"/>
              <a:t>Cho p, q, r là các biến mệnh đề. Ch</a:t>
            </a:r>
            <a:r>
              <a:rPr lang="en-US" dirty="0" err="1" smtClean="0"/>
              <a:t>ứng</a:t>
            </a:r>
            <a:r>
              <a:rPr lang="en-US" dirty="0" smtClean="0"/>
              <a:t> minh </a:t>
            </a:r>
            <a:r>
              <a:rPr lang="en-US" dirty="0" err="1" smtClean="0"/>
              <a:t>rằng</a:t>
            </a:r>
            <a:r>
              <a:rPr lang="en-US" dirty="0" smtClean="0"/>
              <a:t>: </a:t>
            </a:r>
            <a:r>
              <a:rPr lang="vi-VN" dirty="0" smtClean="0"/>
              <a:t>(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p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r)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(q</a:t>
            </a:r>
            <a:r>
              <a:rPr lang="en-US" dirty="0" smtClean="0">
                <a:sym typeface="Symbol"/>
              </a:rPr>
              <a:t> </a:t>
            </a:r>
            <a:r>
              <a:rPr lang="vi-VN" dirty="0" smtClean="0"/>
              <a:t> r)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q)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r </a:t>
            </a:r>
            <a:r>
              <a:rPr lang="en-US" dirty="0" smtClean="0"/>
              <a:t>.</a:t>
            </a:r>
          </a:p>
          <a:p>
            <a:pPr marL="0" indent="165100" algn="just">
              <a:buNone/>
            </a:pPr>
            <a:r>
              <a:rPr lang="en-US" dirty="0" err="1" smtClean="0"/>
              <a:t>Giải</a:t>
            </a:r>
            <a:r>
              <a:rPr lang="en-US" dirty="0" smtClean="0"/>
              <a:t>:</a:t>
            </a:r>
          </a:p>
          <a:p>
            <a:pPr marL="0" indent="165100" algn="just">
              <a:buNone/>
            </a:pPr>
            <a:r>
              <a:rPr lang="en-US" dirty="0" smtClean="0"/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Các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luật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0" y="3352800"/>
            <a:ext cx="457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smtClean="0"/>
              <a:t> (</a:t>
            </a:r>
            <a:r>
              <a:rPr lang="en-US" sz="2800" dirty="0" smtClean="0">
                <a:sym typeface="Symbol"/>
              </a:rPr>
              <a:t> </a:t>
            </a:r>
            <a:r>
              <a:rPr lang="en-US" sz="2800" dirty="0" smtClean="0"/>
              <a:t>p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 r)</a:t>
            </a:r>
            <a:r>
              <a:rPr lang="en-US" sz="2800" dirty="0" smtClean="0">
                <a:sym typeface="Symbol"/>
              </a:rPr>
              <a:t> </a:t>
            </a:r>
            <a:r>
              <a:rPr lang="en-US" sz="2800" dirty="0" smtClean="0"/>
              <a:t>  (q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 r)</a:t>
            </a:r>
          </a:p>
          <a:p>
            <a:pPr>
              <a:buNone/>
            </a:pPr>
            <a:r>
              <a:rPr lang="en-US" sz="2800" dirty="0" smtClean="0">
                <a:sym typeface="Symbol"/>
              </a:rPr>
              <a:t></a:t>
            </a:r>
            <a:r>
              <a:rPr lang="en-US" sz="2800" dirty="0" smtClean="0"/>
              <a:t>  ( p </a:t>
            </a:r>
            <a:r>
              <a:rPr lang="en-US" sz="2800" dirty="0" smtClean="0">
                <a:sym typeface="Symbol"/>
              </a:rPr>
              <a:t></a:t>
            </a:r>
            <a:r>
              <a:rPr lang="en-US" sz="2800" dirty="0" smtClean="0"/>
              <a:t> r )</a:t>
            </a:r>
            <a:r>
              <a:rPr lang="en-US" sz="2800" dirty="0" smtClean="0">
                <a:sym typeface="Symbol"/>
              </a:rPr>
              <a:t> </a:t>
            </a:r>
            <a:r>
              <a:rPr lang="en-US" sz="2800" dirty="0" smtClean="0"/>
              <a:t>  (</a:t>
            </a:r>
            <a:r>
              <a:rPr lang="en-US" sz="2800" dirty="0" smtClean="0">
                <a:sym typeface="Symbol"/>
              </a:rPr>
              <a:t></a:t>
            </a:r>
            <a:r>
              <a:rPr lang="en-US" sz="2800" dirty="0" smtClean="0"/>
              <a:t> q </a:t>
            </a:r>
            <a:r>
              <a:rPr lang="en-US" sz="2800" dirty="0" smtClean="0">
                <a:sym typeface="Symbol"/>
              </a:rPr>
              <a:t></a:t>
            </a:r>
            <a:r>
              <a:rPr lang="en-US" sz="2800" dirty="0" smtClean="0"/>
              <a:t> r)</a:t>
            </a:r>
          </a:p>
          <a:p>
            <a:pPr>
              <a:buNone/>
            </a:pPr>
            <a:r>
              <a:rPr lang="en-US" sz="2800" dirty="0" smtClean="0">
                <a:sym typeface="Symbol"/>
              </a:rPr>
              <a:t>  </a:t>
            </a:r>
            <a:r>
              <a:rPr lang="en-US" sz="2800" dirty="0" smtClean="0"/>
              <a:t>( p </a:t>
            </a:r>
            <a:r>
              <a:rPr lang="en-US" sz="2800" dirty="0" smtClean="0">
                <a:sym typeface="Symbol"/>
              </a:rPr>
              <a:t> </a:t>
            </a:r>
            <a:r>
              <a:rPr lang="en-US" sz="2800" dirty="0" smtClean="0"/>
              <a:t> q )</a:t>
            </a:r>
            <a:r>
              <a:rPr lang="en-US" sz="2800" dirty="0" smtClean="0">
                <a:sym typeface="Symbol"/>
              </a:rPr>
              <a:t> </a:t>
            </a:r>
            <a:r>
              <a:rPr lang="en-US" sz="2800" dirty="0" smtClean="0"/>
              <a:t> r</a:t>
            </a:r>
          </a:p>
          <a:p>
            <a:pPr>
              <a:buNone/>
            </a:pPr>
            <a:r>
              <a:rPr lang="en-US" sz="2800" dirty="0" smtClean="0">
                <a:sym typeface="Symbol"/>
              </a:rPr>
              <a:t>  </a:t>
            </a:r>
            <a:r>
              <a:rPr lang="en-US" sz="2800" dirty="0" smtClean="0"/>
              <a:t>(</a:t>
            </a:r>
            <a:r>
              <a:rPr lang="en-US" sz="2800" dirty="0" smtClean="0">
                <a:sym typeface="Symbol"/>
              </a:rPr>
              <a:t> </a:t>
            </a:r>
            <a:r>
              <a:rPr lang="en-US" sz="2800" dirty="0" smtClean="0"/>
              <a:t>p </a:t>
            </a:r>
            <a:r>
              <a:rPr lang="en-US" sz="2800" dirty="0" smtClean="0">
                <a:sym typeface="Symbol"/>
              </a:rPr>
              <a:t></a:t>
            </a:r>
            <a:r>
              <a:rPr lang="en-US" sz="2800" dirty="0" smtClean="0"/>
              <a:t> q )</a:t>
            </a:r>
            <a:r>
              <a:rPr lang="en-US" sz="2800" dirty="0" smtClean="0">
                <a:sym typeface="Symbol"/>
              </a:rPr>
              <a:t> </a:t>
            </a:r>
            <a:r>
              <a:rPr lang="en-US" sz="2800" dirty="0" smtClean="0"/>
              <a:t> r</a:t>
            </a:r>
          </a:p>
          <a:p>
            <a:pPr>
              <a:buNone/>
            </a:pPr>
            <a:r>
              <a:rPr lang="en-US" sz="2800" dirty="0" smtClean="0">
                <a:sym typeface="Symbol"/>
              </a:rPr>
              <a:t>  </a:t>
            </a:r>
            <a:r>
              <a:rPr lang="en-US" sz="2800" dirty="0" smtClean="0"/>
              <a:t>( p</a:t>
            </a:r>
            <a:r>
              <a:rPr lang="en-US" sz="2800" dirty="0" smtClean="0">
                <a:sym typeface="Symbol"/>
              </a:rPr>
              <a:t> </a:t>
            </a:r>
            <a:r>
              <a:rPr lang="en-US" sz="2800" dirty="0" smtClean="0"/>
              <a:t>  q ) </a:t>
            </a:r>
            <a:r>
              <a:rPr lang="en-US" sz="2800" dirty="0" smtClean="0">
                <a:sym typeface="Symbol"/>
              </a:rPr>
              <a:t></a:t>
            </a:r>
            <a:r>
              <a:rPr lang="en-US" sz="2800" dirty="0" smtClean="0"/>
              <a:t> r</a:t>
            </a:r>
          </a:p>
          <a:p>
            <a:pPr>
              <a:buNone/>
            </a:pPr>
            <a:r>
              <a:rPr lang="en-US" sz="2800" dirty="0" smtClean="0">
                <a:sym typeface="Symbol"/>
              </a:rPr>
              <a:t>  (</a:t>
            </a:r>
            <a:r>
              <a:rPr lang="en-US" sz="2800" dirty="0" smtClean="0"/>
              <a:t>p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 q )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 r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vi-VN" dirty="0" smtClean="0"/>
              <a:t>Cho p, q, r là các biến mệnh đề. Ch</a:t>
            </a:r>
            <a:r>
              <a:rPr lang="en-US" dirty="0" err="1" smtClean="0"/>
              <a:t>ứng</a:t>
            </a:r>
            <a:r>
              <a:rPr lang="en-US" dirty="0" smtClean="0"/>
              <a:t> minh </a:t>
            </a:r>
            <a:r>
              <a:rPr lang="en-US" dirty="0" err="1" smtClean="0"/>
              <a:t>rằng</a:t>
            </a:r>
            <a:r>
              <a:rPr lang="en-US" dirty="0" smtClean="0"/>
              <a:t>: </a:t>
            </a:r>
            <a:r>
              <a:rPr lang="vi-VN" dirty="0" smtClean="0"/>
              <a:t>(</a:t>
            </a:r>
            <a:r>
              <a:rPr lang="vi-VN" dirty="0" smtClean="0">
                <a:sym typeface="Symbol"/>
              </a:rPr>
              <a:t></a:t>
            </a:r>
            <a:r>
              <a:rPr lang="vi-VN" dirty="0" smtClean="0"/>
              <a:t>p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r) </a:t>
            </a:r>
            <a:r>
              <a:rPr lang="en-US" dirty="0" smtClean="0">
                <a:sym typeface="Symbol"/>
              </a:rPr>
              <a:t></a:t>
            </a:r>
            <a:r>
              <a:rPr lang="vi-VN" dirty="0" smtClean="0"/>
              <a:t> (q</a:t>
            </a:r>
            <a:r>
              <a:rPr lang="en-US" dirty="0" smtClean="0">
                <a:sym typeface="Symbol"/>
              </a:rPr>
              <a:t> </a:t>
            </a:r>
            <a:r>
              <a:rPr lang="vi-VN" dirty="0" smtClean="0"/>
              <a:t> r) </a:t>
            </a:r>
            <a:r>
              <a:rPr lang="en-US" dirty="0" smtClean="0">
                <a:sym typeface="Symbol"/>
              </a:rPr>
              <a:t></a:t>
            </a:r>
            <a:r>
              <a:rPr lang="vi-VN" dirty="0" smtClean="0"/>
              <a:t> (p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q) </a:t>
            </a:r>
            <a:r>
              <a:rPr lang="en-US" dirty="0" smtClean="0">
                <a:sym typeface="Symbol"/>
              </a:rPr>
              <a:t></a:t>
            </a:r>
            <a:r>
              <a:rPr lang="vi-VN" dirty="0" smtClean="0"/>
              <a:t> r </a:t>
            </a:r>
            <a:r>
              <a:rPr lang="en-US" dirty="0" smtClean="0"/>
              <a:t>.</a:t>
            </a:r>
          </a:p>
          <a:p>
            <a:pPr marL="0" indent="165100" algn="just">
              <a:buNone/>
            </a:pPr>
            <a:r>
              <a:rPr lang="en-US" dirty="0" err="1" smtClean="0"/>
              <a:t>Giải</a:t>
            </a:r>
            <a:r>
              <a:rPr lang="en-US" dirty="0" smtClean="0"/>
              <a:t>:</a:t>
            </a:r>
          </a:p>
          <a:p>
            <a:pPr marL="0" indent="165100" algn="just">
              <a:buNone/>
            </a:pPr>
            <a:r>
              <a:rPr lang="en-US" dirty="0" smtClean="0"/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Các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luật</a:t>
            </a:r>
            <a:r>
              <a:rPr lang="en-US" sz="4800" b="1" dirty="0" smtClean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Ảnh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368936"/>
            <a:ext cx="5105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9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9530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chemeClr val="accent2"/>
                </a:solidFill>
              </a:rPr>
              <a:t>Định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nghĩa</a:t>
            </a:r>
            <a:r>
              <a:rPr lang="en-US" dirty="0" smtClean="0">
                <a:solidFill>
                  <a:schemeClr val="accent2"/>
                </a:solidFill>
              </a:rPr>
              <a:t>: 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, ta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: </a:t>
            </a:r>
            <a:r>
              <a:rPr lang="en-US" dirty="0" err="1" smtClean="0"/>
              <a:t>nếu</a:t>
            </a:r>
            <a:r>
              <a:rPr lang="en-US" dirty="0" smtClean="0"/>
              <a:t>    </a:t>
            </a:r>
            <a:r>
              <a:rPr lang="en-US" dirty="0" err="1" smtClean="0"/>
              <a:t>và</a:t>
            </a:r>
            <a:r>
              <a:rPr lang="en-US" dirty="0" smtClean="0"/>
              <a:t>     </a:t>
            </a:r>
            <a:r>
              <a:rPr lang="en-US" dirty="0" err="1" smtClean="0"/>
              <a:t>và</a:t>
            </a:r>
            <a:r>
              <a:rPr lang="en-US" dirty="0" smtClean="0"/>
              <a:t> … </a:t>
            </a:r>
            <a:r>
              <a:rPr lang="en-US" dirty="0" err="1" smtClean="0"/>
              <a:t>và</a:t>
            </a:r>
            <a:r>
              <a:rPr lang="en-US" dirty="0" smtClean="0"/>
              <a:t>     </a:t>
            </a:r>
            <a:r>
              <a:rPr lang="en-US" dirty="0" err="1" smtClean="0"/>
              <a:t>thì</a:t>
            </a:r>
            <a:r>
              <a:rPr lang="en-US" dirty="0" smtClean="0"/>
              <a:t>   , </a:t>
            </a:r>
            <a:r>
              <a:rPr lang="en-US" dirty="0" err="1" smtClean="0"/>
              <a:t>tức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logic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 marL="0" indent="165100">
              <a:buClr>
                <a:srgbClr val="FF0000"/>
              </a:buClr>
              <a:buNone/>
            </a:pPr>
            <a:endParaRPr lang="en-US" dirty="0" smtClean="0"/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là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đúng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r>
              <a:rPr lang="en-US" dirty="0" err="1" smtClean="0"/>
              <a:t>khi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                                    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là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hằng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đúng</a:t>
            </a:r>
            <a:r>
              <a:rPr lang="en-US" dirty="0" smtClean="0">
                <a:sym typeface="Symbol"/>
              </a:rPr>
              <a:t>.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Ta </a:t>
            </a:r>
            <a:r>
              <a:rPr lang="en-US" dirty="0" err="1" smtClean="0">
                <a:sym typeface="Symbol"/>
              </a:rPr>
              <a:t>gọi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dạng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lý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luận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trên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là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một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quy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tắc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diễn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và</a:t>
            </a:r>
            <a:r>
              <a:rPr lang="en-US" dirty="0" smtClean="0">
                <a:sym typeface="Symbol"/>
              </a:rPr>
              <a:t>  </a:t>
            </a:r>
            <a:r>
              <a:rPr lang="en-US" dirty="0" err="1" smtClean="0">
                <a:sym typeface="Symbol"/>
              </a:rPr>
              <a:t>thường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được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viết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theo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các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cách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sau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đây</a:t>
            </a:r>
            <a:r>
              <a:rPr lang="en-US" dirty="0" smtClean="0">
                <a:sym typeface="Symbol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217090" name="Object 2"/>
          <p:cNvGraphicFramePr>
            <a:graphicFrameLocks noChangeAspect="1"/>
          </p:cNvGraphicFramePr>
          <p:nvPr/>
        </p:nvGraphicFramePr>
        <p:xfrm>
          <a:off x="6521450" y="2552700"/>
          <a:ext cx="30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25" name="Equation" r:id="rId3" imgW="304560" imgH="507960" progId="Equation.DSMT4">
                  <p:embed/>
                </p:oleObj>
              </mc:Choice>
              <mc:Fallback>
                <p:oleObj name="Equation" r:id="rId3" imgW="304560" imgH="5079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2552700"/>
                        <a:ext cx="304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889572"/>
              </p:ext>
            </p:extLst>
          </p:nvPr>
        </p:nvGraphicFramePr>
        <p:xfrm>
          <a:off x="7327552" y="2540174"/>
          <a:ext cx="33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26" name="Equation" r:id="rId5" imgW="330120" imgH="507960" progId="Equation.DSMT4">
                  <p:embed/>
                </p:oleObj>
              </mc:Choice>
              <mc:Fallback>
                <p:oleObj name="Equation" r:id="rId5" imgW="330120" imgH="5079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552" y="2540174"/>
                        <a:ext cx="330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766581"/>
              </p:ext>
            </p:extLst>
          </p:nvPr>
        </p:nvGraphicFramePr>
        <p:xfrm>
          <a:off x="947803" y="4501619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27" name="Equation" r:id="rId7" imgW="3352680" imgH="507960" progId="Equation.DSMT4">
                  <p:embed/>
                </p:oleObj>
              </mc:Choice>
              <mc:Fallback>
                <p:oleObj name="Equation" r:id="rId7" imgW="3352680" imgH="5079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803" y="4501619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479929"/>
              </p:ext>
            </p:extLst>
          </p:nvPr>
        </p:nvGraphicFramePr>
        <p:xfrm>
          <a:off x="1141956" y="2961536"/>
          <a:ext cx="35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28" name="Equation" r:id="rId9" imgW="355320" imgH="507960" progId="Equation.DSMT4">
                  <p:embed/>
                </p:oleObj>
              </mc:Choice>
              <mc:Fallback>
                <p:oleObj name="Equation" r:id="rId9" imgW="3553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956" y="2961536"/>
                        <a:ext cx="355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86303"/>
              </p:ext>
            </p:extLst>
          </p:nvPr>
        </p:nvGraphicFramePr>
        <p:xfrm>
          <a:off x="2030607" y="3144729"/>
          <a:ext cx="209550" cy="3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29" name="Equation" r:id="rId11" imgW="190440" imgH="291960" progId="Equation.DSMT4">
                  <p:embed/>
                </p:oleObj>
              </mc:Choice>
              <mc:Fallback>
                <p:oleObj name="Equation" r:id="rId11" imgW="1904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607" y="3144729"/>
                        <a:ext cx="209550" cy="3213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Đối tượng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436262"/>
              </p:ext>
            </p:extLst>
          </p:nvPr>
        </p:nvGraphicFramePr>
        <p:xfrm>
          <a:off x="2895600" y="3466039"/>
          <a:ext cx="33432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30" name="Equation" r:id="rId13" imgW="3343096" imgH="495183" progId="Equation.DSMT4">
                  <p:embed/>
                </p:oleObj>
              </mc:Choice>
              <mc:Fallback>
                <p:oleObj name="Equation" r:id="rId13" imgW="3343096" imgH="4951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95600" y="3466039"/>
                        <a:ext cx="33432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82000" cy="5105400"/>
          </a:xfrm>
        </p:spPr>
        <p:txBody>
          <a:bodyPr/>
          <a:lstStyle/>
          <a:p>
            <a:pPr marL="0" indent="165100">
              <a:buClr>
                <a:srgbClr val="FF0000"/>
              </a:buClr>
              <a:buNone/>
            </a:pPr>
            <a:r>
              <a:rPr lang="en-US" u="sng" dirty="0">
                <a:solidFill>
                  <a:srgbClr val="00B0F0"/>
                </a:solidFill>
                <a:sym typeface="Symbol"/>
              </a:rPr>
              <a:t>Cách 1</a:t>
            </a:r>
            <a:r>
              <a:rPr lang="en-US" dirty="0">
                <a:solidFill>
                  <a:srgbClr val="00B0F0"/>
                </a:solidFill>
                <a:sym typeface="Symbol"/>
              </a:rPr>
              <a:t>: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hằng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u="sng" dirty="0" smtClean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u="sng" dirty="0" smtClean="0">
                <a:solidFill>
                  <a:srgbClr val="00B0F0"/>
                </a:solidFill>
                <a:sym typeface="Symbol"/>
              </a:rPr>
              <a:t>Cách 2</a:t>
            </a:r>
            <a:r>
              <a:rPr lang="en-US" dirty="0" smtClean="0">
                <a:solidFill>
                  <a:srgbClr val="00B0F0"/>
                </a:solidFill>
                <a:sym typeface="Symbol"/>
              </a:rPr>
              <a:t>: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Dòng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diễn</a:t>
            </a:r>
            <a:endParaRPr lang="en-US" dirty="0" smtClean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u="sng" dirty="0" smtClean="0">
                <a:solidFill>
                  <a:srgbClr val="00B0F0"/>
                </a:solidFill>
                <a:sym typeface="Symbol"/>
              </a:rPr>
              <a:t>Cách 3</a:t>
            </a:r>
            <a:r>
              <a:rPr lang="en-US" dirty="0" smtClean="0">
                <a:solidFill>
                  <a:srgbClr val="00B0F0"/>
                </a:solidFill>
                <a:sym typeface="Symbol"/>
              </a:rPr>
              <a:t>: </a:t>
            </a:r>
            <a:r>
              <a:rPr lang="en-US" dirty="0" err="1" smtClean="0">
                <a:sym typeface="Symbol"/>
              </a:rPr>
              <a:t>Mô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hình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diễn</a:t>
            </a:r>
            <a:endParaRPr lang="en-US" dirty="0" smtClean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 smtClean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 smtClean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 smtClean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 smtClean="0">
                <a:sym typeface="Symbol"/>
              </a:rPr>
              <a:t>Các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biểu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thức</a:t>
            </a:r>
            <a:r>
              <a:rPr lang="en-US" dirty="0" smtClean="0">
                <a:sym typeface="Symbol"/>
              </a:rPr>
              <a:t> logic                  </a:t>
            </a:r>
            <a:r>
              <a:rPr lang="en-US" dirty="0" err="1" smtClean="0">
                <a:sym typeface="Symbol"/>
              </a:rPr>
              <a:t>được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gọi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là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giả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thiết</a:t>
            </a:r>
            <a:r>
              <a:rPr lang="en-US" dirty="0" smtClean="0">
                <a:sym typeface="Symbol"/>
              </a:rPr>
              <a:t>  (hay </a:t>
            </a:r>
            <a:r>
              <a:rPr lang="en-US" dirty="0" err="1" smtClean="0">
                <a:sym typeface="Symbol"/>
              </a:rPr>
              <a:t>tiên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đề</a:t>
            </a:r>
            <a:r>
              <a:rPr lang="en-US" dirty="0" smtClean="0">
                <a:sym typeface="Symbol"/>
              </a:rPr>
              <a:t>), </a:t>
            </a:r>
            <a:r>
              <a:rPr lang="en-US" dirty="0" err="1" smtClean="0">
                <a:sym typeface="Symbol"/>
              </a:rPr>
              <a:t>biểu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thức</a:t>
            </a:r>
            <a:r>
              <a:rPr lang="en-US" dirty="0" smtClean="0">
                <a:sym typeface="Symbol"/>
              </a:rPr>
              <a:t>    </a:t>
            </a:r>
            <a:r>
              <a:rPr lang="en-US" dirty="0" err="1" smtClean="0">
                <a:sym typeface="Symbol"/>
              </a:rPr>
              <a:t>được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gọi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là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kết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luận</a:t>
            </a:r>
            <a:r>
              <a:rPr lang="en-US" dirty="0" smtClean="0">
                <a:sym typeface="Symbol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553200"/>
            <a:ext cx="1905000" cy="1524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217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87879"/>
              </p:ext>
            </p:extLst>
          </p:nvPr>
        </p:nvGraphicFramePr>
        <p:xfrm>
          <a:off x="2923131" y="3119518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5" name="Equation" r:id="rId4" imgW="3352680" imgH="507960" progId="Equation.DSMT4">
                  <p:embed/>
                </p:oleObj>
              </mc:Choice>
              <mc:Fallback>
                <p:oleObj name="Equation" r:id="rId4" imgW="3352680" imgH="5079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3131" y="3119518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074099"/>
              </p:ext>
            </p:extLst>
          </p:nvPr>
        </p:nvGraphicFramePr>
        <p:xfrm>
          <a:off x="4759195" y="3608940"/>
          <a:ext cx="1066800" cy="220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6" name="Equation" r:id="rId6" imgW="177480" imgH="583920" progId="Equation.DSMT4">
                  <p:embed/>
                </p:oleObj>
              </mc:Choice>
              <mc:Fallback>
                <p:oleObj name="Equation" r:id="rId6" imgW="177480" imgH="5839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195" y="3608940"/>
                        <a:ext cx="1066800" cy="220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3930650" y="5689600"/>
          <a:ext cx="1638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7" name="Equation" r:id="rId8" imgW="1638000" imgH="507960" progId="Equation.DSMT4">
                  <p:embed/>
                </p:oleObj>
              </mc:Choice>
              <mc:Fallback>
                <p:oleObj name="Equation" r:id="rId8" imgW="1638000" imgH="5079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5689600"/>
                        <a:ext cx="1638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405661"/>
              </p:ext>
            </p:extLst>
          </p:nvPr>
        </p:nvGraphicFramePr>
        <p:xfrm>
          <a:off x="4389981" y="6287248"/>
          <a:ext cx="209550" cy="3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8" name="Equation" r:id="rId10" imgW="190440" imgH="291960" progId="Equation.DSMT4">
                  <p:embed/>
                </p:oleObj>
              </mc:Choice>
              <mc:Fallback>
                <p:oleObj name="Equation" r:id="rId10" imgW="1904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981" y="6287248"/>
                        <a:ext cx="209550" cy="3213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Đối tượng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668738"/>
              </p:ext>
            </p:extLst>
          </p:nvPr>
        </p:nvGraphicFramePr>
        <p:xfrm>
          <a:off x="6504662" y="457280"/>
          <a:ext cx="21717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9" name="Equation" r:id="rId12" imgW="2171511" imgH="866570" progId="Equation.DSMT4">
                  <p:embed/>
                </p:oleObj>
              </mc:Choice>
              <mc:Fallback>
                <p:oleObj name="Equation" r:id="rId12" imgW="2171511" imgH="8665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04662" y="457280"/>
                        <a:ext cx="2171700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Đối tượng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972557"/>
              </p:ext>
            </p:extLst>
          </p:nvPr>
        </p:nvGraphicFramePr>
        <p:xfrm>
          <a:off x="2635250" y="2152489"/>
          <a:ext cx="4229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60" name="Equation" r:id="rId14" imgW="4229150" imgH="495183" progId="Equation.DSMT4">
                  <p:embed/>
                </p:oleObj>
              </mc:Choice>
              <mc:Fallback>
                <p:oleObj name="Equation" r:id="rId14" imgW="4229150" imgH="4951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35250" y="2152489"/>
                        <a:ext cx="42291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 smtClean="0">
                <a:solidFill>
                  <a:srgbClr val="FF0000"/>
                </a:solidFill>
              </a:rPr>
              <a:t>1. Qui </a:t>
            </a:r>
            <a:r>
              <a:rPr lang="vi-VN" dirty="0" err="1" smtClean="0">
                <a:solidFill>
                  <a:srgbClr val="FF0000"/>
                </a:solidFill>
              </a:rPr>
              <a:t>tắc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hội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giản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	(p </a:t>
            </a:r>
            <a:r>
              <a:rPr lang="en-US" dirty="0" smtClean="0">
                <a:sym typeface="Symbol"/>
              </a:rPr>
              <a:t> q)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</a:t>
            </a:r>
            <a:r>
              <a:rPr lang="en-US" dirty="0">
                <a:sym typeface="Symbol"/>
              </a:rPr>
              <a:t>p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smtClean="0"/>
              <a:t> SV A </a:t>
            </a:r>
            <a:r>
              <a:rPr lang="en-US" dirty="0" err="1" smtClean="0"/>
              <a:t>lễ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.	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 SV A </a:t>
            </a:r>
            <a:r>
              <a:rPr lang="en-US" dirty="0" err="1" smtClean="0"/>
              <a:t>lễ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r>
              <a:rPr lang="en-US" sz="4800" b="1" dirty="0" smtClean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581314"/>
              </p:ext>
            </p:extLst>
          </p:nvPr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  p</a:t>
                      </a:r>
                      <a:endParaRPr lang="en-US" sz="2800" b="0" dirty="0" smtClean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  <a:sym typeface="Symbol"/>
                        </a:rPr>
                        <a:t>  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p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1. </a:t>
            </a:r>
            <a:r>
              <a:rPr lang="vi-VN" dirty="0" smtClean="0">
                <a:solidFill>
                  <a:srgbClr val="FF0000"/>
                </a:solidFill>
              </a:rPr>
              <a:t>Qui </a:t>
            </a:r>
            <a:r>
              <a:rPr lang="vi-VN" dirty="0" err="1" smtClean="0">
                <a:solidFill>
                  <a:srgbClr val="FF0000"/>
                </a:solidFill>
              </a:rPr>
              <a:t>tắc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hội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giản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	(p </a:t>
            </a:r>
            <a:r>
              <a:rPr lang="en-US" dirty="0" smtClean="0">
                <a:sym typeface="Symbol"/>
              </a:rPr>
              <a:t> q)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</a:t>
            </a:r>
            <a:r>
              <a:rPr lang="en-US" dirty="0">
                <a:sym typeface="Symbol"/>
              </a:rPr>
              <a:t>q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smtClean="0"/>
              <a:t> SV A </a:t>
            </a:r>
            <a:r>
              <a:rPr lang="en-US" dirty="0" err="1" smtClean="0"/>
              <a:t>lễ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.	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 SV A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r>
              <a:rPr lang="en-US" sz="4800" b="1" dirty="0" smtClean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375851"/>
              </p:ext>
            </p:extLst>
          </p:nvPr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  p</a:t>
                      </a:r>
                      <a:endParaRPr lang="en-US" sz="2800" b="0" dirty="0" smtClean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  <a:sym typeface="Symbol"/>
                        </a:rPr>
                        <a:t>  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q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21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smtClean="0">
                <a:solidFill>
                  <a:srgbClr val="FF0000"/>
                </a:solidFill>
              </a:rPr>
              <a:t>1.2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vi-VN" dirty="0" smtClean="0">
                <a:solidFill>
                  <a:srgbClr val="FF0000"/>
                </a:solidFill>
              </a:rPr>
              <a:t>Qui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tắc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tuyển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giản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p </a:t>
            </a:r>
            <a:r>
              <a:rPr lang="en-US" dirty="0" smtClean="0"/>
              <a:t> q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smtClean="0"/>
              <a:t> SV A </a:t>
            </a:r>
            <a:r>
              <a:rPr lang="en-US" dirty="0" err="1" smtClean="0"/>
              <a:t>lễ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/>
              <a:t>.</a:t>
            </a:r>
            <a:r>
              <a:rPr lang="en-US" dirty="0" smtClean="0"/>
              <a:t>	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 SV A </a:t>
            </a:r>
            <a:r>
              <a:rPr lang="en-US" dirty="0" err="1" smtClean="0"/>
              <a:t>lễ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hay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r>
              <a:rPr lang="en-US" sz="4800" b="1" dirty="0" smtClean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72337"/>
              </p:ext>
            </p:extLst>
          </p:nvPr>
        </p:nvGraphicFramePr>
        <p:xfrm>
          <a:off x="5562600" y="2133600"/>
          <a:ext cx="152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   p</a:t>
                      </a:r>
                      <a:endParaRPr lang="en-US" sz="2800" b="0" dirty="0" smtClean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49300" algn="l"/>
                        </a:tabLst>
                        <a:defRPr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p </a:t>
                      </a:r>
                      <a:r>
                        <a:rPr lang="en-US" sz="2800" dirty="0" smtClean="0">
                          <a:sym typeface="Symbol"/>
                        </a:rPr>
                        <a:t>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q</a:t>
                      </a:r>
                      <a:endParaRPr lang="en-US" sz="28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49300" algn="l"/>
                        </a:tabLst>
                        <a:defRPr/>
                      </a:pPr>
                      <a:endParaRPr lang="en-US" sz="2800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88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</a:rPr>
              <a:t>2. Qui tắc khẳng định (Modus Ponens)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	[(p </a:t>
            </a:r>
            <a:r>
              <a:rPr lang="en-US" dirty="0" smtClean="0">
                <a:sym typeface="Symbol"/>
              </a:rPr>
              <a:t> q)  p]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q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đậu</a:t>
            </a:r>
            <a:r>
              <a:rPr lang="en-US" dirty="0" smtClean="0"/>
              <a:t> 		     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smtClean="0"/>
              <a:t>SV A 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endParaRPr lang="en-US" dirty="0" smtClean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 SV A 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đậu</a:t>
            </a:r>
            <a:endParaRPr lang="en-US" dirty="0" smtClean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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chuồn</a:t>
            </a:r>
            <a:r>
              <a:rPr lang="en-US" dirty="0" smtClean="0"/>
              <a:t> </a:t>
            </a:r>
            <a:r>
              <a:rPr lang="en-US" dirty="0" err="1" smtClean="0"/>
              <a:t>chuồn</a:t>
            </a:r>
            <a:r>
              <a:rPr lang="en-US" dirty="0" smtClean="0"/>
              <a:t> bay </a:t>
            </a:r>
            <a:r>
              <a:rPr lang="en-US" dirty="0" err="1" smtClean="0"/>
              <a:t>thấp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mưa</a:t>
            </a:r>
            <a:r>
              <a:rPr lang="en-US" dirty="0" smtClean="0"/>
              <a:t>	 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 </a:t>
            </a:r>
            <a:r>
              <a:rPr lang="en-US" dirty="0" err="1" smtClean="0">
                <a:sym typeface="Symbol"/>
              </a:rPr>
              <a:t>Thấy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chuồn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chuồn</a:t>
            </a:r>
            <a:r>
              <a:rPr lang="en-US" dirty="0" smtClean="0">
                <a:sym typeface="Symbol"/>
              </a:rPr>
              <a:t> bay </a:t>
            </a:r>
            <a:r>
              <a:rPr lang="en-US" dirty="0" err="1" smtClean="0">
                <a:sym typeface="Symbol"/>
              </a:rPr>
              <a:t>thấp</a:t>
            </a:r>
            <a:endParaRPr lang="en-US" dirty="0" smtClean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: </a:t>
            </a:r>
            <a:r>
              <a:rPr lang="en-US" dirty="0" err="1" smtClean="0"/>
              <a:t>trời</a:t>
            </a:r>
            <a:r>
              <a:rPr lang="en-US" dirty="0" smtClean="0"/>
              <a:t> </a:t>
            </a:r>
            <a:r>
              <a:rPr lang="en-US" dirty="0" err="1" smtClean="0"/>
              <a:t>mưa</a:t>
            </a:r>
            <a:endParaRPr lang="vi-V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r>
              <a:rPr lang="en-US" sz="4800" b="1" dirty="0" smtClean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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75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. Qui </a:t>
            </a:r>
            <a:r>
              <a:rPr lang="en-US" dirty="0" err="1" smtClean="0">
                <a:solidFill>
                  <a:srgbClr val="FF0000"/>
                </a:solidFill>
              </a:rPr>
              <a:t>tắc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vi-VN" dirty="0" smtClean="0">
                <a:solidFill>
                  <a:srgbClr val="FF0000"/>
                </a:solidFill>
              </a:rPr>
              <a:t>phủ định</a:t>
            </a:r>
            <a:r>
              <a:rPr lang="en-US" dirty="0" smtClean="0">
                <a:solidFill>
                  <a:srgbClr val="FF0000"/>
                </a:solidFill>
              </a:rPr>
              <a:t> (Modus </a:t>
            </a:r>
            <a:r>
              <a:rPr lang="en-US" dirty="0" err="1" smtClean="0">
                <a:solidFill>
                  <a:srgbClr val="FF0000"/>
                </a:solidFill>
              </a:rPr>
              <a:t>Tollens</a:t>
            </a:r>
            <a:r>
              <a:rPr lang="en-US" dirty="0" smtClean="0">
                <a:solidFill>
                  <a:srgbClr val="FF0000"/>
                </a:solidFill>
              </a:rPr>
              <a:t>):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[(p </a:t>
            </a:r>
            <a:r>
              <a:rPr lang="en-US" dirty="0" smtClean="0">
                <a:sym typeface="Symbol"/>
              </a:rPr>
              <a:t> q)  q ]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 p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• Nếu </a:t>
            </a:r>
            <a:r>
              <a:rPr lang="en-US" dirty="0" smtClean="0">
                <a:sym typeface="Symbol"/>
              </a:rPr>
              <a:t>A</a:t>
            </a:r>
            <a:r>
              <a:rPr lang="vi-VN" dirty="0" smtClean="0">
                <a:sym typeface="Symbol"/>
              </a:rPr>
              <a:t> đi học đầy đủ thì </a:t>
            </a:r>
            <a:r>
              <a:rPr lang="en-US" dirty="0" smtClean="0">
                <a:sym typeface="Symbol"/>
              </a:rPr>
              <a:t>A </a:t>
            </a:r>
            <a:r>
              <a:rPr lang="vi-VN" dirty="0" smtClean="0">
                <a:sym typeface="Symbol"/>
              </a:rPr>
              <a:t>đậu toán rời rạc.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• </a:t>
            </a:r>
            <a:r>
              <a:rPr lang="en-US" dirty="0" smtClean="0">
                <a:sym typeface="Symbol"/>
              </a:rPr>
              <a:t>A</a:t>
            </a:r>
            <a:r>
              <a:rPr lang="vi-VN" dirty="0" smtClean="0">
                <a:sym typeface="Symbol"/>
              </a:rPr>
              <a:t> không đậu toán rời rạc.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Suy ra: </a:t>
            </a:r>
            <a:r>
              <a:rPr lang="en-US" dirty="0" smtClean="0">
                <a:sym typeface="Symbol"/>
              </a:rPr>
              <a:t>A</a:t>
            </a:r>
            <a:r>
              <a:rPr lang="vi-VN" dirty="0" smtClean="0">
                <a:sym typeface="Symbol"/>
              </a:rPr>
              <a:t> không đi học đầy đủ.</a:t>
            </a:r>
            <a:endParaRPr lang="vi-V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981200"/>
          <a:ext cx="1524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4250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  p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pPr algn="l"/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q 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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 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vi-VN" dirty="0" smtClean="0">
                <a:solidFill>
                  <a:srgbClr val="FF0000"/>
                </a:solidFill>
              </a:rPr>
              <a:t>Qui tắc tam đoạn luận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[(p </a:t>
            </a:r>
            <a:r>
              <a:rPr lang="en-US" dirty="0" smtClean="0">
                <a:sym typeface="Symbol"/>
              </a:rPr>
              <a:t> q)  (q  r)]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(p  r)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• Nếu trời mưa thì đường ướt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• Nếu đường ướt thì đường trơn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Suy ra</a:t>
            </a:r>
            <a:r>
              <a:rPr lang="en-US" dirty="0" smtClean="0">
                <a:sym typeface="Symbol"/>
              </a:rPr>
              <a:t>:</a:t>
            </a:r>
            <a:r>
              <a:rPr lang="vi-VN" dirty="0" smtClean="0">
                <a:sym typeface="Symbol"/>
              </a:rPr>
              <a:t> nếu trời mưa thì đường trơn.</a:t>
            </a:r>
            <a:endParaRPr lang="vi-V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77000" y="1828800"/>
          <a:ext cx="1447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pPr algn="ctr"/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q  r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algn="ctr">
                        <a:tabLst>
                          <a:tab pos="749300" algn="l"/>
                        </a:tabLst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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 smtClean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288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7963426" cy="41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46559"/>
            <a:ext cx="403915" cy="371475"/>
          </a:xfrm>
          <a:prstGeom prst="rect">
            <a:avLst/>
          </a:prstGeom>
        </p:spPr>
      </p:pic>
      <p:pic>
        <p:nvPicPr>
          <p:cNvPr id="9" name="Ảnh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187387"/>
            <a:ext cx="6372225" cy="457200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31566"/>
            <a:ext cx="400050" cy="333375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429" y="3137052"/>
            <a:ext cx="40005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140" y="1600200"/>
            <a:ext cx="8253260" cy="48006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</a:rPr>
              <a:t>6.</a:t>
            </a:r>
            <a:r>
              <a:rPr lang="vi-VN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Qui </a:t>
            </a:r>
            <a:r>
              <a:rPr lang="en-US" dirty="0" err="1" smtClean="0">
                <a:solidFill>
                  <a:srgbClr val="FF0000"/>
                </a:solidFill>
              </a:rPr>
              <a:t>tắc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chứng</a:t>
            </a:r>
            <a:r>
              <a:rPr lang="en-US" dirty="0" smtClean="0">
                <a:solidFill>
                  <a:srgbClr val="FF0000"/>
                </a:solidFill>
              </a:rPr>
              <a:t> minh </a:t>
            </a:r>
            <a:r>
              <a:rPr lang="en-US" dirty="0" err="1" smtClean="0">
                <a:solidFill>
                  <a:srgbClr val="FF0000"/>
                </a:solidFill>
              </a:rPr>
              <a:t>phản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chứng</a:t>
            </a:r>
            <a:r>
              <a:rPr lang="en-US" dirty="0" smtClean="0">
                <a:solidFill>
                  <a:srgbClr val="FF0000"/>
                </a:solidFill>
              </a:rPr>
              <a:t>: (</a:t>
            </a: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được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trong</a:t>
            </a:r>
            <a:r>
              <a:rPr lang="en-US" dirty="0" smtClean="0">
                <a:solidFill>
                  <a:srgbClr val="FF0000"/>
                </a:solidFill>
              </a:rPr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trường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hợp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suy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luận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đã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đúng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minh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ym typeface="Symbol"/>
              </a:rPr>
              <a:t>Từ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đó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>
                <a:sym typeface="Symbol"/>
              </a:rPr>
              <a:t>s</a:t>
            </a:r>
            <a:r>
              <a:rPr lang="en-US" dirty="0" err="1" smtClean="0">
                <a:sym typeface="Symbol"/>
              </a:rPr>
              <a:t>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ra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>
                <a:sym typeface="Symbol"/>
              </a:rPr>
              <a:t>t</a:t>
            </a:r>
            <a:r>
              <a:rPr lang="en-US" dirty="0" err="1" smtClean="0">
                <a:sym typeface="Symbol"/>
              </a:rPr>
              <a:t>ổng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quát</a:t>
            </a:r>
            <a:r>
              <a:rPr lang="en-US" dirty="0" smtClean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vi-V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754712"/>
              </p:ext>
            </p:extLst>
          </p:nvPr>
        </p:nvGraphicFramePr>
        <p:xfrm>
          <a:off x="662140" y="4086324"/>
          <a:ext cx="810086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66" name="Equation" r:id="rId3" imgW="8432640" imgH="507960" progId="Equation.DSMT4">
                  <p:embed/>
                </p:oleObj>
              </mc:Choice>
              <mc:Fallback>
                <p:oleObj name="Equation" r:id="rId3" imgW="8432640" imgH="5079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0" y="4086324"/>
                        <a:ext cx="8100860" cy="508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999239"/>
              </p:ext>
            </p:extLst>
          </p:nvPr>
        </p:nvGraphicFramePr>
        <p:xfrm>
          <a:off x="3096846" y="2985604"/>
          <a:ext cx="370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67" name="Equation" r:id="rId5" imgW="3708360" imgH="406080" progId="Equation.DSMT4">
                  <p:embed/>
                </p:oleObj>
              </mc:Choice>
              <mc:Fallback>
                <p:oleObj name="Equation" r:id="rId5" imgW="3708360" imgH="4060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846" y="2985604"/>
                        <a:ext cx="3708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619155" y="4773711"/>
            <a:ext cx="7924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 smtClean="0"/>
              <a:t>Để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chứng</a:t>
            </a:r>
            <a:r>
              <a:rPr lang="en-US" sz="2800" b="1" dirty="0" smtClean="0"/>
              <a:t> minh </a:t>
            </a:r>
            <a:r>
              <a:rPr lang="en-US" sz="2800" b="1" dirty="0" err="1" smtClean="0"/>
              <a:t>vế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trái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là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một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hằng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đúng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ta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chứng</a:t>
            </a:r>
            <a:r>
              <a:rPr lang="en-US" sz="2800" b="1" dirty="0" smtClean="0"/>
              <a:t> minh </a:t>
            </a:r>
            <a:r>
              <a:rPr lang="en-US" sz="2800" b="1" dirty="0" err="1" smtClean="0"/>
              <a:t>nếu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thêm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phủ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định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của</a:t>
            </a:r>
            <a:r>
              <a:rPr lang="en-US" sz="2800" b="1" dirty="0" smtClean="0"/>
              <a:t> q </a:t>
            </a:r>
            <a:r>
              <a:rPr lang="en-US" sz="2800" b="1" dirty="0" err="1" smtClean="0"/>
              <a:t>vào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các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tiên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đề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thì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được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một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mâu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thuẫn</a:t>
            </a:r>
            <a:r>
              <a:rPr lang="en-US" sz="2800" b="1" dirty="0" smtClean="0"/>
              <a:t>.</a:t>
            </a:r>
            <a:endParaRPr lang="vi-V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r>
              <a:rPr lang="vi-VN" dirty="0" smtClean="0">
                <a:solidFill>
                  <a:srgbClr val="FF0000"/>
                </a:solidFill>
              </a:rPr>
              <a:t>Qui t</a:t>
            </a:r>
            <a:r>
              <a:rPr lang="en-US" dirty="0" err="1" smtClean="0">
                <a:solidFill>
                  <a:srgbClr val="FF0000"/>
                </a:solidFill>
              </a:rPr>
              <a:t>ắc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chứng</a:t>
            </a:r>
            <a:r>
              <a:rPr lang="en-US" dirty="0" smtClean="0">
                <a:solidFill>
                  <a:srgbClr val="FF0000"/>
                </a:solidFill>
              </a:rPr>
              <a:t> minh </a:t>
            </a:r>
            <a:r>
              <a:rPr lang="en-US" dirty="0" err="1" smtClean="0">
                <a:solidFill>
                  <a:srgbClr val="FF0000"/>
                </a:solidFill>
              </a:rPr>
              <a:t>phản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chứng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Ví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36042"/>
              </p:ext>
            </p:extLst>
          </p:nvPr>
        </p:nvGraphicFramePr>
        <p:xfrm>
          <a:off x="914400" y="2743200"/>
          <a:ext cx="3429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minh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suy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luận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sau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đúng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  p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</a:p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  q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s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r  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367090"/>
              </p:ext>
            </p:extLst>
          </p:nvPr>
        </p:nvGraphicFramePr>
        <p:xfrm>
          <a:off x="5105401" y="2780281"/>
          <a:ext cx="3722076" cy="362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7867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chemeClr val="tx1"/>
                          </a:solidFill>
                        </a:rPr>
                        <a:t>Giải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Nếu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dùng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qui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tắc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cm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phản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, ta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cần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</a:rPr>
                        <a:t> minh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71">
                <a:tc>
                  <a:txBody>
                    <a:bodyPr/>
                    <a:lstStyle/>
                    <a:p>
                      <a:pPr marL="1139825" indent="0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  p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</a:p>
                    <a:p>
                      <a:pPr marL="1139825" indent="0"/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pPr marL="1139825" indent="0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  q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s</a:t>
                      </a:r>
                    </a:p>
                    <a:p>
                      <a:pPr marL="1139825" indent="0"/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r</a:t>
                      </a:r>
                    </a:p>
                    <a:p>
                      <a:pPr marL="1139825" indent="0"/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s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11398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0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Hình chữ nhật 6"/>
          <p:cNvSpPr/>
          <p:nvPr/>
        </p:nvSpPr>
        <p:spPr>
          <a:xfrm>
            <a:off x="381000" y="5371148"/>
            <a:ext cx="4278922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err="1" smtClean="0">
                <a:solidFill>
                  <a:schemeClr val="accent2"/>
                </a:solidFill>
              </a:rPr>
              <a:t>Chú</a:t>
            </a:r>
            <a:r>
              <a:rPr lang="en-US" dirty="0" smtClean="0">
                <a:solidFill>
                  <a:schemeClr val="accent2"/>
                </a:solidFill>
              </a:rPr>
              <a:t> ý: </a:t>
            </a:r>
            <a:r>
              <a:rPr lang="en-US" dirty="0" err="1" smtClean="0">
                <a:solidFill>
                  <a:schemeClr val="tx1"/>
                </a:solidFill>
              </a:rPr>
              <a:t>Để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chứng</a:t>
            </a:r>
            <a:r>
              <a:rPr lang="en-US" dirty="0" smtClean="0">
                <a:solidFill>
                  <a:schemeClr val="tx1"/>
                </a:solidFill>
              </a:rPr>
              <a:t> minh </a:t>
            </a:r>
            <a:r>
              <a:rPr lang="en-US" dirty="0" err="1" smtClean="0">
                <a:solidFill>
                  <a:schemeClr val="tx1"/>
                </a:solidFill>
              </a:rPr>
              <a:t>suy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luận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trên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đúng</a:t>
            </a:r>
            <a:r>
              <a:rPr lang="en-US" dirty="0" smtClean="0">
                <a:solidFill>
                  <a:schemeClr val="tx1"/>
                </a:solidFill>
              </a:rPr>
              <a:t> ta </a:t>
            </a:r>
            <a:r>
              <a:rPr lang="en-US" dirty="0" err="1" smtClean="0">
                <a:solidFill>
                  <a:schemeClr val="tx1"/>
                </a:solidFill>
              </a:rPr>
              <a:t>có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thể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không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sử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dụng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quy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tắc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chứng</a:t>
            </a:r>
            <a:r>
              <a:rPr lang="en-US" dirty="0" smtClean="0">
                <a:solidFill>
                  <a:schemeClr val="tx1"/>
                </a:solidFill>
              </a:rPr>
              <a:t> minh </a:t>
            </a:r>
            <a:r>
              <a:rPr lang="en-US" dirty="0" err="1" smtClean="0">
                <a:solidFill>
                  <a:schemeClr val="tx1"/>
                </a:solidFill>
              </a:rPr>
              <a:t>phản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chứng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mà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chứng</a:t>
            </a:r>
            <a:r>
              <a:rPr lang="en-US" dirty="0" smtClean="0">
                <a:solidFill>
                  <a:schemeClr val="tx1"/>
                </a:solidFill>
              </a:rPr>
              <a:t> minh </a:t>
            </a:r>
            <a:r>
              <a:rPr lang="en-US" dirty="0" err="1" smtClean="0">
                <a:solidFill>
                  <a:schemeClr val="tx1"/>
                </a:solidFill>
              </a:rPr>
              <a:t>trực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tiếp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vi-V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7</a:t>
            </a:r>
            <a:r>
              <a:rPr lang="vi-VN" dirty="0" smtClean="0">
                <a:solidFill>
                  <a:srgbClr val="FF0000"/>
                </a:solidFill>
              </a:rPr>
              <a:t>. Qui tắc chứng minh theo trường hợp 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  <a:endParaRPr lang="vi-VN" dirty="0" smtClean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/>
              <a:t>          [(p </a:t>
            </a:r>
            <a:r>
              <a:rPr lang="en-US" dirty="0" smtClean="0">
                <a:sym typeface="Symbol"/>
              </a:rPr>
              <a:t> r)  (q  r)] </a:t>
            </a:r>
            <a:r>
              <a:rPr lang="vi-VN" dirty="0" smtClean="0">
                <a:sym typeface="Symbol"/>
              </a:rPr>
              <a:t></a:t>
            </a:r>
            <a:r>
              <a:rPr lang="en-US" dirty="0" smtClean="0">
                <a:sym typeface="Symbol"/>
              </a:rPr>
              <a:t> [(p  q)r]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chemeClr val="accent2"/>
                </a:solidFill>
                <a:sym typeface="Symbol"/>
              </a:rPr>
              <a:t>* </a:t>
            </a:r>
            <a:r>
              <a:rPr lang="en-US" dirty="0" err="1" smtClean="0">
                <a:solidFill>
                  <a:schemeClr val="accent2"/>
                </a:solidFill>
                <a:sym typeface="Symbol"/>
              </a:rPr>
              <a:t>Tổng</a:t>
            </a:r>
            <a:r>
              <a:rPr lang="en-US" dirty="0" smtClean="0">
                <a:solidFill>
                  <a:schemeClr val="accent2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sym typeface="Symbol"/>
              </a:rPr>
              <a:t>quát</a:t>
            </a:r>
            <a:r>
              <a:rPr lang="en-US" dirty="0" smtClean="0">
                <a:solidFill>
                  <a:schemeClr val="accent2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2546350" y="3276600"/>
          <a:ext cx="5054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04" name="Equation" r:id="rId3" imgW="5054400" imgH="1041120" progId="Equation.DSMT4">
                  <p:embed/>
                </p:oleObj>
              </mc:Choice>
              <mc:Fallback>
                <p:oleObj name="Equation" r:id="rId3" imgW="5054400" imgH="1041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3276600"/>
                        <a:ext cx="50546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  <a:sym typeface="Symbol"/>
              </a:rPr>
              <a:t>8.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Phản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(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chỉ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sử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dụng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để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chứng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minh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suy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luận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không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đúng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Để chứng minh một phép suy </a:t>
            </a:r>
            <a:r>
              <a:rPr lang="vi-VN" dirty="0" err="1" smtClean="0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là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sym typeface="Symbol"/>
              </a:rPr>
              <a:t>không</a:t>
            </a:r>
            <a:r>
              <a:rPr lang="en-US" dirty="0" smtClean="0">
                <a:solidFill>
                  <a:srgbClr val="0070C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sym typeface="Symbol"/>
              </a:rPr>
              <a:t>đúng</a:t>
            </a:r>
            <a:r>
              <a:rPr lang="en-US" dirty="0" smtClean="0">
                <a:sym typeface="Symbol"/>
              </a:rPr>
              <a:t> t</a:t>
            </a:r>
            <a:r>
              <a:rPr lang="vi-VN" dirty="0" smtClean="0">
                <a:sym typeface="Symbol"/>
              </a:rPr>
              <a:t>a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chỉ cần chỉ ra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một phản ví dụ</a:t>
            </a:r>
            <a:r>
              <a:rPr lang="en-US" dirty="0" smtClean="0">
                <a:sym typeface="Symbol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3657600"/>
            <a:ext cx="8077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800" dirty="0" err="1" smtClean="0">
                <a:sym typeface="Symbol"/>
              </a:rPr>
              <a:t>Để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tìm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một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phản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ví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dụ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ta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chỉ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cần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chỉ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ra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một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trường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hợp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về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chân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trị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của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các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biến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mệnh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đề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sao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cho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  <a:sym typeface="Symbol"/>
              </a:rPr>
              <a:t>các</a:t>
            </a:r>
            <a:r>
              <a:rPr lang="en-US" sz="2800" dirty="0" smtClean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  <a:sym typeface="Symbol"/>
              </a:rPr>
              <a:t>tiên</a:t>
            </a:r>
            <a:r>
              <a:rPr lang="en-US" sz="2800" dirty="0" smtClean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  <a:sym typeface="Symbol"/>
              </a:rPr>
              <a:t>đề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trong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phép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suy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luận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  <a:sym typeface="Symbol"/>
              </a:rPr>
              <a:t>là</a:t>
            </a:r>
            <a:r>
              <a:rPr lang="en-US" sz="2800" dirty="0" smtClean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 smtClean="0">
                <a:solidFill>
                  <a:srgbClr val="00B0F0"/>
                </a:solidFill>
                <a:sym typeface="Symbol"/>
              </a:rPr>
              <a:t>đúng</a:t>
            </a:r>
            <a:r>
              <a:rPr lang="en-US" sz="2800" dirty="0" smtClean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 smtClean="0">
                <a:sym typeface="Symbol"/>
              </a:rPr>
              <a:t>còn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sym typeface="Symbol"/>
              </a:rPr>
              <a:t>kết</a:t>
            </a:r>
            <a:r>
              <a:rPr lang="en-US" sz="2800" dirty="0" smtClean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sym typeface="Symbol"/>
              </a:rPr>
              <a:t>luận</a:t>
            </a:r>
            <a:r>
              <a:rPr lang="en-US" sz="2800" dirty="0" smtClean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sym typeface="Symbol"/>
              </a:rPr>
              <a:t>là</a:t>
            </a:r>
            <a:r>
              <a:rPr lang="en-US" sz="2800" dirty="0" smtClean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sym typeface="Symbol"/>
              </a:rPr>
              <a:t>sai</a:t>
            </a:r>
            <a:r>
              <a:rPr lang="en-US" sz="2800" dirty="0" smtClean="0">
                <a:solidFill>
                  <a:srgbClr val="00B050"/>
                </a:solidFill>
                <a:sym typeface="Symbo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0292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8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.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Phản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smtClean="0">
                <a:sym typeface="Symbol"/>
              </a:rPr>
              <a:t>CM </a:t>
            </a:r>
            <a:r>
              <a:rPr lang="en-US" dirty="0" err="1" smtClean="0">
                <a:sym typeface="Symbol"/>
              </a:rPr>
              <a:t>suy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sau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không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đúng</a:t>
            </a:r>
            <a:r>
              <a:rPr lang="en-US" dirty="0" smtClean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chemeClr val="accent2"/>
                </a:solidFill>
                <a:sym typeface="Symbol"/>
              </a:rPr>
              <a:t>Mục</a:t>
            </a:r>
            <a:r>
              <a:rPr lang="en-US" dirty="0" smtClean="0">
                <a:solidFill>
                  <a:schemeClr val="accent2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sym typeface="Symbol"/>
              </a:rPr>
              <a:t>đích</a:t>
            </a:r>
            <a:r>
              <a:rPr lang="en-US" dirty="0" smtClean="0">
                <a:solidFill>
                  <a:schemeClr val="accent2"/>
                </a:solidFill>
                <a:sym typeface="Symbol"/>
              </a:rPr>
              <a:t>: </a:t>
            </a:r>
            <a:r>
              <a:rPr lang="en-US" dirty="0" smtClean="0">
                <a:sym typeface="Symbol"/>
              </a:rPr>
              <a:t>Ta </a:t>
            </a:r>
            <a:r>
              <a:rPr lang="en-US" dirty="0" err="1" smtClean="0">
                <a:sym typeface="Symbol"/>
              </a:rPr>
              <a:t>sẽ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tìm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p,q,r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thỏa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 smtClean="0">
                <a:sym typeface="Symbol"/>
              </a:rPr>
              <a:t>Dễ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dàng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tìm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thấy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một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phản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ví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dụ</a:t>
            </a:r>
            <a:r>
              <a:rPr lang="en-US" dirty="0" smtClean="0">
                <a:sym typeface="Symbol"/>
              </a:rPr>
              <a:t>:  p=1,q=0,r=1.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77000"/>
            <a:ext cx="1905000" cy="2286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1945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107227"/>
              </p:ext>
            </p:extLst>
          </p:nvPr>
        </p:nvGraphicFramePr>
        <p:xfrm>
          <a:off x="6656785" y="1567290"/>
          <a:ext cx="175260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0" name="Equation" r:id="rId3" imgW="317160" imgH="495000" progId="Equation.3">
                  <p:embed/>
                </p:oleObj>
              </mc:Choice>
              <mc:Fallback>
                <p:oleObj name="Equation" r:id="rId3" imgW="317160" imgH="495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6785" y="1567290"/>
                        <a:ext cx="1752600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67400"/>
              </p:ext>
            </p:extLst>
          </p:nvPr>
        </p:nvGraphicFramePr>
        <p:xfrm>
          <a:off x="5660231" y="3352800"/>
          <a:ext cx="2243138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91" name="Equation" r:id="rId5" imgW="406080" imgH="495000" progId="Equation.3">
                  <p:embed/>
                </p:oleObj>
              </mc:Choice>
              <mc:Fallback>
                <p:oleObj name="Equation" r:id="rId5" imgW="406080" imgH="495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231" y="3352800"/>
                        <a:ext cx="2243138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0292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8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.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Phản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smtClean="0">
                <a:sym typeface="Symbol"/>
              </a:rPr>
              <a:t>CM </a:t>
            </a:r>
            <a:r>
              <a:rPr lang="en-US" dirty="0" err="1" smtClean="0">
                <a:sym typeface="Symbol"/>
              </a:rPr>
              <a:t>suy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luận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sau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không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đúng</a:t>
            </a:r>
            <a:r>
              <a:rPr lang="en-US" dirty="0" smtClean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chemeClr val="accent2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olidFill>
                  <a:schemeClr val="accent2"/>
                </a:solidFill>
                <a:sym typeface="Symbol"/>
              </a:rPr>
              <a:t>Giải:</a:t>
            </a:r>
            <a:r>
              <a:rPr lang="en-US" dirty="0" err="1" smtClean="0">
                <a:sym typeface="Symbol"/>
              </a:rPr>
              <a:t>Chọn</a:t>
            </a:r>
            <a:r>
              <a:rPr lang="en-US" dirty="0" smtClean="0">
                <a:sym typeface="Symbol"/>
              </a:rPr>
              <a:t> p=1,q=0,r=1, </a:t>
            </a:r>
            <a:r>
              <a:rPr lang="en-US" dirty="0" err="1" smtClean="0">
                <a:sym typeface="Symbol"/>
              </a:rPr>
              <a:t>khi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đó</a:t>
            </a:r>
            <a:r>
              <a:rPr lang="en-US" dirty="0" smtClean="0">
                <a:sym typeface="Symbol"/>
              </a:rPr>
              <a:t> ta </a:t>
            </a:r>
            <a:r>
              <a:rPr lang="en-US" dirty="0" err="1" smtClean="0">
                <a:sym typeface="Symbol"/>
              </a:rPr>
              <a:t>có</a:t>
            </a:r>
            <a:r>
              <a:rPr lang="en-US" dirty="0" smtClean="0">
                <a:sym typeface="Symbol"/>
              </a:rPr>
              <a:t>: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 smtClean="0">
                <a:sym typeface="Symbol"/>
              </a:rPr>
              <a:t>Vậy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suy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luận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đã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cho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là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không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đúng</a:t>
            </a:r>
            <a:r>
              <a:rPr lang="en-US" dirty="0" smtClean="0">
                <a:sym typeface="Symbol"/>
              </a:rPr>
              <a:t> (</a:t>
            </a:r>
            <a:r>
              <a:rPr lang="en-US" dirty="0" err="1" smtClean="0">
                <a:sym typeface="Symbol"/>
              </a:rPr>
              <a:t>đpcm</a:t>
            </a:r>
            <a:r>
              <a:rPr lang="en-US" dirty="0" smtClean="0">
                <a:sym typeface="Symbol"/>
              </a:rPr>
              <a:t>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77000"/>
            <a:ext cx="1905000" cy="2286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1945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982772"/>
              </p:ext>
            </p:extLst>
          </p:nvPr>
        </p:nvGraphicFramePr>
        <p:xfrm>
          <a:off x="6629400" y="1600200"/>
          <a:ext cx="175260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30" name="Equation" r:id="rId3" imgW="317160" imgH="495000" progId="Equation.3">
                  <p:embed/>
                </p:oleObj>
              </mc:Choice>
              <mc:Fallback>
                <p:oleObj name="Equation" r:id="rId3" imgW="317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00200"/>
                        <a:ext cx="1752600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268959"/>
              </p:ext>
            </p:extLst>
          </p:nvPr>
        </p:nvGraphicFramePr>
        <p:xfrm>
          <a:off x="3679031" y="3733800"/>
          <a:ext cx="2243138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31" name="Equation" r:id="rId5" imgW="406080" imgH="495000" progId="Equation.3">
                  <p:embed/>
                </p:oleObj>
              </mc:Choice>
              <mc:Fallback>
                <p:oleObj name="Equation" r:id="rId5" imgW="4060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031" y="3733800"/>
                        <a:ext cx="2243138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52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3733800" cy="49530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200" dirty="0">
                <a:solidFill>
                  <a:srgbClr val="FF0000"/>
                </a:solidFill>
                <a:sym typeface="Symbol"/>
              </a:rPr>
              <a:t>8</a:t>
            </a:r>
            <a:r>
              <a:rPr lang="en-US" sz="2200" dirty="0" smtClean="0">
                <a:solidFill>
                  <a:srgbClr val="FF0000"/>
                </a:solidFill>
                <a:sym typeface="Symbol"/>
              </a:rPr>
              <a:t>. </a:t>
            </a:r>
            <a:r>
              <a:rPr lang="en-US" sz="2200" dirty="0" err="1" smtClean="0">
                <a:solidFill>
                  <a:srgbClr val="FF0000"/>
                </a:solidFill>
                <a:sym typeface="Symbol"/>
              </a:rPr>
              <a:t>Phản</a:t>
            </a:r>
            <a:r>
              <a:rPr lang="en-US" sz="2200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sz="2200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sym typeface="Symbol"/>
              </a:rPr>
              <a:t>dụ</a:t>
            </a:r>
            <a:endParaRPr lang="en-US" sz="2200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200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sz="2200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sz="2200" dirty="0" smtClean="0">
                <a:solidFill>
                  <a:srgbClr val="FF0000"/>
                </a:solidFill>
                <a:sym typeface="Symbol"/>
              </a:rPr>
              <a:t>: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Ông Minh nói rằng nếu không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được tăng lương thì ông ta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sẽ nghỉ việc. Mặt khác, nếu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ông ấy nghỉ việc và vợ ông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ấy bị mất việc thì phải bán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xe.Biết rằng nếu vợ ông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Minh hay  đi làm trễ thì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trước sau gì cũng sẽ bị mất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việc và cuối cùng ông Minh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đã được tăng lương.</a:t>
            </a:r>
            <a:endParaRPr lang="en-US" sz="2200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olidFill>
                  <a:srgbClr val="FF0000"/>
                </a:solidFill>
                <a:sym typeface="Symbol"/>
              </a:rPr>
              <a:t>Suy ra </a:t>
            </a:r>
            <a:r>
              <a:rPr lang="vi-VN" sz="2200" dirty="0" smtClean="0">
                <a:sym typeface="Symbol"/>
              </a:rPr>
              <a:t>nếu ông Minh không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bán xe thì vợ ông ta đã</a:t>
            </a:r>
            <a:r>
              <a:rPr lang="en-US" sz="2200" dirty="0" smtClean="0">
                <a:sym typeface="Symbol"/>
              </a:rPr>
              <a:t> </a:t>
            </a:r>
            <a:r>
              <a:rPr lang="vi-VN" sz="2200" dirty="0" smtClean="0">
                <a:sym typeface="Symbol"/>
              </a:rPr>
              <a:t>không đi làm trễ</a:t>
            </a:r>
            <a:r>
              <a:rPr lang="en-US" sz="2200" dirty="0" smtClean="0">
                <a:sym typeface="Symbol"/>
              </a:rPr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sz="2200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724400" y="1676400"/>
            <a:ext cx="3733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 smtClean="0">
                <a:solidFill>
                  <a:srgbClr val="FF0000"/>
                </a:solidFill>
                <a:latin typeface="+mn-lt"/>
                <a:sym typeface="Symbol"/>
              </a:rPr>
              <a:t>p</a:t>
            </a:r>
            <a:r>
              <a:rPr lang="vi-VN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: ông Minh được tăng</a:t>
            </a:r>
            <a:r>
              <a:rPr lang="en-US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 </a:t>
            </a:r>
            <a:r>
              <a:rPr lang="vi-VN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lương.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 smtClean="0">
                <a:solidFill>
                  <a:srgbClr val="FF0000"/>
                </a:solidFill>
                <a:latin typeface="+mn-lt"/>
                <a:sym typeface="Symbol"/>
              </a:rPr>
              <a:t>q</a:t>
            </a:r>
            <a:r>
              <a:rPr lang="vi-VN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: ông Minh nghỉ việc.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 smtClean="0">
                <a:solidFill>
                  <a:srgbClr val="FF0000"/>
                </a:solidFill>
                <a:latin typeface="+mn-lt"/>
                <a:sym typeface="Symbol"/>
              </a:rPr>
              <a:t>r</a:t>
            </a:r>
            <a:r>
              <a:rPr lang="vi-VN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: vợ ông Minh mất việc.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 smtClean="0">
                <a:solidFill>
                  <a:srgbClr val="FF0000"/>
                </a:solidFill>
                <a:latin typeface="+mn-lt"/>
                <a:sym typeface="Symbol"/>
              </a:rPr>
              <a:t>s</a:t>
            </a:r>
            <a:r>
              <a:rPr lang="vi-VN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: gia đình phải bán xe.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 smtClean="0">
                <a:solidFill>
                  <a:srgbClr val="FF0000"/>
                </a:solidFill>
                <a:latin typeface="+mn-lt"/>
                <a:sym typeface="Symbol"/>
              </a:rPr>
              <a:t>t</a:t>
            </a:r>
            <a:r>
              <a:rPr lang="vi-VN" sz="2000" kern="0" dirty="0" smtClean="0">
                <a:solidFill>
                  <a:srgbClr val="009900"/>
                </a:solidFill>
                <a:latin typeface="+mn-lt"/>
                <a:sym typeface="Symbol"/>
              </a:rPr>
              <a:t>: vợ ông hay đi làm trể.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10200" y="3733800"/>
          <a:ext cx="1905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9808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   q  r  s</a:t>
                      </a:r>
                    </a:p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   t  r</a:t>
                      </a:r>
                    </a:p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   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92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  <a:sym typeface="Symbol"/>
                        </a:rPr>
                        <a:t>st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Kiểm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tra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tính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đúng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đắn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của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suy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luận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Symbol"/>
              </a:rPr>
              <a:t>sau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HD: </a:t>
            </a:r>
            <a:r>
              <a:rPr lang="en-US" dirty="0" err="1">
                <a:sym typeface="Symbol"/>
              </a:rPr>
              <a:t>Dùng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phản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ví</a:t>
            </a:r>
            <a:r>
              <a:rPr lang="en-US" dirty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dụ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 smtClean="0">
                <a:sym typeface="Symbol"/>
              </a:rPr>
              <a:t>Chọn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192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148043"/>
              </p:ext>
            </p:extLst>
          </p:nvPr>
        </p:nvGraphicFramePr>
        <p:xfrm>
          <a:off x="3581400" y="2057400"/>
          <a:ext cx="21336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28" name="Equation" r:id="rId3" imgW="419040" imgH="571320" progId="Equation.3">
                  <p:embed/>
                </p:oleObj>
              </mc:Choice>
              <mc:Fallback>
                <p:oleObj name="Equation" r:id="rId3" imgW="419040" imgH="571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57400"/>
                        <a:ext cx="21336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7"/>
          <p:cNvSpPr txBox="1"/>
          <p:nvPr/>
        </p:nvSpPr>
        <p:spPr>
          <a:xfrm>
            <a:off x="1778000" y="5585403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p=1, q=0, r=1, s=0, t=1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0"/>
            <a:ext cx="8001000" cy="533400"/>
          </a:xfrm>
        </p:spPr>
        <p:txBody>
          <a:bodyPr/>
          <a:lstStyle/>
          <a:p>
            <a:r>
              <a:rPr lang="en-US" sz="3200" dirty="0" err="1" smtClean="0">
                <a:solidFill>
                  <a:schemeClr val="accent2"/>
                </a:solidFill>
              </a:rPr>
              <a:t>Suy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luận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sau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đúng</a:t>
            </a:r>
            <a:r>
              <a:rPr lang="en-US" sz="3200" dirty="0" smtClean="0">
                <a:solidFill>
                  <a:schemeClr val="accent2"/>
                </a:solidFill>
              </a:rPr>
              <a:t> hay </a:t>
            </a:r>
            <a:r>
              <a:rPr lang="en-US" sz="3200" dirty="0" err="1" smtClean="0">
                <a:solidFill>
                  <a:schemeClr val="accent2"/>
                </a:solidFill>
              </a:rPr>
              <a:t>không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đúng</a:t>
            </a:r>
            <a:r>
              <a:rPr lang="en-US" sz="3200" dirty="0" smtClean="0">
                <a:solidFill>
                  <a:schemeClr val="accent2"/>
                </a:solidFill>
              </a:rPr>
              <a:t>?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sz="4800" b="1" kern="0" smtClean="0"/>
              <a:t>Qui tắc suy diễn</a:t>
            </a:r>
            <a:endParaRPr lang="en-US" sz="44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sp>
        <p:nvSpPr>
          <p:cNvPr id="5" name="Hình chữ nhật 4"/>
          <p:cNvSpPr/>
          <p:nvPr/>
        </p:nvSpPr>
        <p:spPr>
          <a:xfrm>
            <a:off x="838200" y="1572309"/>
            <a:ext cx="754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600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Kiểm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tra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tính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đắn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của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sym typeface="Symbol"/>
              </a:rPr>
              <a:t>sau</a:t>
            </a:r>
            <a:r>
              <a:rPr lang="en-US" sz="2600" dirty="0" smtClean="0">
                <a:solidFill>
                  <a:srgbClr val="FF0000"/>
                </a:solidFill>
                <a:sym typeface="Symbol"/>
              </a:rPr>
              <a:t>:</a:t>
            </a:r>
            <a:endParaRPr lang="en-US" sz="2600" dirty="0">
              <a:solidFill>
                <a:srgbClr val="FF0000"/>
              </a:solidFill>
              <a:sym typeface="Symbol"/>
            </a:endParaRPr>
          </a:p>
        </p:txBody>
      </p:sp>
      <p:pic>
        <p:nvPicPr>
          <p:cNvPr id="9" name="Ảnh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805"/>
            <a:ext cx="2800350" cy="1409700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955092"/>
            <a:ext cx="37338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6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z="4800" b="1" dirty="0" smtClean="0"/>
              <a:t>Qui </a:t>
            </a:r>
            <a:r>
              <a:rPr lang="en-US" sz="4800" b="1" dirty="0" err="1" smtClean="0"/>
              <a:t>tắc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suy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diễn</a:t>
            </a:r>
            <a:endParaRPr lang="en-US" sz="4400" dirty="0"/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86000"/>
            <a:ext cx="2403231" cy="2188474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962400"/>
            <a:ext cx="3429000" cy="1895475"/>
          </a:xfrm>
          <a:prstGeom prst="rect">
            <a:avLst/>
          </a:prstGeom>
        </p:spPr>
      </p:pic>
      <p:sp>
        <p:nvSpPr>
          <p:cNvPr id="5" name="Hình chữ nhật 4"/>
          <p:cNvSpPr/>
          <p:nvPr/>
        </p:nvSpPr>
        <p:spPr>
          <a:xfrm>
            <a:off x="838200" y="1572309"/>
            <a:ext cx="754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600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Kiểm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tra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tính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đắn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của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 smtClean="0">
                <a:solidFill>
                  <a:srgbClr val="FF0000"/>
                </a:solidFill>
                <a:sym typeface="Symbol"/>
              </a:rPr>
              <a:t>sau</a:t>
            </a:r>
            <a:r>
              <a:rPr lang="en-US" sz="2600" dirty="0" smtClean="0">
                <a:solidFill>
                  <a:srgbClr val="FF0000"/>
                </a:solidFill>
                <a:sym typeface="Symbol"/>
              </a:rPr>
              <a:t>:</a:t>
            </a:r>
            <a:endParaRPr lang="en-US" sz="2600" dirty="0">
              <a:solidFill>
                <a:srgbClr val="FF0000"/>
              </a:solidFill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87660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Định nghĩa: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6666FF"/>
                </a:solidFill>
                <a:sym typeface="Symbol"/>
              </a:rPr>
              <a:t>Vị từ </a:t>
            </a:r>
            <a:r>
              <a:rPr lang="vi-VN" dirty="0" smtClean="0">
                <a:sym typeface="Symbol"/>
              </a:rPr>
              <a:t>là một khẳng định p(x,y,..), trong đó x,y...là các biến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thuộc tập hợp A, B,.. cho trước sao cho: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Bản thân p(x,y,..) không phải là mệnh đề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Nếu thay x,y,.. thành giá trị cụ thể thì p(x,y,..) là mệnh đề.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Ví dụ: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p(n) =  “n +1 là số nguyên tố”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q(x,y) = “x + y = 1” </a:t>
            </a:r>
            <a:endParaRPr lang="en-US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Các phép toán trên vị từ</a:t>
            </a: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Cho trước các vị từ p(x), q(x) theo một biến xA. Khi ấy, ta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cũng c</a:t>
            </a:r>
            <a:r>
              <a:rPr lang="en-US" dirty="0" smtClean="0">
                <a:sym typeface="Symbol"/>
              </a:rPr>
              <a:t>ó</a:t>
            </a:r>
            <a:r>
              <a:rPr lang="vi-VN" dirty="0" smtClean="0">
                <a:sym typeface="Symbol"/>
              </a:rPr>
              <a:t> các phép toán tương ứng như trên mệnh đề: </a:t>
            </a: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 smtClean="0">
                <a:sym typeface="Symbol"/>
              </a:rPr>
              <a:t> Phủ định: p(x)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Phép nối liền (hội, giao): p(x)  q(x)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 smtClean="0">
                <a:sym typeface="Symbol"/>
              </a:rPr>
              <a:t> Phép nối rời (tuyển, hợp): p(x)  q(x)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 smtClean="0">
                <a:sym typeface="Symbol"/>
              </a:rPr>
              <a:t> Phép kéo theo: p(x)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q(x)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 smtClean="0">
                <a:sym typeface="Symbol"/>
              </a:rPr>
              <a:t> Phép kéo theo hai chiều:  p(x)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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q(x)</a:t>
            </a:r>
            <a:endParaRPr lang="en-US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Cho p(x) là một vị từ theo một biến xác định trên A. 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Các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mệnh đề lượng từ hóa của p(x) </a:t>
            </a:r>
            <a:r>
              <a:rPr lang="vi-VN" dirty="0" smtClean="0">
                <a:sym typeface="Symbol"/>
              </a:rPr>
              <a:t>được định nghĩa như sau: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smtClean="0">
                <a:sym typeface="Symbol"/>
              </a:rPr>
              <a:t>- </a:t>
            </a:r>
            <a:r>
              <a:rPr lang="vi-VN" dirty="0" smtClean="0">
                <a:sym typeface="Symbol"/>
              </a:rPr>
              <a:t>Mệnh đề </a:t>
            </a:r>
            <a:r>
              <a:rPr lang="vi-VN" dirty="0" smtClean="0">
                <a:solidFill>
                  <a:srgbClr val="00B050"/>
                </a:solidFill>
                <a:sym typeface="Symbol"/>
              </a:rPr>
              <a:t>“Với mọi x thuộc A, p(x) ”</a:t>
            </a:r>
            <a:r>
              <a:rPr lang="vi-VN" dirty="0" smtClean="0">
                <a:sym typeface="Symbol"/>
              </a:rPr>
              <a:t>, kí hiệu: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olidFill>
                  <a:srgbClr val="00B050"/>
                </a:solidFill>
                <a:sym typeface="Symbol"/>
              </a:rPr>
              <a:t>“x  A, p(x)”</a:t>
            </a:r>
            <a:r>
              <a:rPr lang="en-US" dirty="0" smtClean="0">
                <a:solidFill>
                  <a:srgbClr val="00B050"/>
                </a:solidFill>
                <a:sym typeface="Symbol"/>
              </a:rPr>
              <a:t> </a:t>
            </a:r>
            <a:r>
              <a:rPr lang="vi-VN" dirty="0" smtClean="0">
                <a:sym typeface="Symbol"/>
              </a:rPr>
              <a:t>là mđ đúng khi và chỉ khi p(a) luôn đúng với mọi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giá trị a  A. </a:t>
            </a:r>
            <a:r>
              <a:rPr lang="vi-VN" dirty="0" smtClean="0">
                <a:solidFill>
                  <a:srgbClr val="00B0F0"/>
                </a:solidFill>
                <a:sym typeface="Symbol"/>
              </a:rPr>
              <a:t></a:t>
            </a:r>
            <a:r>
              <a:rPr lang="en-US" dirty="0" smtClean="0">
                <a:solidFill>
                  <a:srgbClr val="00B0F0"/>
                </a:solidFill>
                <a:sym typeface="Symbol"/>
              </a:rPr>
              <a:t> </a:t>
            </a:r>
            <a:r>
              <a:rPr lang="vi-VN" dirty="0" smtClean="0">
                <a:solidFill>
                  <a:srgbClr val="00B0F0"/>
                </a:solidFill>
                <a:sym typeface="Symbol"/>
              </a:rPr>
              <a:t>đgl lượng từ phổ dụng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Mệnh đề </a:t>
            </a:r>
            <a:r>
              <a:rPr lang="vi-VN" dirty="0" smtClean="0">
                <a:solidFill>
                  <a:srgbClr val="00B050"/>
                </a:solidFill>
                <a:sym typeface="Symbol"/>
              </a:rPr>
              <a:t>“Tồn tại (có ít nhất một) x thuộc A, p(x)” </a:t>
            </a:r>
            <a:r>
              <a:rPr lang="vi-VN" dirty="0" smtClean="0">
                <a:sym typeface="Symbol"/>
              </a:rPr>
              <a:t>kí hiệu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olidFill>
                  <a:srgbClr val="00B050"/>
                </a:solidFill>
                <a:sym typeface="Symbol"/>
              </a:rPr>
              <a:t>“x  A, p(x)”</a:t>
            </a:r>
            <a:r>
              <a:rPr lang="en-US" dirty="0" smtClean="0">
                <a:solidFill>
                  <a:srgbClr val="00B050"/>
                </a:solidFill>
                <a:sym typeface="Symbol"/>
              </a:rPr>
              <a:t> </a:t>
            </a:r>
            <a:r>
              <a:rPr lang="vi-VN" dirty="0" smtClean="0">
                <a:sym typeface="Symbol"/>
              </a:rPr>
              <a:t>là mệnh đề đúng khi và chỉ khi có ít nhất một giá trị x= a</a:t>
            </a:r>
            <a:r>
              <a:rPr lang="en-US" dirty="0" smtClean="0">
                <a:sym typeface="Symbol"/>
              </a:rPr>
              <a:t>’</a:t>
            </a:r>
            <a:r>
              <a:rPr lang="vi-VN" dirty="0" smtClean="0">
                <a:sym typeface="Symbol"/>
              </a:rPr>
              <a:t> A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nào đó sao cho mệnh đề p(a</a:t>
            </a:r>
            <a:r>
              <a:rPr lang="en-US" dirty="0" smtClean="0">
                <a:sym typeface="Symbol"/>
              </a:rPr>
              <a:t>’</a:t>
            </a:r>
            <a:r>
              <a:rPr lang="vi-VN" dirty="0" smtClean="0">
                <a:sym typeface="Symbol"/>
              </a:rPr>
              <a:t>) đúng. </a:t>
            </a:r>
            <a:r>
              <a:rPr lang="vi-VN" dirty="0" smtClean="0">
                <a:solidFill>
                  <a:srgbClr val="00B0F0"/>
                </a:solidFill>
                <a:sym typeface="Symbol"/>
              </a:rPr>
              <a:t> đgl lượng từ tồn tại</a:t>
            </a:r>
            <a:endParaRPr lang="en-US" dirty="0" smtClean="0">
              <a:solidFill>
                <a:srgbClr val="00B0F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hóm 2"/>
          <p:cNvGrpSpPr/>
          <p:nvPr/>
        </p:nvGrpSpPr>
        <p:grpSpPr>
          <a:xfrm>
            <a:off x="533400" y="771525"/>
            <a:ext cx="8239125" cy="5314950"/>
            <a:chOff x="533400" y="771525"/>
            <a:chExt cx="8239125" cy="531495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3400" y="771525"/>
              <a:ext cx="8239125" cy="5314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112" y="771525"/>
              <a:ext cx="314325" cy="37147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3058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Cho p(x, y) là một vị từ theo hai biến x, y xác định trên AB. Ta định nghĩa các mệnh đề lượng từ hóa của p(x, y) như sau: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“xA,yB, p(x, y)”  “xA, (yB, 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“xA, yB, p(x, y)”  “xA, (yB,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“xA, yB, p(x, y)”  “xA, (yB, 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“xA, yB, p(x, y)”  “xA, (yB, p(x, y))”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: </a:t>
            </a:r>
            <a:r>
              <a:rPr lang="vi-VN" dirty="0" smtClean="0">
                <a:sym typeface="Symbol"/>
              </a:rPr>
              <a:t>Các mệnh đề sau đúng hay sai?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“x  R,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                       </a:t>
            </a:r>
            <a:r>
              <a:rPr lang="vi-VN" dirty="0" smtClean="0">
                <a:sym typeface="Symbol"/>
              </a:rPr>
              <a:t>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- “x  R,</a:t>
            </a:r>
            <a:r>
              <a:rPr lang="en-US" dirty="0" smtClean="0">
                <a:sym typeface="Symbol"/>
              </a:rPr>
              <a:t>                          </a:t>
            </a:r>
            <a:r>
              <a:rPr lang="vi-VN" dirty="0" smtClean="0">
                <a:sym typeface="Symbol"/>
              </a:rPr>
              <a:t>”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 smtClean="0">
                <a:sym typeface="Symbol"/>
              </a:rPr>
              <a:t>- “x  R, y  R, 2x + 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 smtClean="0">
                <a:sym typeface="Symbol"/>
              </a:rPr>
              <a:t>- “x  R, y  R, 2x + 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 smtClean="0">
                <a:sym typeface="Symbol"/>
              </a:rPr>
              <a:t>- “x  R, y  R, x + 2y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 smtClean="0">
                <a:sym typeface="Symbol"/>
              </a:rPr>
              <a:t>- “x  R, y  R, x + 2y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05088" y="2038350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6" name="Equation" r:id="rId4" imgW="2234880" imgH="444240" progId="Equation.DSMT4">
                  <p:embed/>
                </p:oleObj>
              </mc:Choice>
              <mc:Fallback>
                <p:oleObj name="Equation" r:id="rId4" imgW="223488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038350"/>
                        <a:ext cx="23764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24138" y="2509838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7" name="Equation" r:id="rId6" imgW="2234880" imgH="444240" progId="Equation.DSMT4">
                  <p:embed/>
                </p:oleObj>
              </mc:Choice>
              <mc:Fallback>
                <p:oleObj name="Equation" r:id="rId6" imgW="223488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509838"/>
                        <a:ext cx="23764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3" name="Nhóm 2"/>
          <p:cNvGrpSpPr/>
          <p:nvPr/>
        </p:nvGrpSpPr>
        <p:grpSpPr>
          <a:xfrm>
            <a:off x="838200" y="1914524"/>
            <a:ext cx="7467600" cy="3571875"/>
            <a:chOff x="838200" y="1914524"/>
            <a:chExt cx="7467600" cy="3571875"/>
          </a:xfrm>
        </p:grpSpPr>
        <p:pic>
          <p:nvPicPr>
            <p:cNvPr id="262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38200" y="1914524"/>
              <a:ext cx="7467600" cy="3571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2600" y="1914524"/>
              <a:ext cx="339377" cy="37147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3" name="Nhóm 2"/>
          <p:cNvGrpSpPr/>
          <p:nvPr/>
        </p:nvGrpSpPr>
        <p:grpSpPr>
          <a:xfrm>
            <a:off x="666750" y="595313"/>
            <a:ext cx="7810500" cy="5667375"/>
            <a:chOff x="666750" y="595313"/>
            <a:chExt cx="7810500" cy="5667375"/>
          </a:xfrm>
        </p:grpSpPr>
        <p:pic>
          <p:nvPicPr>
            <p:cNvPr id="26419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66750" y="595313"/>
              <a:ext cx="7810500" cy="5667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1223" y="619125"/>
              <a:ext cx="304800" cy="37147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Định lý</a:t>
            </a: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Cho p(x, y) là một vị từ theo hai biến x, y xác định trên AB. Khi đó: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“xA, yB, p(x, y)”  “yB, xA, p(x, y)”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vi-VN" dirty="0" smtClean="0">
                <a:sym typeface="Symbol"/>
              </a:rPr>
              <a:t> “xA, yB, p(x, y)”  “yB, xA, p(x, y)”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vi-VN" dirty="0" smtClean="0">
                <a:sym typeface="Symbol"/>
              </a:rPr>
              <a:t> “xA, yB, p(x, y)”  “yB, xA, p(x, y)”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00B0F0"/>
                </a:solidFill>
                <a:sym typeface="Symbol"/>
              </a:rPr>
              <a:t>Phủ định</a:t>
            </a:r>
            <a:r>
              <a:rPr lang="vi-VN" dirty="0" smtClean="0">
                <a:sym typeface="Symbol"/>
              </a:rPr>
              <a:t> của mệnh đề lượng từ hóa vị từ p(x,y,..)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có được bằng cách: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thay  thành ,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thay  thành ,</a:t>
            </a:r>
            <a:r>
              <a:rPr lang="en-US" dirty="0" smtClean="0">
                <a:sym typeface="Symbol"/>
              </a:rPr>
              <a:t> </a:t>
            </a:r>
            <a:r>
              <a:rPr lang="vi-VN" dirty="0" smtClean="0">
                <a:sym typeface="Symbol"/>
              </a:rPr>
              <a:t>và p(x,y,..) thành  p(x,y,..).</a:t>
            </a:r>
            <a:endParaRPr lang="en-US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Với vị từ theo 1 biến ta có :</a:t>
            </a: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Với vị từ theo 2 biến </a:t>
            </a:r>
            <a:endParaRPr lang="en-US" dirty="0" smtClean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vi-VN" dirty="0" smtClean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54275" y="2119313"/>
          <a:ext cx="423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0" name="Equation" r:id="rId4" imgW="4051080" imgH="533160" progId="Equation.DSMT4">
                  <p:embed/>
                </p:oleObj>
              </mc:Choice>
              <mc:Fallback>
                <p:oleObj name="Equation" r:id="rId4" imgW="4051080" imgH="5331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119313"/>
                        <a:ext cx="42338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54275" y="2684463"/>
          <a:ext cx="423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1" name="Equation" r:id="rId6" imgW="4051080" imgH="533160" progId="Equation.DSMT4">
                  <p:embed/>
                </p:oleObj>
              </mc:Choice>
              <mc:Fallback>
                <p:oleObj name="Equation" r:id="rId6" imgW="4051080" imgH="5331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684463"/>
                        <a:ext cx="42338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111250" y="3627438"/>
          <a:ext cx="753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2" name="Equation" r:id="rId8" imgW="7213320" imgH="533160" progId="Equation.DSMT4">
                  <p:embed/>
                </p:oleObj>
              </mc:Choice>
              <mc:Fallback>
                <p:oleObj name="Equation" r:id="rId8" imgW="7213320" imgH="5331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627438"/>
                        <a:ext cx="7537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144588" y="4314825"/>
          <a:ext cx="7539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3" name="Equation" r:id="rId10" imgW="7213320" imgH="533160" progId="Equation.DSMT4">
                  <p:embed/>
                </p:oleObj>
              </mc:Choice>
              <mc:Fallback>
                <p:oleObj name="Equation" r:id="rId10" imgW="7213320" imgH="5331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4314825"/>
                        <a:ext cx="75390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190625" y="4926013"/>
          <a:ext cx="7539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4" name="Equation" r:id="rId12" imgW="7213320" imgH="533160" progId="Equation.DSMT4">
                  <p:embed/>
                </p:oleObj>
              </mc:Choice>
              <mc:Fallback>
                <p:oleObj name="Equation" r:id="rId12" imgW="7213320" imgH="5331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4926013"/>
                        <a:ext cx="75390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204913" y="5473700"/>
          <a:ext cx="7539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5" name="Equation" r:id="rId14" imgW="7213320" imgH="533160" progId="Equation.DSMT4">
                  <p:embed/>
                </p:oleObj>
              </mc:Choice>
              <mc:Fallback>
                <p:oleObj name="Equation" r:id="rId14" imgW="7213320" imgH="5331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5473700"/>
                        <a:ext cx="75390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: </a:t>
            </a:r>
            <a:r>
              <a:rPr lang="vi-VN" dirty="0" smtClean="0">
                <a:sym typeface="Symbol"/>
              </a:rPr>
              <a:t>phủ định các mệnh đề sau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A = “x  A, 2x + 1  0”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graphicFrame>
        <p:nvGraphicFramePr>
          <p:cNvPr id="10" name="Đối tượng 9"/>
          <p:cNvGraphicFramePr>
            <a:graphicFrameLocks noChangeAspect="1"/>
          </p:cNvGraphicFramePr>
          <p:nvPr/>
        </p:nvGraphicFramePr>
        <p:xfrm>
          <a:off x="0" y="0"/>
          <a:ext cx="16192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8" name="Equation" r:id="rId4" imgW="164957" imgH="190335" progId="Equation.DSMT4">
                  <p:embed/>
                </p:oleObj>
              </mc:Choice>
              <mc:Fallback>
                <p:oleObj name="Equation" r:id="rId4" imgW="164957" imgH="19033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25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Ảnh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75" y="2868612"/>
            <a:ext cx="3705225" cy="249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7675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:</a:t>
            </a:r>
            <a:endParaRPr lang="vi-VN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89519"/>
            <a:ext cx="5562600" cy="1377543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3352800"/>
            <a:ext cx="3552825" cy="270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1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7675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err="1" smtClean="0">
                <a:solidFill>
                  <a:srgbClr val="FF0000"/>
                </a:solidFill>
                <a:sym typeface="Symbol"/>
              </a:rPr>
              <a:t>Ví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err="1" smtClean="0">
                <a:solidFill>
                  <a:srgbClr val="FF0000"/>
                </a:solidFill>
                <a:sym typeface="Symbol"/>
              </a:rPr>
              <a:t>dụ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:</a:t>
            </a:r>
            <a:endParaRPr lang="vi-VN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 smtClean="0"/>
              <a:t>Vị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r>
              <a:rPr lang="en-US" sz="4800" b="1" dirty="0" smtClean="0"/>
              <a:t> - </a:t>
            </a:r>
            <a:r>
              <a:rPr lang="en-US" sz="4800" b="1" dirty="0" err="1" smtClean="0"/>
              <a:t>Lượng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717675"/>
            <a:ext cx="5638800" cy="1330325"/>
          </a:xfrm>
          <a:prstGeom prst="rect">
            <a:avLst/>
          </a:prstGeom>
        </p:spPr>
      </p:pic>
      <p:pic>
        <p:nvPicPr>
          <p:cNvPr id="6" name="Ản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150393"/>
            <a:ext cx="4000500" cy="2107407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423563"/>
            <a:ext cx="2819400" cy="1917356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41" y="5623321"/>
            <a:ext cx="5145559" cy="7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5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30725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+mj-lt"/>
                <a:sym typeface="Symbol" panose="05050102010706020507" pitchFamily="18" charset="2"/>
              </a:rPr>
              <a:t>Cho n</a:t>
            </a:r>
            <a:r>
              <a:rPr lang="en-US" baseline="-25000" dirty="0" smtClean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N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và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p(n)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là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một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vị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từ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theo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biến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tự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nhiên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n  n</a:t>
            </a:r>
            <a:r>
              <a:rPr lang="en-US" baseline="-25000" dirty="0" smtClean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.</a:t>
            </a:r>
          </a:p>
          <a:p>
            <a:pPr>
              <a:buNone/>
            </a:pPr>
            <a:r>
              <a:rPr lang="en-US" dirty="0" err="1" smtClean="0">
                <a:latin typeface="+mj-lt"/>
                <a:sym typeface="Symbol" panose="05050102010706020507" pitchFamily="18" charset="2"/>
              </a:rPr>
              <a:t>Để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chứng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minh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tính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đắn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của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mệnh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đề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:</a:t>
            </a:r>
          </a:p>
          <a:p>
            <a:pPr>
              <a:buNone/>
            </a:pPr>
            <a:r>
              <a:rPr lang="en-US" dirty="0" smtClean="0">
                <a:latin typeface="+mj-lt"/>
                <a:sym typeface="Symbol" panose="05050102010706020507" pitchFamily="18" charset="2"/>
              </a:rPr>
              <a:t>				n  n</a:t>
            </a:r>
            <a:r>
              <a:rPr lang="en-US" baseline="-25000" dirty="0" smtClean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, p(n)</a:t>
            </a:r>
          </a:p>
          <a:p>
            <a:pPr>
              <a:buNone/>
            </a:pPr>
            <a:r>
              <a:rPr lang="en-US" dirty="0" err="1" smtClean="0">
                <a:latin typeface="+mj-lt"/>
                <a:sym typeface="Symbol" panose="05050102010706020507" pitchFamily="18" charset="2"/>
              </a:rPr>
              <a:t>ta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có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thể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dùng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các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dạng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như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latin typeface="+mj-lt"/>
                <a:sym typeface="Symbol" panose="05050102010706020507" pitchFamily="18" charset="2"/>
              </a:rPr>
              <a:t>sau</a:t>
            </a:r>
            <a:r>
              <a:rPr lang="en-US" dirty="0" smtClean="0">
                <a:latin typeface="+mj-lt"/>
                <a:sym typeface="Symbol" panose="05050102010706020507" pitchFamily="18" charset="2"/>
              </a:rPr>
              <a:t>:</a:t>
            </a:r>
          </a:p>
          <a:p>
            <a:pPr>
              <a:buNone/>
            </a:pP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*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yếu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(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giả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thiết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với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k)</a:t>
            </a:r>
          </a:p>
          <a:p>
            <a:pPr>
              <a:buNone/>
            </a:pP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Mô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hình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suy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diễn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:	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n</a:t>
            </a:r>
            <a:r>
              <a:rPr lang="vi-VN" sz="4800" b="1" dirty="0" smtClean="0"/>
              <a:t>ạp</a:t>
            </a:r>
            <a:endParaRPr lang="en-US" sz="4400" dirty="0"/>
          </a:p>
        </p:txBody>
      </p:sp>
      <p:graphicFrame>
        <p:nvGraphicFramePr>
          <p:cNvPr id="184322" name="Object 2"/>
          <p:cNvGraphicFramePr>
            <a:graphicFrameLocks noChangeAspect="1"/>
          </p:cNvGraphicFramePr>
          <p:nvPr/>
        </p:nvGraphicFramePr>
        <p:xfrm>
          <a:off x="3581400" y="4648200"/>
          <a:ext cx="3886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6" name="Equation" r:id="rId4" imgW="901440" imgH="368280" progId="Equation.3">
                  <p:embed/>
                </p:oleObj>
              </mc:Choice>
              <mc:Fallback>
                <p:oleObj name="Equation" r:id="rId4" imgW="90144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48200"/>
                        <a:ext cx="3886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4800600"/>
            <a:ext cx="144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000" dirty="0" smtClean="0">
                <a:sym typeface="Symbol"/>
              </a:rPr>
              <a:t>(</a:t>
            </a:r>
            <a:r>
              <a:rPr lang="en-US" sz="2000" dirty="0" err="1" smtClean="0">
                <a:sym typeface="Symbol"/>
              </a:rPr>
              <a:t>cơ</a:t>
            </a:r>
            <a:r>
              <a:rPr lang="en-US" sz="2000" dirty="0" smtClean="0">
                <a:sym typeface="Symbol"/>
              </a:rPr>
              <a:t> </a:t>
            </a:r>
            <a:r>
              <a:rPr lang="en-US" sz="2000" dirty="0" err="1" smtClean="0">
                <a:sym typeface="Symbol"/>
              </a:rPr>
              <a:t>sở</a:t>
            </a:r>
            <a:r>
              <a:rPr lang="en-US" sz="2000" dirty="0" smtClean="0"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000" dirty="0" smtClean="0">
                <a:sym typeface="Symbol"/>
              </a:rPr>
              <a:t>(GTQN)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30725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*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mạnh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(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giả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thiết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đến</a:t>
            </a:r>
            <a:r>
              <a:rPr lang="en-US" dirty="0" smtClean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k)</a:t>
            </a:r>
          </a:p>
          <a:p>
            <a:pPr>
              <a:buNone/>
            </a:pP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Mô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hình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suy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 smtClean="0">
                <a:latin typeface="+mj-lt"/>
                <a:sym typeface="Symbol" panose="05050102010706020507" pitchFamily="18" charset="2"/>
              </a:rPr>
              <a:t>diễn</a:t>
            </a:r>
            <a:r>
              <a:rPr lang="en-US" i="1" dirty="0" smtClean="0">
                <a:latin typeface="+mj-lt"/>
                <a:sym typeface="Symbol" panose="05050102010706020507" pitchFamily="18" charset="2"/>
              </a:rPr>
              <a:t>:	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400" dirty="0" smtClean="0">
                <a:sym typeface="Symbol"/>
              </a:rPr>
              <a:t>(</a:t>
            </a:r>
            <a:r>
              <a:rPr lang="en-US" sz="2400" dirty="0" err="1" smtClean="0">
                <a:sym typeface="Symbol"/>
              </a:rPr>
              <a:t>cơ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err="1" smtClean="0">
                <a:sym typeface="Symbol"/>
              </a:rPr>
              <a:t>sở</a:t>
            </a:r>
            <a:r>
              <a:rPr lang="en-US" sz="2400" dirty="0" smtClean="0"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400" dirty="0" smtClean="0">
                <a:sym typeface="Symbol"/>
              </a:rPr>
              <a:t>(GTQN)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n</a:t>
            </a:r>
            <a:r>
              <a:rPr lang="vi-VN" sz="4800" b="1" dirty="0" smtClean="0"/>
              <a:t>ạp</a:t>
            </a:r>
            <a:endParaRPr lang="en-US" sz="4400" dirty="0"/>
          </a:p>
        </p:txBody>
      </p:sp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1878239" y="3091542"/>
          <a:ext cx="72802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65" name="Equation" r:id="rId4" imgW="1688760" imgH="368280" progId="Equation.3">
                  <p:embed/>
                </p:oleObj>
              </mc:Choice>
              <mc:Fallback>
                <p:oleObj name="Equation" r:id="rId4" imgW="168876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239" y="3091542"/>
                        <a:ext cx="728027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Chứng minh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smtClean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 smtClean="0">
                <a:sym typeface="Symbol"/>
              </a:rPr>
              <a:t>Chứng minh</a:t>
            </a:r>
            <a:endParaRPr lang="en-US" dirty="0" smtClean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Qui n</a:t>
            </a:r>
            <a:r>
              <a:rPr lang="vi-VN" sz="4800" b="1" dirty="0" smtClean="0"/>
              <a:t>ạp</a:t>
            </a:r>
            <a:endParaRPr lang="en-US" sz="4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20364"/>
              </p:ext>
            </p:extLst>
          </p:nvPr>
        </p:nvGraphicFramePr>
        <p:xfrm>
          <a:off x="3261610" y="2087380"/>
          <a:ext cx="4102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27" name="Equation" r:id="rId4" imgW="4102100" imgH="609600" progId="Equation.DSMT4">
                  <p:embed/>
                </p:oleObj>
              </mc:Choice>
              <mc:Fallback>
                <p:oleObj name="Equation" r:id="rId4" imgW="4102100" imgH="609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610" y="2087380"/>
                        <a:ext cx="41021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3429000" y="4114800"/>
          <a:ext cx="413710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28" name="Equation" r:id="rId6" imgW="1511300" imgH="393700" progId="Equation.DSMT4">
                  <p:embed/>
                </p:oleObj>
              </mc:Choice>
              <mc:Fallback>
                <p:oleObj name="Equation" r:id="rId6" imgW="1511300" imgH="3937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14800"/>
                        <a:ext cx="4137102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218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8153400" cy="4606925"/>
          </a:xfrm>
        </p:spPr>
        <p:txBody>
          <a:bodyPr/>
          <a:lstStyle/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 err="1" smtClean="0">
                <a:sym typeface="Symbol"/>
              </a:rPr>
              <a:t>Chứng</a:t>
            </a:r>
            <a:r>
              <a:rPr lang="vi-VN" dirty="0" smtClean="0">
                <a:sym typeface="Symbol"/>
              </a:rPr>
              <a:t> minh 2 </a:t>
            </a:r>
            <a:r>
              <a:rPr lang="vi-VN" dirty="0" err="1" smtClean="0">
                <a:sym typeface="Symbol"/>
              </a:rPr>
              <a:t>biểu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thức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logic</a:t>
            </a:r>
            <a:r>
              <a:rPr lang="vi-VN" dirty="0" smtClean="0">
                <a:sym typeface="Symbol"/>
              </a:rPr>
              <a:t> tương đương (bao </a:t>
            </a:r>
            <a:r>
              <a:rPr lang="vi-VN" dirty="0" err="1" smtClean="0">
                <a:sym typeface="Symbol"/>
              </a:rPr>
              <a:t>gồm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cả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chứng</a:t>
            </a:r>
            <a:r>
              <a:rPr lang="vi-VN" dirty="0" smtClean="0">
                <a:sym typeface="Symbol"/>
              </a:rPr>
              <a:t> minh </a:t>
            </a:r>
            <a:r>
              <a:rPr lang="vi-VN" dirty="0" err="1" smtClean="0">
                <a:sym typeface="Symbol"/>
              </a:rPr>
              <a:t>biểu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thức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logic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là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hằng</a:t>
            </a:r>
            <a:r>
              <a:rPr lang="vi-VN" dirty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đúng</a:t>
            </a:r>
            <a:r>
              <a:rPr lang="vi-VN" dirty="0" smtClean="0">
                <a:sym typeface="Symbol"/>
              </a:rPr>
              <a:t>, </a:t>
            </a:r>
            <a:r>
              <a:rPr lang="vi-VN" dirty="0" err="1" smtClean="0">
                <a:sym typeface="Symbol"/>
              </a:rPr>
              <a:t>biểu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thức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logic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là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hằng</a:t>
            </a:r>
            <a:r>
              <a:rPr lang="vi-VN" dirty="0" smtClean="0">
                <a:sym typeface="Symbol"/>
              </a:rPr>
              <a:t> sai).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Dùng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các</a:t>
            </a:r>
            <a:r>
              <a:rPr lang="vi-VN" dirty="0" smtClean="0">
                <a:sym typeface="Symbol"/>
              </a:rPr>
              <a:t> quy </a:t>
            </a:r>
            <a:r>
              <a:rPr lang="vi-VN" dirty="0" err="1" smtClean="0">
                <a:sym typeface="Symbol"/>
              </a:rPr>
              <a:t>tắc</a:t>
            </a:r>
            <a:r>
              <a:rPr lang="vi-VN" dirty="0" smtClean="0">
                <a:sym typeface="Symbol"/>
              </a:rPr>
              <a:t> suy </a:t>
            </a:r>
            <a:r>
              <a:rPr lang="vi-VN" dirty="0" err="1" smtClean="0">
                <a:sym typeface="Symbol"/>
              </a:rPr>
              <a:t>diễn</a:t>
            </a:r>
            <a:r>
              <a:rPr lang="vi-VN" dirty="0" smtClean="0">
                <a:sym typeface="Symbol"/>
              </a:rPr>
              <a:t>, </a:t>
            </a:r>
            <a:r>
              <a:rPr lang="vi-VN" dirty="0" err="1" smtClean="0">
                <a:sym typeface="Symbol"/>
              </a:rPr>
              <a:t>luật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logic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để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kiểm</a:t>
            </a:r>
            <a:r>
              <a:rPr lang="vi-VN" dirty="0" smtClean="0">
                <a:sym typeface="Symbol"/>
              </a:rPr>
              <a:t> tra </a:t>
            </a:r>
            <a:r>
              <a:rPr lang="vi-VN" dirty="0" err="1" smtClean="0">
                <a:sym typeface="Symbol"/>
              </a:rPr>
              <a:t>tính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đúng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đắn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của</a:t>
            </a:r>
            <a:r>
              <a:rPr lang="vi-VN" dirty="0" smtClean="0">
                <a:sym typeface="Symbol"/>
              </a:rPr>
              <a:t> suy </a:t>
            </a:r>
            <a:r>
              <a:rPr lang="vi-VN" dirty="0" err="1" smtClean="0">
                <a:sym typeface="Symbol"/>
              </a:rPr>
              <a:t>luận</a:t>
            </a:r>
            <a:r>
              <a:rPr lang="vi-VN" dirty="0" smtClean="0">
                <a:sym typeface="Symbol"/>
              </a:rPr>
              <a:t>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 smtClean="0">
                <a:sym typeface="Symbol"/>
              </a:rPr>
              <a:t>Cho </a:t>
            </a:r>
            <a:r>
              <a:rPr lang="vi-VN" dirty="0" err="1" smtClean="0">
                <a:sym typeface="Symbol"/>
              </a:rPr>
              <a:t>mệnh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đề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lượng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từ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hóa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vị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từ</a:t>
            </a:r>
            <a:r>
              <a:rPr lang="vi-VN" dirty="0" smtClean="0">
                <a:sym typeface="Symbol"/>
              </a:rPr>
              <a:t> A (</a:t>
            </a:r>
            <a:r>
              <a:rPr lang="vi-VN" dirty="0" err="1" smtClean="0">
                <a:sym typeface="Symbol"/>
              </a:rPr>
              <a:t>thường</a:t>
            </a:r>
            <a:r>
              <a:rPr lang="vi-VN" dirty="0" smtClean="0">
                <a:sym typeface="Symbol"/>
              </a:rPr>
              <a:t> theo 2 </a:t>
            </a:r>
            <a:r>
              <a:rPr lang="vi-VN" dirty="0" err="1" smtClean="0">
                <a:sym typeface="Symbol"/>
              </a:rPr>
              <a:t>biến</a:t>
            </a:r>
            <a:r>
              <a:rPr lang="vi-VN" dirty="0" smtClean="0">
                <a:sym typeface="Symbol"/>
              </a:rPr>
              <a:t>). </a:t>
            </a:r>
            <a:r>
              <a:rPr lang="vi-VN" dirty="0" err="1" smtClean="0">
                <a:sym typeface="Symbol"/>
              </a:rPr>
              <a:t>Lấy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phủ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định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của</a:t>
            </a:r>
            <a:r>
              <a:rPr lang="vi-VN" dirty="0" smtClean="0">
                <a:sym typeface="Symbol"/>
              </a:rPr>
              <a:t> A, </a:t>
            </a:r>
            <a:r>
              <a:rPr lang="vi-VN" dirty="0" err="1" smtClean="0">
                <a:sym typeface="Symbol"/>
              </a:rPr>
              <a:t>xác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định</a:t>
            </a:r>
            <a:r>
              <a:rPr lang="vi-VN" dirty="0" smtClean="0">
                <a:sym typeface="Symbol"/>
              </a:rPr>
              <a:t> chân </a:t>
            </a:r>
            <a:r>
              <a:rPr lang="vi-VN" dirty="0" err="1" smtClean="0">
                <a:sym typeface="Symbol"/>
              </a:rPr>
              <a:t>trị</a:t>
            </a:r>
            <a:r>
              <a:rPr lang="vi-VN" dirty="0" smtClean="0">
                <a:sym typeface="Symbol"/>
              </a:rPr>
              <a:t> </a:t>
            </a:r>
            <a:r>
              <a:rPr lang="vi-VN" dirty="0" err="1" smtClean="0">
                <a:sym typeface="Symbol"/>
              </a:rPr>
              <a:t>của</a:t>
            </a:r>
            <a:r>
              <a:rPr lang="vi-VN" dirty="0" smtClean="0">
                <a:sym typeface="Symbol"/>
              </a:rPr>
              <a:t> A hay A </a:t>
            </a:r>
            <a:r>
              <a:rPr lang="vi-VN" dirty="0" err="1" smtClean="0">
                <a:sym typeface="Symbol"/>
              </a:rPr>
              <a:t>phủ</a:t>
            </a:r>
            <a:r>
              <a:rPr lang="vi-VN" dirty="0" smtClean="0">
                <a:sym typeface="Symbol"/>
              </a:rPr>
              <a:t>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vi-VN" dirty="0" smtClean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r>
              <a:rPr lang="en-US" sz="4800" b="1" dirty="0" err="1" smtClean="0"/>
              <a:t>Nội</a:t>
            </a:r>
            <a:r>
              <a:rPr lang="en-US" sz="4800" b="1" dirty="0" smtClean="0"/>
              <a:t> dung </a:t>
            </a:r>
            <a:r>
              <a:rPr lang="en-US" sz="4800" b="1" dirty="0" err="1" smtClean="0"/>
              <a:t>chính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chương</a:t>
            </a:r>
            <a:r>
              <a:rPr lang="en-US" sz="4800" b="1" smtClean="0"/>
              <a:t> I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60</a:t>
            </a:fld>
            <a:endParaRPr lang="en-US"/>
          </a:p>
        </p:txBody>
      </p:sp>
      <p:grpSp>
        <p:nvGrpSpPr>
          <p:cNvPr id="3" name="Nhóm 2"/>
          <p:cNvGrpSpPr/>
          <p:nvPr/>
        </p:nvGrpSpPr>
        <p:grpSpPr>
          <a:xfrm>
            <a:off x="1447800" y="1676400"/>
            <a:ext cx="6654344" cy="4286250"/>
            <a:chOff x="1447800" y="1676400"/>
            <a:chExt cx="6654344" cy="428625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47800" y="1676400"/>
              <a:ext cx="6654344" cy="428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800" y="2642286"/>
              <a:ext cx="295275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578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10" name="Hình chữ nhật 9"/>
          <p:cNvSpPr/>
          <p:nvPr/>
        </p:nvSpPr>
        <p:spPr>
          <a:xfrm>
            <a:off x="1143000" y="228600"/>
            <a:ext cx="1600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 smtClean="0">
                <a:solidFill>
                  <a:schemeClr val="accent2"/>
                </a:solidFill>
              </a:rPr>
              <a:t>Bài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tập</a:t>
            </a:r>
            <a:endParaRPr lang="vi-VN" sz="3200" dirty="0">
              <a:solidFill>
                <a:schemeClr val="accent2"/>
              </a:solidFill>
            </a:endParaRPr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73628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8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04900"/>
            <a:ext cx="7162800" cy="5143500"/>
          </a:xfrm>
          <a:prstGeom prst="rect">
            <a:avLst/>
          </a:prstGeom>
        </p:spPr>
      </p:pic>
      <p:sp>
        <p:nvSpPr>
          <p:cNvPr id="10" name="Hình chữ nhật 9"/>
          <p:cNvSpPr/>
          <p:nvPr/>
        </p:nvSpPr>
        <p:spPr>
          <a:xfrm>
            <a:off x="1143000" y="228600"/>
            <a:ext cx="1600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 smtClean="0">
                <a:solidFill>
                  <a:schemeClr val="accent2"/>
                </a:solidFill>
              </a:rPr>
              <a:t>Bài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tập</a:t>
            </a:r>
            <a:endParaRPr lang="vi-VN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6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0" name="Hình chữ nhật 9"/>
          <p:cNvSpPr/>
          <p:nvPr/>
        </p:nvSpPr>
        <p:spPr>
          <a:xfrm>
            <a:off x="1143000" y="228600"/>
            <a:ext cx="1600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 smtClean="0">
                <a:solidFill>
                  <a:schemeClr val="accent2"/>
                </a:solidFill>
              </a:rPr>
              <a:t>Bài</a:t>
            </a:r>
            <a:r>
              <a:rPr lang="en-US" sz="3200" dirty="0" smtClean="0">
                <a:solidFill>
                  <a:schemeClr val="accent2"/>
                </a:solidFill>
              </a:rPr>
              <a:t> </a:t>
            </a:r>
            <a:r>
              <a:rPr lang="en-US" sz="3200" dirty="0" err="1" smtClean="0">
                <a:solidFill>
                  <a:schemeClr val="accent2"/>
                </a:solidFill>
              </a:rPr>
              <a:t>tập</a:t>
            </a:r>
            <a:endParaRPr lang="vi-VN" sz="3200" dirty="0">
              <a:solidFill>
                <a:schemeClr val="accent2"/>
              </a:solidFill>
            </a:endParaRPr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76771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yers">
  <a:themeElements>
    <a:clrScheme name="Office Theme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5708</TotalTime>
  <Words>3555</Words>
  <Application>Microsoft Office PowerPoint</Application>
  <PresentationFormat>On-screen Show (4:3)</PresentationFormat>
  <Paragraphs>604</Paragraphs>
  <Slides>63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Symbol</vt:lpstr>
      <vt:lpstr>Times New Roman</vt:lpstr>
      <vt:lpstr>Wingdings</vt:lpstr>
      <vt:lpstr>Layers</vt:lpstr>
      <vt:lpstr>Equation</vt:lpstr>
      <vt:lpstr>CẤU TRÚC RỜI RẠC</vt:lpstr>
      <vt:lpstr>CHƯƠNG I: CƠ SỞ LOGIC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Biểu thức logic (Dạng mệnh đề)</vt:lpstr>
      <vt:lpstr>Biểu thức logic</vt:lpstr>
      <vt:lpstr>Biểu thức logic</vt:lpstr>
      <vt:lpstr>Biểu thức logic</vt:lpstr>
      <vt:lpstr>Biểu thức logic</vt:lpstr>
      <vt:lpstr>Biểu thức logic</vt:lpstr>
      <vt:lpstr>Các luật logic</vt:lpstr>
      <vt:lpstr>Các luật logic</vt:lpstr>
      <vt:lpstr>Các luật logic</vt:lpstr>
      <vt:lpstr>Các luật logic</vt:lpstr>
      <vt:lpstr>Các luật logic</vt:lpstr>
      <vt:lpstr>Qui tắc suy diễn</vt:lpstr>
      <vt:lpstr>Qui tắc suy diễn</vt:lpstr>
      <vt:lpstr>Qui tắc suy diễn </vt:lpstr>
      <vt:lpstr>Qui tắc suy diễn </vt:lpstr>
      <vt:lpstr>Qui tắc suy diễn </vt:lpstr>
      <vt:lpstr>Qui tắc suy diễn 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Suy luận sau đúng hay không đúng?</vt:lpstr>
      <vt:lpstr>Qui tắc suy diễn</vt:lpstr>
      <vt:lpstr>Qui tắc suy diễn</vt:lpstr>
      <vt:lpstr>Vị từ - Lượng từ</vt:lpstr>
      <vt:lpstr>Vị từ - Lượng từ</vt:lpstr>
      <vt:lpstr>Vị từ - Lượng từ</vt:lpstr>
      <vt:lpstr>PowerPoint Presentation</vt:lpstr>
      <vt:lpstr>Vị từ - Lượng từ</vt:lpstr>
      <vt:lpstr>Vị từ - Lượng từ</vt:lpstr>
      <vt:lpstr>PowerPoint Presentation</vt:lpstr>
      <vt:lpstr>PowerPoint Presentation</vt:lpstr>
      <vt:lpstr>Vị từ - Lượng từ</vt:lpstr>
      <vt:lpstr>Vị từ - Lượng từ</vt:lpstr>
      <vt:lpstr>Vị từ - Lượng từ</vt:lpstr>
      <vt:lpstr>Vị từ - Lượng từ</vt:lpstr>
      <vt:lpstr>Vị từ - Lượng từ</vt:lpstr>
      <vt:lpstr>Qui nạp</vt:lpstr>
      <vt:lpstr>Qui nạp</vt:lpstr>
      <vt:lpstr>Qui nạp</vt:lpstr>
      <vt:lpstr>Nội dung chính chương 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rời rạc</dc:title>
  <dc:creator>MOP</dc:creator>
  <cp:lastModifiedBy>Dell</cp:lastModifiedBy>
  <cp:revision>351</cp:revision>
  <cp:lastPrinted>1601-01-01T00:00:00Z</cp:lastPrinted>
  <dcterms:created xsi:type="dcterms:W3CDTF">2011-10-02T12:41:29Z</dcterms:created>
  <dcterms:modified xsi:type="dcterms:W3CDTF">2022-02-20T16:13:46Z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TC102037551033</vt:lpwstr>
  </property>
</Properties>
</file>