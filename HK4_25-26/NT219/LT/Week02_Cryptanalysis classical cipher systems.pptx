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77" r:id="rId4"/>
  </p:sldMasterIdLst>
  <p:notesMasterIdLst>
    <p:notesMasterId r:id="rId58"/>
  </p:notesMasterIdLst>
  <p:handoutMasterIdLst>
    <p:handoutMasterId r:id="rId59"/>
  </p:handoutMasterIdLst>
  <p:sldIdLst>
    <p:sldId id="494" r:id="rId5"/>
    <p:sldId id="332" r:id="rId6"/>
    <p:sldId id="507" r:id="rId7"/>
    <p:sldId id="1509" r:id="rId8"/>
    <p:sldId id="1496" r:id="rId9"/>
    <p:sldId id="504" r:id="rId10"/>
    <p:sldId id="522" r:id="rId11"/>
    <p:sldId id="521" r:id="rId12"/>
    <p:sldId id="524" r:id="rId13"/>
    <p:sldId id="1469" r:id="rId14"/>
    <p:sldId id="1470" r:id="rId15"/>
    <p:sldId id="1471" r:id="rId16"/>
    <p:sldId id="1484" r:id="rId17"/>
    <p:sldId id="1473" r:id="rId18"/>
    <p:sldId id="1510" r:id="rId19"/>
    <p:sldId id="1512" r:id="rId20"/>
    <p:sldId id="1511" r:id="rId21"/>
    <p:sldId id="1514" r:id="rId22"/>
    <p:sldId id="1445" r:id="rId23"/>
    <p:sldId id="1446" r:id="rId24"/>
    <p:sldId id="1474" r:id="rId25"/>
    <p:sldId id="1449" r:id="rId26"/>
    <p:sldId id="1515" r:id="rId27"/>
    <p:sldId id="1516" r:id="rId28"/>
    <p:sldId id="1485" r:id="rId29"/>
    <p:sldId id="1476" r:id="rId30"/>
    <p:sldId id="1507" r:id="rId31"/>
    <p:sldId id="1494" r:id="rId32"/>
    <p:sldId id="1506" r:id="rId33"/>
    <p:sldId id="1508" r:id="rId34"/>
    <p:sldId id="1477" r:id="rId35"/>
    <p:sldId id="1513" r:id="rId36"/>
    <p:sldId id="1505" r:id="rId37"/>
    <p:sldId id="1487" r:id="rId38"/>
    <p:sldId id="1456" r:id="rId39"/>
    <p:sldId id="1452" r:id="rId40"/>
    <p:sldId id="1453" r:id="rId41"/>
    <p:sldId id="1483" r:id="rId42"/>
    <p:sldId id="1486" r:id="rId43"/>
    <p:sldId id="1478" r:id="rId44"/>
    <p:sldId id="1454" r:id="rId45"/>
    <p:sldId id="1457" r:id="rId46"/>
    <p:sldId id="1458" r:id="rId47"/>
    <p:sldId id="1488" r:id="rId48"/>
    <p:sldId id="1459" r:id="rId49"/>
    <p:sldId id="1479" r:id="rId50"/>
    <p:sldId id="1480" r:id="rId51"/>
    <p:sldId id="1462" r:id="rId52"/>
    <p:sldId id="1504" r:id="rId53"/>
    <p:sldId id="1503" r:id="rId54"/>
    <p:sldId id="1466" r:id="rId55"/>
    <p:sldId id="1482" r:id="rId56"/>
    <p:sldId id="1495" r:id="rId57"/>
  </p:sldIdLst>
  <p:sldSz cx="12192000" cy="6858000"/>
  <p:notesSz cx="9144000" cy="6858000"/>
  <p:defaultTextStyle>
    <a:defPPr>
      <a:defRPr lang="de-DE"/>
    </a:defPPr>
    <a:lvl1pPr algn="l" rtl="0" eaLnBrk="0" fontAlgn="base" hangingPunct="0">
      <a:spcBef>
        <a:spcPct val="0"/>
      </a:spcBef>
      <a:spcAft>
        <a:spcPct val="0"/>
      </a:spcAft>
      <a:defRPr sz="2800" kern="1200">
        <a:solidFill>
          <a:schemeClr val="tx1"/>
        </a:solidFill>
        <a:latin typeface="Times" panose="02020603050405020304" pitchFamily="18" charset="0"/>
        <a:ea typeface="+mn-ea"/>
        <a:cs typeface="+mn-cs"/>
      </a:defRPr>
    </a:lvl1pPr>
    <a:lvl2pPr marL="457200" algn="l" rtl="0" eaLnBrk="0" fontAlgn="base" hangingPunct="0">
      <a:spcBef>
        <a:spcPct val="0"/>
      </a:spcBef>
      <a:spcAft>
        <a:spcPct val="0"/>
      </a:spcAft>
      <a:defRPr sz="2800" kern="1200">
        <a:solidFill>
          <a:schemeClr val="tx1"/>
        </a:solidFill>
        <a:latin typeface="Times" panose="02020603050405020304" pitchFamily="18" charset="0"/>
        <a:ea typeface="+mn-ea"/>
        <a:cs typeface="+mn-cs"/>
      </a:defRPr>
    </a:lvl2pPr>
    <a:lvl3pPr marL="914400" algn="l" rtl="0" eaLnBrk="0" fontAlgn="base" hangingPunct="0">
      <a:spcBef>
        <a:spcPct val="0"/>
      </a:spcBef>
      <a:spcAft>
        <a:spcPct val="0"/>
      </a:spcAft>
      <a:defRPr sz="2800" kern="1200">
        <a:solidFill>
          <a:schemeClr val="tx1"/>
        </a:solidFill>
        <a:latin typeface="Times" panose="02020603050405020304" pitchFamily="18" charset="0"/>
        <a:ea typeface="+mn-ea"/>
        <a:cs typeface="+mn-cs"/>
      </a:defRPr>
    </a:lvl3pPr>
    <a:lvl4pPr marL="1371600" algn="l" rtl="0" eaLnBrk="0" fontAlgn="base" hangingPunct="0">
      <a:spcBef>
        <a:spcPct val="0"/>
      </a:spcBef>
      <a:spcAft>
        <a:spcPct val="0"/>
      </a:spcAft>
      <a:defRPr sz="2800" kern="1200">
        <a:solidFill>
          <a:schemeClr val="tx1"/>
        </a:solidFill>
        <a:latin typeface="Times" panose="02020603050405020304" pitchFamily="18" charset="0"/>
        <a:ea typeface="+mn-ea"/>
        <a:cs typeface="+mn-cs"/>
      </a:defRPr>
    </a:lvl4pPr>
    <a:lvl5pPr marL="1828800" algn="l" rtl="0" eaLnBrk="0" fontAlgn="base" hangingPunct="0">
      <a:spcBef>
        <a:spcPct val="0"/>
      </a:spcBef>
      <a:spcAft>
        <a:spcPct val="0"/>
      </a:spcAft>
      <a:defRPr sz="2800" kern="1200">
        <a:solidFill>
          <a:schemeClr val="tx1"/>
        </a:solidFill>
        <a:latin typeface="Times" panose="02020603050405020304" pitchFamily="18" charset="0"/>
        <a:ea typeface="+mn-ea"/>
        <a:cs typeface="+mn-cs"/>
      </a:defRPr>
    </a:lvl5pPr>
    <a:lvl6pPr marL="2286000" algn="l" defTabSz="914400" rtl="0" eaLnBrk="1" latinLnBrk="0" hangingPunct="1">
      <a:defRPr sz="2800" kern="1200">
        <a:solidFill>
          <a:schemeClr val="tx1"/>
        </a:solidFill>
        <a:latin typeface="Times" panose="02020603050405020304" pitchFamily="18" charset="0"/>
        <a:ea typeface="+mn-ea"/>
        <a:cs typeface="+mn-cs"/>
      </a:defRPr>
    </a:lvl6pPr>
    <a:lvl7pPr marL="2743200" algn="l" defTabSz="914400" rtl="0" eaLnBrk="1" latinLnBrk="0" hangingPunct="1">
      <a:defRPr sz="2800" kern="1200">
        <a:solidFill>
          <a:schemeClr val="tx1"/>
        </a:solidFill>
        <a:latin typeface="Times" panose="02020603050405020304" pitchFamily="18" charset="0"/>
        <a:ea typeface="+mn-ea"/>
        <a:cs typeface="+mn-cs"/>
      </a:defRPr>
    </a:lvl7pPr>
    <a:lvl8pPr marL="3200400" algn="l" defTabSz="914400" rtl="0" eaLnBrk="1" latinLnBrk="0" hangingPunct="1">
      <a:defRPr sz="2800" kern="1200">
        <a:solidFill>
          <a:schemeClr val="tx1"/>
        </a:solidFill>
        <a:latin typeface="Times" panose="02020603050405020304" pitchFamily="18" charset="0"/>
        <a:ea typeface="+mn-ea"/>
        <a:cs typeface="+mn-cs"/>
      </a:defRPr>
    </a:lvl8pPr>
    <a:lvl9pPr marL="3657600" algn="l" defTabSz="914400" rtl="0" eaLnBrk="1" latinLnBrk="0" hangingPunct="1">
      <a:defRPr sz="2800" kern="1200">
        <a:solidFill>
          <a:schemeClr val="tx1"/>
        </a:solidFill>
        <a:latin typeface="Times" panose="020206030504050203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OCTU" initials="N" lastIdx="1" clrIdx="0">
    <p:extLst>
      <p:ext uri="{19B8F6BF-5375-455C-9EA6-DF929625EA0E}">
        <p15:presenceInfo xmlns:p15="http://schemas.microsoft.com/office/powerpoint/2012/main" userId="NGOCT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39966"/>
    <a:srgbClr val="003366"/>
    <a:srgbClr val="990000"/>
    <a:srgbClr val="006666"/>
    <a:srgbClr val="97FFE4"/>
    <a:srgbClr val="FF0000"/>
    <a:srgbClr val="FF99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DBFA35-EFC2-4E0C-8C61-5A61F15CC40F}"/>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A7CE2F6-0387-4D2B-8455-B121F1A8411C}"/>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2CB49A8A-77DC-4813-A074-2F5920BD117B}" type="datetimeFigureOut">
              <a:rPr lang="en-US" smtClean="0"/>
              <a:t>3/1/2026</a:t>
            </a:fld>
            <a:endParaRPr lang="en-US"/>
          </a:p>
        </p:txBody>
      </p:sp>
      <p:sp>
        <p:nvSpPr>
          <p:cNvPr id="4" name="Footer Placeholder 3">
            <a:extLst>
              <a:ext uri="{FF2B5EF4-FFF2-40B4-BE49-F238E27FC236}">
                <a16:creationId xmlns:a16="http://schemas.microsoft.com/office/drawing/2014/main" id="{B1E07F94-EB59-42D4-9E83-E6458367D288}"/>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313A441-DF7C-471E-B7CF-4ABDF4D55CB4}"/>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70EBAA95-9C46-4AE0-B3EF-9222AB21C33F}" type="slidenum">
              <a:rPr lang="en-US" smtClean="0"/>
              <a:t>‹#›</a:t>
            </a:fld>
            <a:endParaRPr lang="en-US"/>
          </a:p>
        </p:txBody>
      </p:sp>
    </p:spTree>
    <p:extLst>
      <p:ext uri="{BB962C8B-B14F-4D97-AF65-F5344CB8AC3E}">
        <p14:creationId xmlns:p14="http://schemas.microsoft.com/office/powerpoint/2010/main" val="6974781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B9F9BDD6-77D8-4570-AAD0-E568BE7BCFF8}"/>
              </a:ext>
            </a:extLst>
          </p:cNvPr>
          <p:cNvSpPr>
            <a:spLocks noGrp="1" noChangeArrowheads="1"/>
          </p:cNvSpPr>
          <p:nvPr>
            <p:ph type="hdr" sz="quarter"/>
          </p:nvPr>
        </p:nvSpPr>
        <p:spPr bwMode="auto">
          <a:xfrm>
            <a:off x="0" y="0"/>
            <a:ext cx="39624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3075" name="Rectangle 3">
            <a:extLst>
              <a:ext uri="{FF2B5EF4-FFF2-40B4-BE49-F238E27FC236}">
                <a16:creationId xmlns:a16="http://schemas.microsoft.com/office/drawing/2014/main" id="{3C594F78-DFE3-42DE-8B5C-0CAA9A9AA633}"/>
              </a:ext>
            </a:extLst>
          </p:cNvPr>
          <p:cNvSpPr>
            <a:spLocks noGrp="1" noChangeArrowheads="1"/>
          </p:cNvSpPr>
          <p:nvPr>
            <p:ph type="dt" idx="1"/>
          </p:nvPr>
        </p:nvSpPr>
        <p:spPr bwMode="auto">
          <a:xfrm>
            <a:off x="5181600" y="0"/>
            <a:ext cx="39624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de-DE"/>
          </a:p>
        </p:txBody>
      </p:sp>
      <p:sp>
        <p:nvSpPr>
          <p:cNvPr id="5124" name="Rectangle 4">
            <a:extLst>
              <a:ext uri="{FF2B5EF4-FFF2-40B4-BE49-F238E27FC236}">
                <a16:creationId xmlns:a16="http://schemas.microsoft.com/office/drawing/2014/main" id="{A805972B-DC15-40F7-BD10-B99756306F88}"/>
              </a:ext>
            </a:extLst>
          </p:cNvPr>
          <p:cNvSpPr>
            <a:spLocks noGrp="1" noRot="1" noChangeAspect="1" noChangeArrowheads="1" noTextEdit="1"/>
          </p:cNvSpPr>
          <p:nvPr>
            <p:ph type="sldImg" idx="2"/>
          </p:nvPr>
        </p:nvSpPr>
        <p:spPr bwMode="auto">
          <a:xfrm>
            <a:off x="2270125" y="533400"/>
            <a:ext cx="4603750" cy="2590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7" name="Rectangle 5">
            <a:extLst>
              <a:ext uri="{FF2B5EF4-FFF2-40B4-BE49-F238E27FC236}">
                <a16:creationId xmlns:a16="http://schemas.microsoft.com/office/drawing/2014/main" id="{532D3062-1C55-490F-86DB-0951D5B78D27}"/>
              </a:ext>
            </a:extLst>
          </p:cNvPr>
          <p:cNvSpPr>
            <a:spLocks noGrp="1" noChangeArrowheads="1"/>
          </p:cNvSpPr>
          <p:nvPr>
            <p:ph type="body" sz="quarter" idx="3"/>
          </p:nvPr>
        </p:nvSpPr>
        <p:spPr bwMode="auto">
          <a:xfrm>
            <a:off x="1219200" y="3276600"/>
            <a:ext cx="6705600" cy="3048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de-DE" noProof="0"/>
              <a:t>Click to edit Master text styles</a:t>
            </a:r>
          </a:p>
          <a:p>
            <a:pPr lvl="1"/>
            <a:r>
              <a:rPr lang="de-DE" noProof="0"/>
              <a:t>Second level</a:t>
            </a:r>
          </a:p>
          <a:p>
            <a:pPr lvl="2"/>
            <a:r>
              <a:rPr lang="de-DE" noProof="0"/>
              <a:t>Third level</a:t>
            </a:r>
          </a:p>
          <a:p>
            <a:pPr lvl="3"/>
            <a:r>
              <a:rPr lang="de-DE" noProof="0"/>
              <a:t>Fourth level</a:t>
            </a:r>
          </a:p>
          <a:p>
            <a:pPr lvl="4"/>
            <a:r>
              <a:rPr lang="de-DE" noProof="0"/>
              <a:t>Fifth level</a:t>
            </a:r>
          </a:p>
        </p:txBody>
      </p:sp>
      <p:sp>
        <p:nvSpPr>
          <p:cNvPr id="3078" name="Rectangle 6">
            <a:extLst>
              <a:ext uri="{FF2B5EF4-FFF2-40B4-BE49-F238E27FC236}">
                <a16:creationId xmlns:a16="http://schemas.microsoft.com/office/drawing/2014/main" id="{36FDE4E7-31AF-4FCD-BBB1-112CAFB360E4}"/>
              </a:ext>
            </a:extLst>
          </p:cNvPr>
          <p:cNvSpPr>
            <a:spLocks noGrp="1" noChangeArrowheads="1"/>
          </p:cNvSpPr>
          <p:nvPr>
            <p:ph type="ftr" sz="quarter" idx="4"/>
          </p:nvPr>
        </p:nvSpPr>
        <p:spPr bwMode="auto">
          <a:xfrm>
            <a:off x="0" y="6477000"/>
            <a:ext cx="3962400" cy="381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3079" name="Rectangle 7">
            <a:extLst>
              <a:ext uri="{FF2B5EF4-FFF2-40B4-BE49-F238E27FC236}">
                <a16:creationId xmlns:a16="http://schemas.microsoft.com/office/drawing/2014/main" id="{7431C41B-4B40-453A-9DEB-EC6A6E5B3A32}"/>
              </a:ext>
            </a:extLst>
          </p:cNvPr>
          <p:cNvSpPr>
            <a:spLocks noGrp="1" noChangeArrowheads="1"/>
          </p:cNvSpPr>
          <p:nvPr>
            <p:ph type="sldNum" sz="quarter" idx="5"/>
          </p:nvPr>
        </p:nvSpPr>
        <p:spPr bwMode="auto">
          <a:xfrm>
            <a:off x="5181600" y="6477000"/>
            <a:ext cx="3962400" cy="3810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643114AD-DAFD-41DA-863F-8D7ADE8A126D}" type="slidenum">
              <a:rPr lang="de-DE" altLang="en-US"/>
              <a:pPr>
                <a:defRPr/>
              </a:pPr>
              <a:t>‹#›</a:t>
            </a:fld>
            <a:endParaRPr lang="de-DE"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b="1" kern="1200">
                <a:solidFill>
                  <a:schemeClr val="tx1"/>
                </a:solidFill>
                <a:effectLst/>
                <a:latin typeface="Times" pitchFamily="18" charset="0"/>
                <a:ea typeface="+mn-ea"/>
                <a:cs typeface="+mn-cs"/>
              </a:rPr>
              <a:t>Cipher=</a:t>
            </a:r>
            <a:r>
              <a:rPr lang="en-US" sz="1200" kern="1200">
                <a:solidFill>
                  <a:schemeClr val="tx1"/>
                </a:solidFill>
                <a:effectLst/>
                <a:latin typeface="Times" pitchFamily="18" charset="0"/>
                <a:ea typeface="+mn-ea"/>
                <a:cs typeface="+mn-cs"/>
              </a:rPr>
              <a:t>a secret system of writing;</a:t>
            </a:r>
            <a:endParaRPr lang="en-US"/>
          </a:p>
        </p:txBody>
      </p:sp>
      <p:sp>
        <p:nvSpPr>
          <p:cNvPr id="4" name="Slide Number Placeholder 3"/>
          <p:cNvSpPr>
            <a:spLocks noGrp="1"/>
          </p:cNvSpPr>
          <p:nvPr>
            <p:ph type="sldNum" sz="quarter" idx="5"/>
          </p:nvPr>
        </p:nvSpPr>
        <p:spPr/>
        <p:txBody>
          <a:bodyPr/>
          <a:lstStyle/>
          <a:p>
            <a:pPr>
              <a:defRPr/>
            </a:pPr>
            <a:fld id="{643114AD-DAFD-41DA-863F-8D7ADE8A126D}" type="slidenum">
              <a:rPr lang="de-DE" altLang="en-US" smtClean="0"/>
              <a:pPr>
                <a:defRPr/>
              </a:pPr>
              <a:t>2</a:t>
            </a:fld>
            <a:endParaRPr lang="de-DE" altLang="en-US"/>
          </a:p>
        </p:txBody>
      </p:sp>
    </p:spTree>
    <p:extLst>
      <p:ext uri="{BB962C8B-B14F-4D97-AF65-F5344CB8AC3E}">
        <p14:creationId xmlns:p14="http://schemas.microsoft.com/office/powerpoint/2010/main" val="1140494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2D3D3-927B-505A-EE51-6EDB35BC7A40}"/>
            </a:ext>
          </a:extLst>
        </p:cNvPr>
        <p:cNvGrpSpPr/>
        <p:nvPr/>
      </p:nvGrpSpPr>
      <p:grpSpPr>
        <a:xfrm>
          <a:off x="0" y="0"/>
          <a:ext cx="0" cy="0"/>
          <a:chOff x="0" y="0"/>
          <a:chExt cx="0" cy="0"/>
        </a:xfrm>
      </p:grpSpPr>
      <p:sp>
        <p:nvSpPr>
          <p:cNvPr id="64514" name="Rectangle 2">
            <a:extLst>
              <a:ext uri="{FF2B5EF4-FFF2-40B4-BE49-F238E27FC236}">
                <a16:creationId xmlns:a16="http://schemas.microsoft.com/office/drawing/2014/main" id="{D491880B-89E9-2F94-E919-E14AD3933BAC}"/>
              </a:ext>
            </a:extLst>
          </p:cNvPr>
          <p:cNvSpPr>
            <a:spLocks noGrp="1" noRot="1" noChangeAspect="1" noChangeArrowheads="1" noTextEdit="1"/>
          </p:cNvSpPr>
          <p:nvPr>
            <p:ph type="sldImg"/>
          </p:nvPr>
        </p:nvSpPr>
        <p:spPr>
          <a:xfrm>
            <a:off x="2270125" y="533400"/>
            <a:ext cx="4603750" cy="2590800"/>
          </a:xfrm>
          <a:ln/>
        </p:spPr>
      </p:sp>
      <p:sp>
        <p:nvSpPr>
          <p:cNvPr id="64515" name="Rectangle 3">
            <a:extLst>
              <a:ext uri="{FF2B5EF4-FFF2-40B4-BE49-F238E27FC236}">
                <a16:creationId xmlns:a16="http://schemas.microsoft.com/office/drawing/2014/main" id="{1917CB93-1C09-220F-2B8A-F1A2DC1B9CD9}"/>
              </a:ext>
            </a:extLst>
          </p:cNvPr>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err="1"/>
              <a:t>Defence</a:t>
            </a:r>
            <a:r>
              <a:rPr lang="en-US" sz="1200" b="1"/>
              <a:t> in depth:</a:t>
            </a:r>
          </a:p>
          <a:p>
            <a:pPr eaLnBrk="1" hangingPunct="1"/>
            <a:endParaRPr lang="en-US" altLang="en-US"/>
          </a:p>
        </p:txBody>
      </p:sp>
    </p:spTree>
    <p:extLst>
      <p:ext uri="{BB962C8B-B14F-4D97-AF65-F5344CB8AC3E}">
        <p14:creationId xmlns:p14="http://schemas.microsoft.com/office/powerpoint/2010/main" val="2267084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BA46C41B-682A-41E7-BCFB-8B1C5601B8CC}"/>
              </a:ext>
            </a:extLst>
          </p:cNvPr>
          <p:cNvSpPr>
            <a:spLocks noGrp="1" noRot="1" noChangeAspect="1" noChangeArrowheads="1" noTextEdit="1"/>
          </p:cNvSpPr>
          <p:nvPr>
            <p:ph type="sldImg"/>
          </p:nvPr>
        </p:nvSpPr>
        <p:spPr>
          <a:xfrm>
            <a:off x="2270125" y="533400"/>
            <a:ext cx="4603750" cy="2590800"/>
          </a:xfrm>
          <a:ln/>
        </p:spPr>
      </p:sp>
      <p:sp>
        <p:nvSpPr>
          <p:cNvPr id="64515" name="Rectangle 3">
            <a:extLst>
              <a:ext uri="{FF2B5EF4-FFF2-40B4-BE49-F238E27FC236}">
                <a16:creationId xmlns:a16="http://schemas.microsoft.com/office/drawing/2014/main" id="{E709A1B1-1E44-46AE-BE25-34E1BB996A52}"/>
              </a:ext>
            </a:extLst>
          </p:cNvPr>
          <p:cNvSpPr>
            <a:spLocks noGrp="1" noChangeArrowheads="1"/>
          </p:cNvSpPr>
          <p:nvPr>
            <p:ph type="body" idx="1"/>
          </p:nvPr>
        </p:nvSpPr>
        <p:spPr>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1" err="1"/>
              <a:t>Defence</a:t>
            </a:r>
            <a:r>
              <a:rPr lang="en-US" sz="1200" b="1"/>
              <a:t> in depth:</a:t>
            </a:r>
          </a:p>
          <a:p>
            <a:pPr eaLnBrk="1" hangingPunct="1"/>
            <a:endParaRPr lang="en-US" altLang="en-US"/>
          </a:p>
        </p:txBody>
      </p:sp>
    </p:spTree>
    <p:extLst>
      <p:ext uri="{BB962C8B-B14F-4D97-AF65-F5344CB8AC3E}">
        <p14:creationId xmlns:p14="http://schemas.microsoft.com/office/powerpoint/2010/main" val="31374181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b="0" kern="1200" baseline="0">
                <a:solidFill>
                  <a:schemeClr val="tx1"/>
                </a:solidFill>
                <a:latin typeface="Arial" charset="0"/>
                <a:ea typeface="ＭＳ Ｐゴシック" pitchFamily="-107" charset="-128"/>
                <a:cs typeface="ＭＳ Ｐゴシック" pitchFamily="-107" charset="-128"/>
              </a:rPr>
              <a:t> A symmetric encryption scheme has five ingredients (Figure 3.1)</a:t>
            </a:r>
          </a:p>
          <a:p>
            <a:endParaRPr lang="en-US" sz="1200" b="0" kern="1200" baseline="0">
              <a:solidFill>
                <a:schemeClr val="tx1"/>
              </a:solidFill>
              <a:latin typeface="Arial" charset="0"/>
              <a:ea typeface="ＭＳ Ｐゴシック" pitchFamily="-107" charset="-128"/>
              <a:cs typeface="ＭＳ Ｐゴシック" pitchFamily="-107" charset="-128"/>
            </a:endParaRPr>
          </a:p>
          <a:p>
            <a:r>
              <a:rPr lang="en-US" sz="1200" b="0" kern="1200" baseline="0">
                <a:solidFill>
                  <a:schemeClr val="tx1"/>
                </a:solidFill>
                <a:latin typeface="Arial" charset="0"/>
                <a:ea typeface="ＭＳ Ｐゴシック" pitchFamily="-107" charset="-128"/>
                <a:cs typeface="ＭＳ Ｐゴシック" pitchFamily="-107" charset="-128"/>
              </a:rPr>
              <a:t>■ </a:t>
            </a:r>
            <a:r>
              <a:rPr lang="en-US" sz="1200" b="1" kern="1200" baseline="0">
                <a:solidFill>
                  <a:schemeClr val="tx1"/>
                </a:solidFill>
                <a:latin typeface="Arial" charset="0"/>
                <a:ea typeface="ＭＳ Ｐゴシック" pitchFamily="-107" charset="-128"/>
                <a:cs typeface="ＭＳ Ｐゴシック" pitchFamily="-107" charset="-128"/>
              </a:rPr>
              <a:t>Plaintext</a:t>
            </a:r>
            <a:r>
              <a:rPr lang="en-US" sz="1200" b="0" kern="1200" baseline="0">
                <a:solidFill>
                  <a:schemeClr val="tx1"/>
                </a:solidFill>
                <a:latin typeface="Arial" charset="0"/>
                <a:ea typeface="ＭＳ Ｐゴシック" pitchFamily="-107" charset="-128"/>
                <a:cs typeface="ＭＳ Ｐゴシック" pitchFamily="-107" charset="-128"/>
              </a:rPr>
              <a:t>: This is the original intelligible message or data that is fed into the</a:t>
            </a:r>
          </a:p>
          <a:p>
            <a:r>
              <a:rPr lang="en-US" sz="1200" b="0" kern="1200" baseline="0">
                <a:solidFill>
                  <a:schemeClr val="tx1"/>
                </a:solidFill>
                <a:latin typeface="Arial" charset="0"/>
                <a:ea typeface="ＭＳ Ｐゴシック" pitchFamily="-107" charset="-128"/>
                <a:cs typeface="ＭＳ Ｐゴシック" pitchFamily="-107" charset="-128"/>
              </a:rPr>
              <a:t>algorithm as input.</a:t>
            </a:r>
          </a:p>
          <a:p>
            <a:endParaRPr lang="en-US" sz="1200" b="0" kern="1200" baseline="0">
              <a:solidFill>
                <a:schemeClr val="tx1"/>
              </a:solidFill>
              <a:latin typeface="Arial" charset="0"/>
              <a:ea typeface="ＭＳ Ｐゴシック" pitchFamily="-107" charset="-128"/>
              <a:cs typeface="ＭＳ Ｐゴシック" pitchFamily="-107" charset="-128"/>
            </a:endParaRPr>
          </a:p>
          <a:p>
            <a:r>
              <a:rPr lang="en-US" sz="1200" b="0" kern="1200" baseline="0">
                <a:solidFill>
                  <a:schemeClr val="tx1"/>
                </a:solidFill>
                <a:latin typeface="Arial" charset="0"/>
                <a:ea typeface="ＭＳ Ｐゴシック" pitchFamily="-107" charset="-128"/>
                <a:cs typeface="ＭＳ Ｐゴシック" pitchFamily="-107" charset="-128"/>
              </a:rPr>
              <a:t>■ </a:t>
            </a:r>
            <a:r>
              <a:rPr lang="en-US" sz="1200" b="1" kern="1200" baseline="0">
                <a:solidFill>
                  <a:schemeClr val="tx1"/>
                </a:solidFill>
                <a:latin typeface="Arial" charset="0"/>
                <a:ea typeface="ＭＳ Ｐゴシック" pitchFamily="-107" charset="-128"/>
                <a:cs typeface="ＭＳ Ｐゴシック" pitchFamily="-107" charset="-128"/>
              </a:rPr>
              <a:t>Encryption</a:t>
            </a:r>
            <a:r>
              <a:rPr lang="en-US" sz="1200" b="0" kern="1200" baseline="0">
                <a:solidFill>
                  <a:schemeClr val="tx1"/>
                </a:solidFill>
                <a:latin typeface="Arial" charset="0"/>
                <a:ea typeface="ＭＳ Ｐゴシック" pitchFamily="-107" charset="-128"/>
                <a:cs typeface="ＭＳ Ｐゴシック" pitchFamily="-107" charset="-128"/>
              </a:rPr>
              <a:t> </a:t>
            </a:r>
            <a:r>
              <a:rPr lang="en-US" sz="1200" b="1" kern="1200" baseline="0">
                <a:solidFill>
                  <a:schemeClr val="tx1"/>
                </a:solidFill>
                <a:latin typeface="Arial" charset="0"/>
                <a:ea typeface="ＭＳ Ｐゴシック" pitchFamily="-107" charset="-128"/>
                <a:cs typeface="ＭＳ Ｐゴシック" pitchFamily="-107" charset="-128"/>
              </a:rPr>
              <a:t>algorithm</a:t>
            </a:r>
            <a:r>
              <a:rPr lang="en-US" sz="1200" b="0" kern="1200" baseline="0">
                <a:solidFill>
                  <a:schemeClr val="tx1"/>
                </a:solidFill>
                <a:latin typeface="Arial" charset="0"/>
                <a:ea typeface="ＭＳ Ｐゴシック" pitchFamily="-107" charset="-128"/>
                <a:cs typeface="ＭＳ Ｐゴシック" pitchFamily="-107" charset="-128"/>
              </a:rPr>
              <a:t>: The encryption algorithm performs various substitutions</a:t>
            </a:r>
          </a:p>
          <a:p>
            <a:r>
              <a:rPr lang="en-US" sz="1200" b="0" kern="1200" baseline="0">
                <a:solidFill>
                  <a:schemeClr val="tx1"/>
                </a:solidFill>
                <a:latin typeface="Arial" charset="0"/>
                <a:ea typeface="ＭＳ Ｐゴシック" pitchFamily="-107" charset="-128"/>
                <a:cs typeface="ＭＳ Ｐゴシック" pitchFamily="-107" charset="-128"/>
              </a:rPr>
              <a:t>and transformations on the plaintext.</a:t>
            </a:r>
          </a:p>
          <a:p>
            <a:endParaRPr lang="en-US" sz="1200" b="0" kern="1200" baseline="0">
              <a:solidFill>
                <a:schemeClr val="tx1"/>
              </a:solidFill>
              <a:latin typeface="Arial" charset="0"/>
              <a:ea typeface="ＭＳ Ｐゴシック" pitchFamily="-107" charset="-128"/>
              <a:cs typeface="ＭＳ Ｐゴシック" pitchFamily="-107" charset="-128"/>
            </a:endParaRPr>
          </a:p>
          <a:p>
            <a:r>
              <a:rPr lang="en-US" sz="1200" b="0" kern="1200" baseline="0">
                <a:solidFill>
                  <a:schemeClr val="tx1"/>
                </a:solidFill>
                <a:latin typeface="Arial" charset="0"/>
                <a:ea typeface="ＭＳ Ｐゴシック" pitchFamily="-107" charset="-128"/>
                <a:cs typeface="ＭＳ Ｐゴシック" pitchFamily="-107" charset="-128"/>
              </a:rPr>
              <a:t>■ </a:t>
            </a:r>
            <a:r>
              <a:rPr lang="en-US" sz="1200" b="1" kern="1200" baseline="0">
                <a:solidFill>
                  <a:schemeClr val="tx1"/>
                </a:solidFill>
                <a:latin typeface="Arial" charset="0"/>
                <a:ea typeface="ＭＳ Ｐゴシック" pitchFamily="-107" charset="-128"/>
                <a:cs typeface="ＭＳ Ｐゴシック" pitchFamily="-107" charset="-128"/>
              </a:rPr>
              <a:t>Secret</a:t>
            </a:r>
            <a:r>
              <a:rPr lang="en-US" sz="1200" b="0" kern="1200" baseline="0">
                <a:solidFill>
                  <a:schemeClr val="tx1"/>
                </a:solidFill>
                <a:latin typeface="Arial" charset="0"/>
                <a:ea typeface="ＭＳ Ｐゴシック" pitchFamily="-107" charset="-128"/>
                <a:cs typeface="ＭＳ Ｐゴシック" pitchFamily="-107" charset="-128"/>
              </a:rPr>
              <a:t> </a:t>
            </a:r>
            <a:r>
              <a:rPr lang="en-US" sz="1200" b="1" kern="1200" baseline="0">
                <a:solidFill>
                  <a:schemeClr val="tx1"/>
                </a:solidFill>
                <a:latin typeface="Arial" charset="0"/>
                <a:ea typeface="ＭＳ Ｐゴシック" pitchFamily="-107" charset="-128"/>
                <a:cs typeface="ＭＳ Ｐゴシック" pitchFamily="-107" charset="-128"/>
              </a:rPr>
              <a:t>key</a:t>
            </a:r>
            <a:r>
              <a:rPr lang="en-US" sz="1200" b="0" kern="1200" baseline="0">
                <a:solidFill>
                  <a:schemeClr val="tx1"/>
                </a:solidFill>
                <a:latin typeface="Arial" charset="0"/>
                <a:ea typeface="ＭＳ Ｐゴシック" pitchFamily="-107" charset="-128"/>
                <a:cs typeface="ＭＳ Ｐゴシック" pitchFamily="-107" charset="-128"/>
              </a:rPr>
              <a:t>: The secret key is also input to the encryption algorithm. The key is</a:t>
            </a:r>
          </a:p>
          <a:p>
            <a:r>
              <a:rPr lang="en-US" sz="1200" b="0" kern="1200" baseline="0">
                <a:solidFill>
                  <a:schemeClr val="tx1"/>
                </a:solidFill>
                <a:latin typeface="Arial" charset="0"/>
                <a:ea typeface="ＭＳ Ｐゴシック" pitchFamily="-107" charset="-128"/>
                <a:cs typeface="ＭＳ Ｐゴシック" pitchFamily="-107" charset="-128"/>
              </a:rPr>
              <a:t>a value independent of the plaintext and of the algorithm. The algorithm will</a:t>
            </a:r>
          </a:p>
          <a:p>
            <a:r>
              <a:rPr lang="en-US" sz="1200" b="0" kern="1200" baseline="0">
                <a:solidFill>
                  <a:schemeClr val="tx1"/>
                </a:solidFill>
                <a:latin typeface="Arial" charset="0"/>
                <a:ea typeface="ＭＳ Ｐゴシック" pitchFamily="-107" charset="-128"/>
                <a:cs typeface="ＭＳ Ｐゴシック" pitchFamily="-107" charset="-128"/>
              </a:rPr>
              <a:t>produce a different output depending on the specific key being used at the</a:t>
            </a:r>
          </a:p>
          <a:p>
            <a:r>
              <a:rPr lang="en-US" sz="1200" b="0" kern="1200" baseline="0">
                <a:solidFill>
                  <a:schemeClr val="tx1"/>
                </a:solidFill>
                <a:latin typeface="Arial" charset="0"/>
                <a:ea typeface="ＭＳ Ｐゴシック" pitchFamily="-107" charset="-128"/>
                <a:cs typeface="ＭＳ Ｐゴシック" pitchFamily="-107" charset="-128"/>
              </a:rPr>
              <a:t>time. The exact substitutions and transformations performed by the algorithm</a:t>
            </a:r>
          </a:p>
          <a:p>
            <a:r>
              <a:rPr lang="en-US" sz="1200" b="0" kern="1200" baseline="0">
                <a:solidFill>
                  <a:schemeClr val="tx1"/>
                </a:solidFill>
                <a:latin typeface="Arial" charset="0"/>
                <a:ea typeface="ＭＳ Ｐゴシック" pitchFamily="-107" charset="-128"/>
                <a:cs typeface="ＭＳ Ｐゴシック" pitchFamily="-107" charset="-128"/>
              </a:rPr>
              <a:t>depend on the key.</a:t>
            </a:r>
          </a:p>
          <a:p>
            <a:endParaRPr lang="en-US" sz="1200" b="0" kern="1200" baseline="0">
              <a:solidFill>
                <a:schemeClr val="tx1"/>
              </a:solidFill>
              <a:latin typeface="Arial" charset="0"/>
              <a:ea typeface="ＭＳ Ｐゴシック" pitchFamily="-107" charset="-128"/>
              <a:cs typeface="ＭＳ Ｐゴシック" pitchFamily="-107" charset="-128"/>
            </a:endParaRPr>
          </a:p>
          <a:p>
            <a:r>
              <a:rPr lang="en-US" sz="1200" b="1" kern="1200" baseline="0">
                <a:solidFill>
                  <a:schemeClr val="tx1"/>
                </a:solidFill>
                <a:latin typeface="Arial" charset="0"/>
                <a:ea typeface="ＭＳ Ｐゴシック" pitchFamily="-107" charset="-128"/>
                <a:cs typeface="ＭＳ Ｐゴシック" pitchFamily="-107" charset="-128"/>
              </a:rPr>
              <a:t>■ </a:t>
            </a:r>
            <a:r>
              <a:rPr lang="en-US" sz="1200" b="1" kern="1200" baseline="0" err="1">
                <a:solidFill>
                  <a:schemeClr val="tx1"/>
                </a:solidFill>
                <a:latin typeface="Arial" charset="0"/>
                <a:ea typeface="ＭＳ Ｐゴシック" pitchFamily="-107" charset="-128"/>
                <a:cs typeface="ＭＳ Ｐゴシック" pitchFamily="-107" charset="-128"/>
              </a:rPr>
              <a:t>Ciphertext</a:t>
            </a:r>
            <a:r>
              <a:rPr lang="en-US" sz="1200" b="1" kern="1200" baseline="0">
                <a:solidFill>
                  <a:schemeClr val="tx1"/>
                </a:solidFill>
                <a:latin typeface="Arial" charset="0"/>
                <a:ea typeface="ＭＳ Ｐゴシック" pitchFamily="-107" charset="-128"/>
                <a:cs typeface="ＭＳ Ｐゴシック" pitchFamily="-107" charset="-128"/>
              </a:rPr>
              <a:t>: </a:t>
            </a:r>
            <a:r>
              <a:rPr lang="en-US" sz="1200" b="0" kern="1200" baseline="0">
                <a:solidFill>
                  <a:schemeClr val="tx1"/>
                </a:solidFill>
                <a:latin typeface="Arial" charset="0"/>
                <a:ea typeface="ＭＳ Ｐゴシック" pitchFamily="-107" charset="-128"/>
                <a:cs typeface="ＭＳ Ｐゴシック" pitchFamily="-107" charset="-128"/>
              </a:rPr>
              <a:t>This is the scrambled message produced as output. It depends on</a:t>
            </a:r>
          </a:p>
          <a:p>
            <a:r>
              <a:rPr lang="en-US" sz="1200" kern="1200" baseline="0">
                <a:solidFill>
                  <a:schemeClr val="tx1"/>
                </a:solidFill>
                <a:latin typeface="Arial" charset="0"/>
                <a:ea typeface="ＭＳ Ｐゴシック" pitchFamily="-107" charset="-128"/>
                <a:cs typeface="ＭＳ Ｐゴシック" pitchFamily="-107" charset="-128"/>
              </a:rPr>
              <a:t>the plaintext and the secret key. For a given message, two different keys will</a:t>
            </a:r>
          </a:p>
          <a:p>
            <a:r>
              <a:rPr lang="en-US" sz="1200" kern="1200" baseline="0">
                <a:solidFill>
                  <a:schemeClr val="tx1"/>
                </a:solidFill>
                <a:latin typeface="Arial" charset="0"/>
                <a:ea typeface="ＭＳ Ｐゴシック" pitchFamily="-107" charset="-128"/>
                <a:cs typeface="ＭＳ Ｐゴシック" pitchFamily="-107" charset="-128"/>
              </a:rPr>
              <a:t>produce two different </a:t>
            </a:r>
            <a:r>
              <a:rPr lang="en-US" sz="1200" kern="1200" baseline="0" err="1">
                <a:solidFill>
                  <a:schemeClr val="tx1"/>
                </a:solidFill>
                <a:latin typeface="Arial" charset="0"/>
                <a:ea typeface="ＭＳ Ｐゴシック" pitchFamily="-107" charset="-128"/>
                <a:cs typeface="ＭＳ Ｐゴシック" pitchFamily="-107" charset="-128"/>
              </a:rPr>
              <a:t>ciphertexts</a:t>
            </a:r>
            <a:r>
              <a:rPr lang="en-US" sz="1200" kern="1200" baseline="0">
                <a:solidFill>
                  <a:schemeClr val="tx1"/>
                </a:solidFill>
                <a:latin typeface="Arial" charset="0"/>
                <a:ea typeface="ＭＳ Ｐゴシック" pitchFamily="-107" charset="-128"/>
                <a:cs typeface="ＭＳ Ｐゴシック" pitchFamily="-107" charset="-128"/>
              </a:rPr>
              <a:t>. The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is an apparently random</a:t>
            </a:r>
          </a:p>
          <a:p>
            <a:r>
              <a:rPr lang="en-US" sz="1200" kern="1200" baseline="0">
                <a:solidFill>
                  <a:schemeClr val="tx1"/>
                </a:solidFill>
                <a:latin typeface="Arial" charset="0"/>
                <a:ea typeface="ＭＳ Ｐゴシック" pitchFamily="-107" charset="-128"/>
                <a:cs typeface="ＭＳ Ｐゴシック" pitchFamily="-107" charset="-128"/>
              </a:rPr>
              <a:t>stream of data and, as it stands, is unintelligible.</a:t>
            </a:r>
          </a:p>
          <a:p>
            <a:endParaRPr lang="en-US" sz="1200" b="1" kern="1200" baseline="0">
              <a:solidFill>
                <a:schemeClr val="tx1"/>
              </a:solidFill>
              <a:latin typeface="Arial" charset="0"/>
              <a:ea typeface="ＭＳ Ｐゴシック" pitchFamily="-107" charset="-128"/>
              <a:cs typeface="ＭＳ Ｐゴシック" pitchFamily="-107" charset="-128"/>
            </a:endParaRPr>
          </a:p>
          <a:p>
            <a:r>
              <a:rPr lang="en-US" sz="1200" b="1" kern="1200" baseline="0">
                <a:solidFill>
                  <a:schemeClr val="tx1"/>
                </a:solidFill>
                <a:latin typeface="Arial" charset="0"/>
                <a:ea typeface="ＭＳ Ｐゴシック" pitchFamily="-107" charset="-128"/>
                <a:cs typeface="ＭＳ Ｐゴシック" pitchFamily="-107" charset="-128"/>
              </a:rPr>
              <a:t>■ Decryption algorithm: This is essentially the encryption algorithm run in</a:t>
            </a:r>
          </a:p>
          <a:p>
            <a:r>
              <a:rPr lang="en-US" sz="1200" kern="1200" baseline="0">
                <a:solidFill>
                  <a:schemeClr val="tx1"/>
                </a:solidFill>
                <a:latin typeface="Arial" charset="0"/>
                <a:ea typeface="ＭＳ Ｐゴシック" pitchFamily="-107" charset="-128"/>
                <a:cs typeface="ＭＳ Ｐゴシック" pitchFamily="-107" charset="-128"/>
              </a:rPr>
              <a:t>reverse. It takes the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and the secret key and produces the original</a:t>
            </a:r>
          </a:p>
          <a:p>
            <a:r>
              <a:rPr lang="en-US" sz="1200" kern="1200" baseline="0">
                <a:solidFill>
                  <a:schemeClr val="tx1"/>
                </a:solidFill>
                <a:latin typeface="Arial" charset="0"/>
                <a:ea typeface="ＭＳ Ｐゴシック" pitchFamily="-107" charset="-128"/>
                <a:cs typeface="ＭＳ Ｐゴシック" pitchFamily="-107" charset="-128"/>
              </a:rPr>
              <a:t>plaintext.</a:t>
            </a:r>
            <a:endParaRPr lang="en-US" b="0"/>
          </a:p>
          <a:p>
            <a:endParaRPr lang="en-US" b="0"/>
          </a:p>
        </p:txBody>
      </p:sp>
      <p:sp>
        <p:nvSpPr>
          <p:cNvPr id="4" name="Slide Number Placeholder 3"/>
          <p:cNvSpPr>
            <a:spLocks noGrp="1"/>
          </p:cNvSpPr>
          <p:nvPr>
            <p:ph type="sldNum" sz="quarter" idx="10"/>
          </p:nvPr>
        </p:nvSpPr>
        <p:spPr/>
        <p:txBody>
          <a:bodyPr/>
          <a:lstStyle/>
          <a:p>
            <a:fld id="{A73D6722-9B4D-4E29-B226-C325925A8118}" type="slidenum">
              <a:rPr lang="en-US" smtClean="0"/>
              <a:t>10</a:t>
            </a:fld>
            <a:endParaRPr lang="en-US"/>
          </a:p>
        </p:txBody>
      </p:sp>
    </p:spTree>
    <p:extLst>
      <p:ext uri="{BB962C8B-B14F-4D97-AF65-F5344CB8AC3E}">
        <p14:creationId xmlns:p14="http://schemas.microsoft.com/office/powerpoint/2010/main" val="774351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endParaRPr lang="en-AU">
              <a:latin typeface="Arial" pitchFamily="-1" charset="0"/>
              <a:ea typeface="Arial" pitchFamily="-1" charset="0"/>
              <a:cs typeface="Arial" pitchFamily="-1"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11</a:t>
            </a:fld>
            <a:endParaRPr lang="en-US"/>
          </a:p>
        </p:txBody>
      </p:sp>
    </p:spTree>
    <p:extLst>
      <p:ext uri="{BB962C8B-B14F-4D97-AF65-F5344CB8AC3E}">
        <p14:creationId xmlns:p14="http://schemas.microsoft.com/office/powerpoint/2010/main" val="3521938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 Let us take a closer look at the essential elements of a symmetric encryption scheme, using Figure 3.2.</a:t>
            </a:r>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t>12</a:t>
            </a:fld>
            <a:endParaRPr lang="en-US"/>
          </a:p>
        </p:txBody>
      </p:sp>
    </p:spTree>
    <p:extLst>
      <p:ext uri="{BB962C8B-B14F-4D97-AF65-F5344CB8AC3E}">
        <p14:creationId xmlns:p14="http://schemas.microsoft.com/office/powerpoint/2010/main" val="774351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endParaRPr lang="en-AU">
              <a:latin typeface="Arial"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13</a:t>
            </a:fld>
            <a:endParaRPr lang="en-US"/>
          </a:p>
        </p:txBody>
      </p:sp>
    </p:spTree>
    <p:extLst>
      <p:ext uri="{BB962C8B-B14F-4D97-AF65-F5344CB8AC3E}">
        <p14:creationId xmlns:p14="http://schemas.microsoft.com/office/powerpoint/2010/main" val="28838037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endParaRPr lang="en-AU">
              <a:latin typeface="Arial"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14</a:t>
            </a:fld>
            <a:endParaRPr lang="en-US"/>
          </a:p>
        </p:txBody>
      </p:sp>
    </p:spTree>
    <p:extLst>
      <p:ext uri="{BB962C8B-B14F-4D97-AF65-F5344CB8AC3E}">
        <p14:creationId xmlns:p14="http://schemas.microsoft.com/office/powerpoint/2010/main" val="352193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CF552-28E4-BACF-6286-3B8A46DCC0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AAE47-379C-B283-70B6-08A3D56D5AF1}"/>
              </a:ext>
            </a:extLst>
          </p:cNvPr>
          <p:cNvSpPr>
            <a:spLocks noGrp="1" noRot="1" noChangeAspect="1"/>
          </p:cNvSpPr>
          <p:nvPr>
            <p:ph type="sldImg"/>
          </p:nvPr>
        </p:nvSpPr>
        <p:spPr>
          <a:xfrm>
            <a:off x="2270125" y="533400"/>
            <a:ext cx="4603750" cy="2590800"/>
          </a:xfrm>
        </p:spPr>
      </p:sp>
      <p:sp>
        <p:nvSpPr>
          <p:cNvPr id="3" name="Notes Placeholder 2">
            <a:extLst>
              <a:ext uri="{FF2B5EF4-FFF2-40B4-BE49-F238E27FC236}">
                <a16:creationId xmlns:a16="http://schemas.microsoft.com/office/drawing/2014/main" id="{2EBAB063-1B33-107B-CCDB-0D7E853AB188}"/>
              </a:ext>
            </a:extLst>
          </p:cNvPr>
          <p:cNvSpPr>
            <a:spLocks noGrp="1"/>
          </p:cNvSpPr>
          <p:nvPr>
            <p:ph type="body" idx="1"/>
          </p:nvPr>
        </p:nvSpPr>
        <p:spPr/>
        <p:txBody>
          <a:bodyPr/>
          <a:lstStyle/>
          <a:p>
            <a:endParaRPr lang="en-AU">
              <a:latin typeface="Arial" pitchFamily="-1" charset="0"/>
              <a:ea typeface="ＭＳ Ｐゴシック" pitchFamily="-1" charset="-128"/>
              <a:cs typeface="ＭＳ Ｐゴシック" pitchFamily="-1" charset="-128"/>
            </a:endParaRPr>
          </a:p>
        </p:txBody>
      </p:sp>
      <p:sp>
        <p:nvSpPr>
          <p:cNvPr id="4" name="Slide Number Placeholder 3">
            <a:extLst>
              <a:ext uri="{FF2B5EF4-FFF2-40B4-BE49-F238E27FC236}">
                <a16:creationId xmlns:a16="http://schemas.microsoft.com/office/drawing/2014/main" id="{85B0F8D7-0A72-E776-F505-EE1E16F91381}"/>
              </a:ext>
            </a:extLst>
          </p:cNvPr>
          <p:cNvSpPr>
            <a:spLocks noGrp="1"/>
          </p:cNvSpPr>
          <p:nvPr>
            <p:ph type="sldNum" sz="quarter" idx="10"/>
          </p:nvPr>
        </p:nvSpPr>
        <p:spPr/>
        <p:txBody>
          <a:bodyPr/>
          <a:lstStyle/>
          <a:p>
            <a:fld id="{A73D6722-9B4D-4E29-B226-C325925A8118}" type="slidenum">
              <a:rPr lang="en-US" smtClean="0"/>
              <a:t>15</a:t>
            </a:fld>
            <a:endParaRPr lang="en-US"/>
          </a:p>
        </p:txBody>
      </p:sp>
    </p:spTree>
    <p:extLst>
      <p:ext uri="{BB962C8B-B14F-4D97-AF65-F5344CB8AC3E}">
        <p14:creationId xmlns:p14="http://schemas.microsoft.com/office/powerpoint/2010/main" val="23179440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7E0AB-EDD2-C153-57A2-7802866C36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440FAA-2B8A-E733-2A3C-EB4024EAFC83}"/>
              </a:ext>
            </a:extLst>
          </p:cNvPr>
          <p:cNvSpPr>
            <a:spLocks noGrp="1" noRot="1" noChangeAspect="1"/>
          </p:cNvSpPr>
          <p:nvPr>
            <p:ph type="sldImg"/>
          </p:nvPr>
        </p:nvSpPr>
        <p:spPr>
          <a:xfrm>
            <a:off x="2270125" y="533400"/>
            <a:ext cx="4603750" cy="2590800"/>
          </a:xfrm>
        </p:spPr>
      </p:sp>
      <p:sp>
        <p:nvSpPr>
          <p:cNvPr id="3" name="Notes Placeholder 2">
            <a:extLst>
              <a:ext uri="{FF2B5EF4-FFF2-40B4-BE49-F238E27FC236}">
                <a16:creationId xmlns:a16="http://schemas.microsoft.com/office/drawing/2014/main" id="{1D52F2EA-505E-B720-EB67-6C48F5F468EA}"/>
              </a:ext>
            </a:extLst>
          </p:cNvPr>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The two basic building blocks of all encryption techniques are substitution</a:t>
            </a:r>
          </a:p>
          <a:p>
            <a:r>
              <a:rPr lang="en-US" sz="1200" kern="1200" baseline="0">
                <a:solidFill>
                  <a:schemeClr val="tx1"/>
                </a:solidFill>
                <a:latin typeface="Arial" charset="0"/>
                <a:ea typeface="ＭＳ Ｐゴシック" pitchFamily="-107" charset="-128"/>
                <a:cs typeface="ＭＳ Ｐゴシック" pitchFamily="-107" charset="-128"/>
              </a:rPr>
              <a:t>and transposition. We examine these in the next two sections. Finally, we discuss a</a:t>
            </a:r>
          </a:p>
          <a:p>
            <a:r>
              <a:rPr lang="en-US" sz="1200" kern="1200" baseline="0">
                <a:solidFill>
                  <a:schemeClr val="tx1"/>
                </a:solidFill>
                <a:latin typeface="Arial" charset="0"/>
                <a:ea typeface="ＭＳ Ｐゴシック" pitchFamily="-107" charset="-128"/>
                <a:cs typeface="ＭＳ Ｐゴシック" pitchFamily="-107" charset="-128"/>
              </a:rPr>
              <a:t>system that combines both substitution and transposition.</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A substitution technique is one in which the letters of plaintext are replaced by</a:t>
            </a:r>
          </a:p>
          <a:p>
            <a:r>
              <a:rPr lang="en-US" sz="1200" kern="1200" baseline="0">
                <a:solidFill>
                  <a:schemeClr val="tx1"/>
                </a:solidFill>
                <a:latin typeface="Arial" charset="0"/>
                <a:ea typeface="ＭＳ Ｐゴシック" pitchFamily="-107" charset="-128"/>
                <a:cs typeface="ＭＳ Ｐゴシック" pitchFamily="-107" charset="-128"/>
              </a:rPr>
              <a:t>other letters or by numbers or symbols.  If the plaintext is viewed as a sequence of bits,</a:t>
            </a:r>
          </a:p>
          <a:p>
            <a:r>
              <a:rPr lang="en-US" sz="1200" kern="1200" baseline="0">
                <a:solidFill>
                  <a:schemeClr val="tx1"/>
                </a:solidFill>
                <a:latin typeface="Arial" charset="0"/>
                <a:ea typeface="ＭＳ Ｐゴシック" pitchFamily="-107" charset="-128"/>
                <a:cs typeface="ＭＳ Ｐゴシック" pitchFamily="-107" charset="-128"/>
              </a:rPr>
              <a:t>then substitution involves replacing plaintext bit patterns with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bit patterns.</a:t>
            </a:r>
            <a:endParaRPr lang="en-AU">
              <a:latin typeface="Arial" pitchFamily="-1" charset="0"/>
              <a:ea typeface="ＭＳ Ｐゴシック" pitchFamily="-1" charset="-128"/>
              <a:cs typeface="ＭＳ Ｐゴシック" pitchFamily="-1" charset="-128"/>
            </a:endParaRPr>
          </a:p>
        </p:txBody>
      </p:sp>
      <p:sp>
        <p:nvSpPr>
          <p:cNvPr id="4" name="Slide Number Placeholder 3">
            <a:extLst>
              <a:ext uri="{FF2B5EF4-FFF2-40B4-BE49-F238E27FC236}">
                <a16:creationId xmlns:a16="http://schemas.microsoft.com/office/drawing/2014/main" id="{50934B57-F0F1-6832-D0A7-EFCF47DC530B}"/>
              </a:ext>
            </a:extLst>
          </p:cNvPr>
          <p:cNvSpPr>
            <a:spLocks noGrp="1"/>
          </p:cNvSpPr>
          <p:nvPr>
            <p:ph type="sldNum" sz="quarter" idx="10"/>
          </p:nvPr>
        </p:nvSpPr>
        <p:spPr/>
        <p:txBody>
          <a:bodyPr/>
          <a:lstStyle/>
          <a:p>
            <a:fld id="{A73D6722-9B4D-4E29-B226-C325925A8118}" type="slidenum">
              <a:rPr lang="en-US" smtClean="0"/>
              <a:t>16</a:t>
            </a:fld>
            <a:endParaRPr lang="en-US"/>
          </a:p>
        </p:txBody>
      </p:sp>
    </p:spTree>
    <p:extLst>
      <p:ext uri="{BB962C8B-B14F-4D97-AF65-F5344CB8AC3E}">
        <p14:creationId xmlns:p14="http://schemas.microsoft.com/office/powerpoint/2010/main" val="2964989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2E790-308E-88E9-8F51-681970D72D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711302-7F45-05DC-24A5-C0262626073D}"/>
              </a:ext>
            </a:extLst>
          </p:cNvPr>
          <p:cNvSpPr>
            <a:spLocks noGrp="1" noRot="1" noChangeAspect="1"/>
          </p:cNvSpPr>
          <p:nvPr>
            <p:ph type="sldImg"/>
          </p:nvPr>
        </p:nvSpPr>
        <p:spPr>
          <a:xfrm>
            <a:off x="2270125" y="533400"/>
            <a:ext cx="4603750" cy="2590800"/>
          </a:xfrm>
        </p:spPr>
      </p:sp>
      <p:sp>
        <p:nvSpPr>
          <p:cNvPr id="3" name="Notes Placeholder 2">
            <a:extLst>
              <a:ext uri="{FF2B5EF4-FFF2-40B4-BE49-F238E27FC236}">
                <a16:creationId xmlns:a16="http://schemas.microsoft.com/office/drawing/2014/main" id="{D306F9F8-CA31-C255-3B8E-B60132718177}"/>
              </a:ext>
            </a:extLst>
          </p:cNvPr>
          <p:cNvSpPr>
            <a:spLocks noGrp="1"/>
          </p:cNvSpPr>
          <p:nvPr>
            <p:ph type="body" idx="1"/>
          </p:nvPr>
        </p:nvSpPr>
        <p:spPr/>
        <p:txBody>
          <a:bodyPr/>
          <a:lstStyle/>
          <a:p>
            <a:endParaRPr lang="en-AU">
              <a:latin typeface="Arial" pitchFamily="-1" charset="0"/>
              <a:ea typeface="ＭＳ Ｐゴシック" pitchFamily="-1" charset="-128"/>
              <a:cs typeface="ＭＳ Ｐゴシック" pitchFamily="-1" charset="-128"/>
            </a:endParaRPr>
          </a:p>
        </p:txBody>
      </p:sp>
      <p:sp>
        <p:nvSpPr>
          <p:cNvPr id="4" name="Slide Number Placeholder 3">
            <a:extLst>
              <a:ext uri="{FF2B5EF4-FFF2-40B4-BE49-F238E27FC236}">
                <a16:creationId xmlns:a16="http://schemas.microsoft.com/office/drawing/2014/main" id="{26AAF5E2-D523-4731-F600-0434333FAA68}"/>
              </a:ext>
            </a:extLst>
          </p:cNvPr>
          <p:cNvSpPr>
            <a:spLocks noGrp="1"/>
          </p:cNvSpPr>
          <p:nvPr>
            <p:ph type="sldNum" sz="quarter" idx="10"/>
          </p:nvPr>
        </p:nvSpPr>
        <p:spPr/>
        <p:txBody>
          <a:bodyPr/>
          <a:lstStyle/>
          <a:p>
            <a:fld id="{A73D6722-9B4D-4E29-B226-C325925A8118}" type="slidenum">
              <a:rPr lang="en-US" smtClean="0"/>
              <a:t>17</a:t>
            </a:fld>
            <a:endParaRPr lang="en-US"/>
          </a:p>
        </p:txBody>
      </p:sp>
    </p:spTree>
    <p:extLst>
      <p:ext uri="{BB962C8B-B14F-4D97-AF65-F5344CB8AC3E}">
        <p14:creationId xmlns:p14="http://schemas.microsoft.com/office/powerpoint/2010/main" val="23307358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E6A93-947C-91ED-FDDF-DE58569F92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689906-8CC8-DE22-A875-CE614B098F45}"/>
              </a:ext>
            </a:extLst>
          </p:cNvPr>
          <p:cNvSpPr>
            <a:spLocks noGrp="1" noRot="1" noChangeAspect="1"/>
          </p:cNvSpPr>
          <p:nvPr>
            <p:ph type="sldImg"/>
          </p:nvPr>
        </p:nvSpPr>
        <p:spPr>
          <a:xfrm>
            <a:off x="2270125" y="533400"/>
            <a:ext cx="4603750" cy="2590800"/>
          </a:xfrm>
        </p:spPr>
      </p:sp>
      <p:sp>
        <p:nvSpPr>
          <p:cNvPr id="3" name="Notes Placeholder 2">
            <a:extLst>
              <a:ext uri="{FF2B5EF4-FFF2-40B4-BE49-F238E27FC236}">
                <a16:creationId xmlns:a16="http://schemas.microsoft.com/office/drawing/2014/main" id="{4066AA27-92BD-A07E-C749-EA06CE67798F}"/>
              </a:ext>
            </a:extLst>
          </p:cNvPr>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 The earliest known, and the simplest, use of a substitution cipher was by Julius</a:t>
            </a:r>
          </a:p>
          <a:p>
            <a:r>
              <a:rPr lang="en-US" sz="1200" kern="1200" baseline="0">
                <a:solidFill>
                  <a:schemeClr val="tx1"/>
                </a:solidFill>
                <a:latin typeface="Arial" charset="0"/>
                <a:ea typeface="ＭＳ Ｐゴシック" pitchFamily="-107" charset="-128"/>
                <a:cs typeface="ＭＳ Ｐゴシック" pitchFamily="-107" charset="-128"/>
              </a:rPr>
              <a:t>Caesar. The Caesar cipher involves replacing each letter of the alphabet with the</a:t>
            </a:r>
          </a:p>
          <a:p>
            <a:r>
              <a:rPr lang="en-US" sz="1200" kern="1200" baseline="0">
                <a:solidFill>
                  <a:schemeClr val="tx1"/>
                </a:solidFill>
                <a:latin typeface="Arial" charset="0"/>
                <a:ea typeface="ＭＳ Ｐゴシック" pitchFamily="-107" charset="-128"/>
                <a:cs typeface="ＭＳ Ｐゴシック" pitchFamily="-107" charset="-128"/>
              </a:rPr>
              <a:t>letter standing three places further down the alphabet.</a:t>
            </a:r>
          </a:p>
        </p:txBody>
      </p:sp>
      <p:sp>
        <p:nvSpPr>
          <p:cNvPr id="4" name="Slide Number Placeholder 3">
            <a:extLst>
              <a:ext uri="{FF2B5EF4-FFF2-40B4-BE49-F238E27FC236}">
                <a16:creationId xmlns:a16="http://schemas.microsoft.com/office/drawing/2014/main" id="{77B2751A-EBAE-72E1-3F10-6C156365697E}"/>
              </a:ext>
            </a:extLst>
          </p:cNvPr>
          <p:cNvSpPr>
            <a:spLocks noGrp="1"/>
          </p:cNvSpPr>
          <p:nvPr>
            <p:ph type="sldNum" sz="quarter" idx="10"/>
          </p:nvPr>
        </p:nvSpPr>
        <p:spPr/>
        <p:txBody>
          <a:bodyPr/>
          <a:lstStyle/>
          <a:p>
            <a:fld id="{A73D6722-9B4D-4E29-B226-C325925A8118}" type="slidenum">
              <a:rPr lang="en-US" smtClean="0"/>
              <a:t>18</a:t>
            </a:fld>
            <a:endParaRPr lang="en-US"/>
          </a:p>
        </p:txBody>
      </p:sp>
    </p:spTree>
    <p:extLst>
      <p:ext uri="{BB962C8B-B14F-4D97-AF65-F5344CB8AC3E}">
        <p14:creationId xmlns:p14="http://schemas.microsoft.com/office/powerpoint/2010/main" val="10994361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 The earliest known, and the simplest, use of a substitution cipher was by Julius</a:t>
            </a:r>
          </a:p>
          <a:p>
            <a:r>
              <a:rPr lang="en-US" sz="1200" kern="1200" baseline="0">
                <a:solidFill>
                  <a:schemeClr val="tx1"/>
                </a:solidFill>
                <a:latin typeface="Arial" charset="0"/>
                <a:ea typeface="ＭＳ Ｐゴシック" pitchFamily="-107" charset="-128"/>
                <a:cs typeface="ＭＳ Ｐゴシック" pitchFamily="-107" charset="-128"/>
              </a:rPr>
              <a:t>Caesar. The Caesar cipher involves replacing each letter of the alphabet with the</a:t>
            </a:r>
          </a:p>
          <a:p>
            <a:r>
              <a:rPr lang="en-US" sz="1200" kern="1200" baseline="0">
                <a:solidFill>
                  <a:schemeClr val="tx1"/>
                </a:solidFill>
                <a:latin typeface="Arial" charset="0"/>
                <a:ea typeface="ＭＳ Ｐゴシック" pitchFamily="-107" charset="-128"/>
                <a:cs typeface="ＭＳ Ｐゴシック" pitchFamily="-107" charset="-128"/>
              </a:rPr>
              <a:t>letter standing three places further down the alphabet.</a:t>
            </a:r>
          </a:p>
        </p:txBody>
      </p:sp>
      <p:sp>
        <p:nvSpPr>
          <p:cNvPr id="4" name="Slide Number Placeholder 3"/>
          <p:cNvSpPr>
            <a:spLocks noGrp="1"/>
          </p:cNvSpPr>
          <p:nvPr>
            <p:ph type="sldNum" sz="quarter" idx="10"/>
          </p:nvPr>
        </p:nvSpPr>
        <p:spPr/>
        <p:txBody>
          <a:bodyPr/>
          <a:lstStyle/>
          <a:p>
            <a:fld id="{A73D6722-9B4D-4E29-B226-C325925A8118}" type="slidenum">
              <a:rPr lang="en-US" smtClean="0"/>
              <a:t>19</a:t>
            </a:fld>
            <a:endParaRPr lang="en-US"/>
          </a:p>
        </p:txBody>
      </p:sp>
    </p:spTree>
    <p:extLst>
      <p:ext uri="{BB962C8B-B14F-4D97-AF65-F5344CB8AC3E}">
        <p14:creationId xmlns:p14="http://schemas.microsoft.com/office/powerpoint/2010/main" val="3521938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baseline="0">
                <a:solidFill>
                  <a:schemeClr val="tx1"/>
                </a:solidFill>
                <a:latin typeface="Arial" charset="0"/>
                <a:ea typeface="ＭＳ Ｐゴシック" pitchFamily="-107" charset="-128"/>
                <a:cs typeface="ＭＳ Ｐゴシック" pitchFamily="-107" charset="-128"/>
              </a:rPr>
              <a:t> Note that the alphabet is wrapped around, so that the letter following Z is A.</a:t>
            </a:r>
            <a:endParaRPr lang="en-AU">
              <a:latin typeface="Arial" pitchFamily="-1" charset="0"/>
              <a:ea typeface="ＭＳ Ｐゴシック" pitchFamily="-1" charset="-128"/>
              <a:cs typeface="ＭＳ Ｐゴシック" pitchFamily="-1" charset="-128"/>
            </a:endParaRP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An algorithm can be expressed as follows. For each plaintext letter </a:t>
            </a:r>
            <a:r>
              <a:rPr lang="en-US" sz="1200" b="0" kern="1200" baseline="0">
                <a:solidFill>
                  <a:schemeClr val="tx1"/>
                </a:solidFill>
                <a:latin typeface="Arial" charset="0"/>
                <a:ea typeface="ＭＳ Ｐゴシック" pitchFamily="-107" charset="-128"/>
                <a:cs typeface="ＭＳ Ｐゴシック" pitchFamily="-107" charset="-128"/>
              </a:rPr>
              <a:t>p , substitute</a:t>
            </a:r>
          </a:p>
          <a:p>
            <a:r>
              <a:rPr lang="en-US" sz="1200" kern="1200" baseline="0">
                <a:solidFill>
                  <a:schemeClr val="tx1"/>
                </a:solidFill>
                <a:latin typeface="Arial" charset="0"/>
                <a:ea typeface="ＭＳ Ｐゴシック" pitchFamily="-107" charset="-128"/>
                <a:cs typeface="ＭＳ Ｐゴシック" pitchFamily="-107" charset="-128"/>
              </a:rPr>
              <a:t>the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letter </a:t>
            </a:r>
            <a:r>
              <a:rPr lang="en-US" sz="1200" b="0" kern="1200" baseline="0">
                <a:solidFill>
                  <a:schemeClr val="tx1"/>
                </a:solidFill>
                <a:latin typeface="Arial" charset="0"/>
                <a:ea typeface="ＭＳ Ｐゴシック" pitchFamily="-107" charset="-128"/>
                <a:cs typeface="ＭＳ Ｐゴシック" pitchFamily="-107" charset="-128"/>
              </a:rPr>
              <a:t>C</a:t>
            </a:r>
            <a:endParaRPr lang="en-AU" b="0">
              <a:latin typeface="Arial"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20</a:t>
            </a:fld>
            <a:endParaRPr lang="en-US"/>
          </a:p>
        </p:txBody>
      </p:sp>
    </p:spTree>
    <p:extLst>
      <p:ext uri="{BB962C8B-B14F-4D97-AF65-F5344CB8AC3E}">
        <p14:creationId xmlns:p14="http://schemas.microsoft.com/office/powerpoint/2010/main" val="3521938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endParaRPr lang="en-AU">
              <a:latin typeface="Arial"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21</a:t>
            </a:fld>
            <a:endParaRPr lang="en-US"/>
          </a:p>
        </p:txBody>
      </p:sp>
    </p:spTree>
    <p:extLst>
      <p:ext uri="{BB962C8B-B14F-4D97-AF65-F5344CB8AC3E}">
        <p14:creationId xmlns:p14="http://schemas.microsoft.com/office/powerpoint/2010/main" val="3521938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endParaRPr lang="en-US" b="0">
              <a:latin typeface="Arial" pitchFamily="-1" charset="0"/>
              <a:ea typeface="Arial" pitchFamily="-1" charset="0"/>
              <a:cs typeface="Arial" pitchFamily="-1"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22</a:t>
            </a:fld>
            <a:endParaRPr lang="en-US"/>
          </a:p>
        </p:txBody>
      </p:sp>
    </p:spTree>
    <p:extLst>
      <p:ext uri="{BB962C8B-B14F-4D97-AF65-F5344CB8AC3E}">
        <p14:creationId xmlns:p14="http://schemas.microsoft.com/office/powerpoint/2010/main" val="3521938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7C63B-DC55-D94B-77BB-9D2DC29F47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689717-A1E2-F0C1-02C7-4780EB5A0E6B}"/>
              </a:ext>
            </a:extLst>
          </p:cNvPr>
          <p:cNvSpPr>
            <a:spLocks noGrp="1" noRot="1" noChangeAspect="1"/>
          </p:cNvSpPr>
          <p:nvPr>
            <p:ph type="sldImg"/>
          </p:nvPr>
        </p:nvSpPr>
        <p:spPr>
          <a:xfrm>
            <a:off x="2270125" y="533400"/>
            <a:ext cx="4603750" cy="2590800"/>
          </a:xfrm>
        </p:spPr>
      </p:sp>
      <p:sp>
        <p:nvSpPr>
          <p:cNvPr id="3" name="Notes Placeholder 2">
            <a:extLst>
              <a:ext uri="{FF2B5EF4-FFF2-40B4-BE49-F238E27FC236}">
                <a16:creationId xmlns:a16="http://schemas.microsoft.com/office/drawing/2014/main" id="{4908B5F2-BE5F-A6FC-26AE-080A3F0D4A85}"/>
              </a:ext>
            </a:extLst>
          </p:cNvPr>
          <p:cNvSpPr>
            <a:spLocks noGrp="1"/>
          </p:cNvSpPr>
          <p:nvPr>
            <p:ph type="body" idx="1"/>
          </p:nvPr>
        </p:nvSpPr>
        <p:spPr/>
        <p:txBody>
          <a:bodyPr/>
          <a:lstStyle/>
          <a:p>
            <a:endParaRPr lang="en-US" b="0">
              <a:latin typeface="Arial" pitchFamily="-1" charset="0"/>
              <a:ea typeface="Arial" pitchFamily="-1" charset="0"/>
              <a:cs typeface="Arial" pitchFamily="-1" charset="0"/>
            </a:endParaRPr>
          </a:p>
        </p:txBody>
      </p:sp>
      <p:sp>
        <p:nvSpPr>
          <p:cNvPr id="4" name="Slide Number Placeholder 3">
            <a:extLst>
              <a:ext uri="{FF2B5EF4-FFF2-40B4-BE49-F238E27FC236}">
                <a16:creationId xmlns:a16="http://schemas.microsoft.com/office/drawing/2014/main" id="{102D58CA-8C9F-3A62-3DE0-C58232B9B4E1}"/>
              </a:ext>
            </a:extLst>
          </p:cNvPr>
          <p:cNvSpPr>
            <a:spLocks noGrp="1"/>
          </p:cNvSpPr>
          <p:nvPr>
            <p:ph type="sldNum" sz="quarter" idx="10"/>
          </p:nvPr>
        </p:nvSpPr>
        <p:spPr/>
        <p:txBody>
          <a:bodyPr/>
          <a:lstStyle/>
          <a:p>
            <a:fld id="{A73D6722-9B4D-4E29-B226-C325925A8118}" type="slidenum">
              <a:rPr lang="en-US" smtClean="0"/>
              <a:t>23</a:t>
            </a:fld>
            <a:endParaRPr lang="en-US"/>
          </a:p>
        </p:txBody>
      </p:sp>
    </p:spTree>
    <p:extLst>
      <p:ext uri="{BB962C8B-B14F-4D97-AF65-F5344CB8AC3E}">
        <p14:creationId xmlns:p14="http://schemas.microsoft.com/office/powerpoint/2010/main" val="9686196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95676-3A08-3137-4A9D-784A025D27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F57FBB-A8F8-26DA-007C-7413533FF54C}"/>
              </a:ext>
            </a:extLst>
          </p:cNvPr>
          <p:cNvSpPr>
            <a:spLocks noGrp="1" noRot="1" noChangeAspect="1"/>
          </p:cNvSpPr>
          <p:nvPr>
            <p:ph type="sldImg"/>
          </p:nvPr>
        </p:nvSpPr>
        <p:spPr>
          <a:xfrm>
            <a:off x="2270125" y="533400"/>
            <a:ext cx="4603750" cy="2590800"/>
          </a:xfrm>
        </p:spPr>
      </p:sp>
      <p:sp>
        <p:nvSpPr>
          <p:cNvPr id="3" name="Notes Placeholder 2">
            <a:extLst>
              <a:ext uri="{FF2B5EF4-FFF2-40B4-BE49-F238E27FC236}">
                <a16:creationId xmlns:a16="http://schemas.microsoft.com/office/drawing/2014/main" id="{4DE4D68B-BC00-124A-8ED6-2B3A614A5863}"/>
              </a:ext>
            </a:extLst>
          </p:cNvPr>
          <p:cNvSpPr>
            <a:spLocks noGrp="1"/>
          </p:cNvSpPr>
          <p:nvPr>
            <p:ph type="body" idx="1"/>
          </p:nvPr>
        </p:nvSpPr>
        <p:spPr/>
        <p:txBody>
          <a:bodyPr/>
          <a:lstStyle/>
          <a:p>
            <a:endParaRPr lang="en-US" b="0">
              <a:latin typeface="Arial" pitchFamily="-1" charset="0"/>
              <a:ea typeface="Arial" pitchFamily="-1" charset="0"/>
              <a:cs typeface="Arial" pitchFamily="-1" charset="0"/>
            </a:endParaRPr>
          </a:p>
        </p:txBody>
      </p:sp>
      <p:sp>
        <p:nvSpPr>
          <p:cNvPr id="4" name="Slide Number Placeholder 3">
            <a:extLst>
              <a:ext uri="{FF2B5EF4-FFF2-40B4-BE49-F238E27FC236}">
                <a16:creationId xmlns:a16="http://schemas.microsoft.com/office/drawing/2014/main" id="{FB472845-0CF7-E06F-30A9-1E7777F800BA}"/>
              </a:ext>
            </a:extLst>
          </p:cNvPr>
          <p:cNvSpPr>
            <a:spLocks noGrp="1"/>
          </p:cNvSpPr>
          <p:nvPr>
            <p:ph type="sldNum" sz="quarter" idx="10"/>
          </p:nvPr>
        </p:nvSpPr>
        <p:spPr/>
        <p:txBody>
          <a:bodyPr/>
          <a:lstStyle/>
          <a:p>
            <a:fld id="{A73D6722-9B4D-4E29-B226-C325925A8118}" type="slidenum">
              <a:rPr lang="en-US" smtClean="0"/>
              <a:t>24</a:t>
            </a:fld>
            <a:endParaRPr lang="en-US"/>
          </a:p>
        </p:txBody>
      </p:sp>
    </p:spTree>
    <p:extLst>
      <p:ext uri="{BB962C8B-B14F-4D97-AF65-F5344CB8AC3E}">
        <p14:creationId xmlns:p14="http://schemas.microsoft.com/office/powerpoint/2010/main" val="24999343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endParaRPr lang="en-US" b="0">
              <a:latin typeface="Arial" pitchFamily="-1" charset="0"/>
              <a:ea typeface="Arial" pitchFamily="-1" charset="0"/>
              <a:cs typeface="Arial" pitchFamily="-1"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25</a:t>
            </a:fld>
            <a:endParaRPr lang="en-US"/>
          </a:p>
        </p:txBody>
      </p:sp>
    </p:spTree>
    <p:extLst>
      <p:ext uri="{BB962C8B-B14F-4D97-AF65-F5344CB8AC3E}">
        <p14:creationId xmlns:p14="http://schemas.microsoft.com/office/powerpoint/2010/main" val="28695370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 There is, however, another line of attack. If the cryptanalyst knows the nature</a:t>
            </a:r>
          </a:p>
          <a:p>
            <a:r>
              <a:rPr lang="en-US" sz="1200" kern="1200" baseline="0">
                <a:solidFill>
                  <a:schemeClr val="tx1"/>
                </a:solidFill>
                <a:latin typeface="Arial" charset="0"/>
                <a:ea typeface="ＭＳ Ｐゴシック" pitchFamily="-107" charset="-128"/>
                <a:cs typeface="ＭＳ Ｐゴシック" pitchFamily="-107" charset="-128"/>
              </a:rPr>
              <a:t>of the plaintext (e.g., </a:t>
            </a:r>
            <a:r>
              <a:rPr lang="en-US" sz="1200" kern="1200" baseline="0" err="1">
                <a:solidFill>
                  <a:schemeClr val="tx1"/>
                </a:solidFill>
                <a:latin typeface="Arial" charset="0"/>
                <a:ea typeface="ＭＳ Ｐゴシック" pitchFamily="-107" charset="-128"/>
                <a:cs typeface="ＭＳ Ｐゴシック" pitchFamily="-107" charset="-128"/>
              </a:rPr>
              <a:t>noncompressed</a:t>
            </a:r>
            <a:r>
              <a:rPr lang="en-US" sz="1200" kern="1200" baseline="0">
                <a:solidFill>
                  <a:schemeClr val="tx1"/>
                </a:solidFill>
                <a:latin typeface="Arial" charset="0"/>
                <a:ea typeface="ＭＳ Ｐゴシック" pitchFamily="-107" charset="-128"/>
                <a:cs typeface="ＭＳ Ｐゴシック" pitchFamily="-107" charset="-128"/>
              </a:rPr>
              <a:t> English text), then the analyst can exploit the</a:t>
            </a:r>
          </a:p>
          <a:p>
            <a:r>
              <a:rPr lang="en-US" sz="1200" kern="1200" baseline="0">
                <a:solidFill>
                  <a:schemeClr val="tx1"/>
                </a:solidFill>
                <a:latin typeface="Arial" charset="0"/>
                <a:ea typeface="ＭＳ Ｐゴシック" pitchFamily="-107" charset="-128"/>
                <a:cs typeface="ＭＳ Ｐゴシック" pitchFamily="-107" charset="-128"/>
              </a:rPr>
              <a:t>regularities of the language. To see how such a cryptanalysis might proceed, we give</a:t>
            </a:r>
          </a:p>
          <a:p>
            <a:r>
              <a:rPr lang="en-US" sz="1200" kern="1200" baseline="0">
                <a:solidFill>
                  <a:schemeClr val="tx1"/>
                </a:solidFill>
                <a:latin typeface="Arial" charset="0"/>
                <a:ea typeface="ＭＳ Ｐゴシック" pitchFamily="-107" charset="-128"/>
                <a:cs typeface="ＭＳ Ｐゴシック" pitchFamily="-107" charset="-128"/>
              </a:rPr>
              <a:t>a partial example here that is adapted from one in [SINK09]. The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to be</a:t>
            </a:r>
          </a:p>
          <a:p>
            <a:r>
              <a:rPr lang="en-US" sz="1200" kern="1200" baseline="0">
                <a:solidFill>
                  <a:schemeClr val="tx1"/>
                </a:solidFill>
                <a:latin typeface="Arial" charset="0"/>
                <a:ea typeface="ＭＳ Ｐゴシック" pitchFamily="-107" charset="-128"/>
                <a:cs typeface="ＭＳ Ｐゴシック" pitchFamily="-107" charset="-128"/>
              </a:rPr>
              <a:t>solved is</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 UZQSOVUOHXMOPVGPOZPEVSGZWSZOPFPESXUDBMETSXAIZ</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VUEPHZHMDZSHZOWSFPAPPDTSVPQUZWYMXUZUHSX</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EPYEPOPDZSZUFPOMBZWPFUPZHMDJUDTMOHMQ</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 As a first step, the relative frequency of the letters can be determined and</a:t>
            </a:r>
          </a:p>
          <a:p>
            <a:r>
              <a:rPr lang="en-US" sz="1200" kern="1200" baseline="0">
                <a:solidFill>
                  <a:schemeClr val="tx1"/>
                </a:solidFill>
                <a:latin typeface="Arial" charset="0"/>
                <a:ea typeface="ＭＳ Ｐゴシック" pitchFamily="-107" charset="-128"/>
                <a:cs typeface="ＭＳ Ｐゴシック" pitchFamily="-107" charset="-128"/>
              </a:rPr>
              <a:t>compared to a standard frequency distribution for English, such as is shown in</a:t>
            </a:r>
          </a:p>
          <a:p>
            <a:r>
              <a:rPr lang="en-US" sz="1200" kern="1200" baseline="0">
                <a:solidFill>
                  <a:schemeClr val="tx1"/>
                </a:solidFill>
                <a:latin typeface="Arial" charset="0"/>
                <a:ea typeface="ＭＳ Ｐゴシック" pitchFamily="-107" charset="-128"/>
                <a:cs typeface="ＭＳ Ｐゴシック" pitchFamily="-107" charset="-128"/>
              </a:rPr>
              <a:t>Figure 3.5 (based on [LEWA00]). If the message were long enough, this technique</a:t>
            </a:r>
          </a:p>
          <a:p>
            <a:r>
              <a:rPr lang="en-US" sz="1200" kern="1200" baseline="0">
                <a:solidFill>
                  <a:schemeClr val="tx1"/>
                </a:solidFill>
                <a:latin typeface="Arial" charset="0"/>
                <a:ea typeface="ＭＳ Ｐゴシック" pitchFamily="-107" charset="-128"/>
                <a:cs typeface="ＭＳ Ｐゴシック" pitchFamily="-107" charset="-128"/>
              </a:rPr>
              <a:t>alone might be sufficient, but because this is a relatively short message, we cannot</a:t>
            </a:r>
          </a:p>
          <a:p>
            <a:r>
              <a:rPr lang="en-US" sz="1200" kern="1200" baseline="0">
                <a:solidFill>
                  <a:schemeClr val="tx1"/>
                </a:solidFill>
                <a:latin typeface="Arial" charset="0"/>
                <a:ea typeface="ＭＳ Ｐゴシック" pitchFamily="-107" charset="-128"/>
                <a:cs typeface="ＭＳ Ｐゴシック" pitchFamily="-107" charset="-128"/>
              </a:rPr>
              <a:t>expect an exact match. In any case, the relative frequencies of the letters in the</a:t>
            </a:r>
          </a:p>
          <a:p>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(in percentages) are as follows:</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P 13.33 	H 5.83 	F 3.33 	B 1.67 	C 0.00</a:t>
            </a:r>
          </a:p>
          <a:p>
            <a:r>
              <a:rPr lang="en-US" sz="1200" kern="1200" baseline="0">
                <a:solidFill>
                  <a:schemeClr val="tx1"/>
                </a:solidFill>
                <a:latin typeface="Arial" charset="0"/>
                <a:ea typeface="ＭＳ Ｐゴシック" pitchFamily="-107" charset="-128"/>
                <a:cs typeface="ＭＳ Ｐゴシック" pitchFamily="-107" charset="-128"/>
              </a:rPr>
              <a:t>Z 11.67 	D 5.00 	W 3.33 	G 1.67 	K 0.00</a:t>
            </a:r>
          </a:p>
          <a:p>
            <a:r>
              <a:rPr lang="en-US" sz="1200" kern="1200" baseline="0">
                <a:solidFill>
                  <a:schemeClr val="tx1"/>
                </a:solidFill>
                <a:latin typeface="Arial" charset="0"/>
                <a:ea typeface="ＭＳ Ｐゴシック" pitchFamily="-107" charset="-128"/>
                <a:cs typeface="ＭＳ Ｐゴシック" pitchFamily="-107" charset="-128"/>
              </a:rPr>
              <a:t>S 8.33 	E 5.00 	Q 2.50 	Y 1.67 	L 0.00</a:t>
            </a:r>
          </a:p>
          <a:p>
            <a:r>
              <a:rPr lang="en-US" sz="1200" kern="1200" baseline="0">
                <a:solidFill>
                  <a:schemeClr val="tx1"/>
                </a:solidFill>
                <a:latin typeface="Arial" charset="0"/>
                <a:ea typeface="ＭＳ Ｐゴシック" pitchFamily="-107" charset="-128"/>
                <a:cs typeface="ＭＳ Ｐゴシック" pitchFamily="-107" charset="-128"/>
              </a:rPr>
              <a:t>U 8.33 	V 4.17 	T 2.50 	I 0.83 	N 0.00</a:t>
            </a:r>
          </a:p>
          <a:p>
            <a:r>
              <a:rPr lang="en-US" sz="1200" kern="1200" baseline="0">
                <a:solidFill>
                  <a:schemeClr val="tx1"/>
                </a:solidFill>
                <a:latin typeface="Arial" charset="0"/>
                <a:ea typeface="ＭＳ Ｐゴシック" pitchFamily="-107" charset="-128"/>
                <a:cs typeface="ＭＳ Ｐゴシック" pitchFamily="-107" charset="-128"/>
              </a:rPr>
              <a:t>O 7.50 	X 4.17 	A 1.67 	J 0.83 	R 0.00</a:t>
            </a:r>
          </a:p>
          <a:p>
            <a:r>
              <a:rPr lang="en-US" sz="1200" kern="1200" baseline="0">
                <a:solidFill>
                  <a:schemeClr val="tx1"/>
                </a:solidFill>
                <a:latin typeface="Arial" charset="0"/>
                <a:ea typeface="ＭＳ Ｐゴシック" pitchFamily="-107" charset="-128"/>
                <a:cs typeface="ＭＳ Ｐゴシック" pitchFamily="-107" charset="-128"/>
              </a:rPr>
              <a:t>M 6.67</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 Comparing this breakdown with Figure 3.5, it seems likely that cipher letters P</a:t>
            </a:r>
          </a:p>
          <a:p>
            <a:r>
              <a:rPr lang="en-US" sz="1200" kern="1200" baseline="0">
                <a:solidFill>
                  <a:schemeClr val="tx1"/>
                </a:solidFill>
                <a:latin typeface="Arial" charset="0"/>
                <a:ea typeface="ＭＳ Ｐゴシック" pitchFamily="-107" charset="-128"/>
                <a:cs typeface="ＭＳ Ｐゴシック" pitchFamily="-107" charset="-128"/>
              </a:rPr>
              <a:t>and Z are the equivalents of plain letters e and t, but it is not certain which is which.</a:t>
            </a:r>
          </a:p>
          <a:p>
            <a:r>
              <a:rPr lang="en-US" sz="1200" kern="1200" baseline="0">
                <a:solidFill>
                  <a:schemeClr val="tx1"/>
                </a:solidFill>
                <a:latin typeface="Arial" charset="0"/>
                <a:ea typeface="ＭＳ Ｐゴシック" pitchFamily="-107" charset="-128"/>
                <a:cs typeface="ＭＳ Ｐゴシック" pitchFamily="-107" charset="-128"/>
              </a:rPr>
              <a:t>The letters S, U, O, M, and H are all of relatively high frequency and probably correspond</a:t>
            </a:r>
          </a:p>
          <a:p>
            <a:r>
              <a:rPr lang="en-US" sz="1200" kern="1200" baseline="0">
                <a:solidFill>
                  <a:schemeClr val="tx1"/>
                </a:solidFill>
                <a:latin typeface="Arial" charset="0"/>
                <a:ea typeface="ＭＳ Ｐゴシック" pitchFamily="-107" charset="-128"/>
                <a:cs typeface="ＭＳ Ｐゴシック" pitchFamily="-107" charset="-128"/>
              </a:rPr>
              <a:t>to plain letters from the set {a, h, </a:t>
            </a:r>
            <a:r>
              <a:rPr lang="en-US" sz="1200" kern="1200" baseline="0" err="1">
                <a:solidFill>
                  <a:schemeClr val="tx1"/>
                </a:solidFill>
                <a:latin typeface="Arial" charset="0"/>
                <a:ea typeface="ＭＳ Ｐゴシック" pitchFamily="-107" charset="-128"/>
                <a:cs typeface="ＭＳ Ｐゴシック" pitchFamily="-107" charset="-128"/>
              </a:rPr>
              <a:t>i</a:t>
            </a:r>
            <a:r>
              <a:rPr lang="en-US" sz="1200" kern="1200" baseline="0">
                <a:solidFill>
                  <a:schemeClr val="tx1"/>
                </a:solidFill>
                <a:latin typeface="Arial" charset="0"/>
                <a:ea typeface="ＭＳ Ｐゴシック" pitchFamily="-107" charset="-128"/>
                <a:cs typeface="ＭＳ Ｐゴシック" pitchFamily="-107" charset="-128"/>
              </a:rPr>
              <a:t>, n, o, r, s}. The letters with the lowest</a:t>
            </a:r>
          </a:p>
          <a:p>
            <a:r>
              <a:rPr lang="en-US" sz="1200" kern="1200" baseline="0">
                <a:solidFill>
                  <a:schemeClr val="tx1"/>
                </a:solidFill>
                <a:latin typeface="Arial" charset="0"/>
                <a:ea typeface="ＭＳ Ｐゴシック" pitchFamily="-107" charset="-128"/>
                <a:cs typeface="ＭＳ Ｐゴシック" pitchFamily="-107" charset="-128"/>
              </a:rPr>
              <a:t>frequencies (namely, A, B, G, Y, I, J) are likely included in the set {b, j, k, q, v, x, z}.</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There are a number of ways to proceed at this point. We could make some tentative</a:t>
            </a:r>
          </a:p>
          <a:p>
            <a:r>
              <a:rPr lang="en-US" sz="1200" kern="1200" baseline="0">
                <a:solidFill>
                  <a:schemeClr val="tx1"/>
                </a:solidFill>
                <a:latin typeface="Arial" charset="0"/>
                <a:ea typeface="ＭＳ Ｐゴシック" pitchFamily="-107" charset="-128"/>
                <a:cs typeface="ＭＳ Ｐゴシック" pitchFamily="-107" charset="-128"/>
              </a:rPr>
              <a:t>assignments and start to fill in the plaintext to see if it looks like a reasonable</a:t>
            </a:r>
          </a:p>
          <a:p>
            <a:r>
              <a:rPr lang="en-US" sz="1200" kern="1200" baseline="0">
                <a:solidFill>
                  <a:schemeClr val="tx1"/>
                </a:solidFill>
                <a:latin typeface="Arial" charset="0"/>
                <a:ea typeface="ＭＳ Ｐゴシック" pitchFamily="-107" charset="-128"/>
                <a:cs typeface="ＭＳ Ｐゴシック" pitchFamily="-107" charset="-128"/>
              </a:rPr>
              <a:t>“skeleton” of a message. A more systematic approach is to look for other regularities.</a:t>
            </a:r>
          </a:p>
          <a:p>
            <a:r>
              <a:rPr lang="en-US" sz="1200" kern="1200" baseline="0">
                <a:solidFill>
                  <a:schemeClr val="tx1"/>
                </a:solidFill>
                <a:latin typeface="Arial" charset="0"/>
                <a:ea typeface="ＭＳ Ｐゴシック" pitchFamily="-107" charset="-128"/>
                <a:cs typeface="ＭＳ Ｐゴシック" pitchFamily="-107" charset="-128"/>
              </a:rPr>
              <a:t>For example, certain words may be known to be in the text. Or we could look for</a:t>
            </a:r>
          </a:p>
          <a:p>
            <a:r>
              <a:rPr lang="en-US" sz="1200" kern="1200" baseline="0">
                <a:solidFill>
                  <a:schemeClr val="tx1"/>
                </a:solidFill>
                <a:latin typeface="Arial" charset="0"/>
                <a:ea typeface="ＭＳ Ｐゴシック" pitchFamily="-107" charset="-128"/>
                <a:cs typeface="ＭＳ Ｐゴシック" pitchFamily="-107" charset="-128"/>
              </a:rPr>
              <a:t>repeating sequences of cipher letters and try to deduce their plaintext equivalents.</a:t>
            </a:r>
            <a:endParaRPr lang="en-US">
              <a:latin typeface="Arial" pitchFamily="-1" charset="0"/>
              <a:ea typeface="Arial" pitchFamily="-1" charset="0"/>
              <a:cs typeface="Arial" pitchFamily="-1"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26</a:t>
            </a:fld>
            <a:endParaRPr lang="en-US"/>
          </a:p>
        </p:txBody>
      </p:sp>
    </p:spTree>
    <p:extLst>
      <p:ext uri="{BB962C8B-B14F-4D97-AF65-F5344CB8AC3E}">
        <p14:creationId xmlns:p14="http://schemas.microsoft.com/office/powerpoint/2010/main" val="3521938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endParaRPr lang="en-US">
              <a:latin typeface="Arial" pitchFamily="-1" charset="0"/>
              <a:ea typeface="Arial" pitchFamily="-1" charset="0"/>
              <a:cs typeface="Arial" pitchFamily="-1"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27</a:t>
            </a:fld>
            <a:endParaRPr lang="en-US"/>
          </a:p>
        </p:txBody>
      </p:sp>
    </p:spTree>
    <p:extLst>
      <p:ext uri="{BB962C8B-B14F-4D97-AF65-F5344CB8AC3E}">
        <p14:creationId xmlns:p14="http://schemas.microsoft.com/office/powerpoint/2010/main" val="18034606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endParaRPr lang="en-US">
              <a:latin typeface="Arial" pitchFamily="-1" charset="0"/>
              <a:ea typeface="Arial" pitchFamily="-1" charset="0"/>
              <a:cs typeface="Arial" pitchFamily="-1"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28</a:t>
            </a:fld>
            <a:endParaRPr lang="en-US"/>
          </a:p>
        </p:txBody>
      </p:sp>
    </p:spTree>
    <p:extLst>
      <p:ext uri="{BB962C8B-B14F-4D97-AF65-F5344CB8AC3E}">
        <p14:creationId xmlns:p14="http://schemas.microsoft.com/office/powerpoint/2010/main" val="42030541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endParaRPr lang="en-US">
              <a:latin typeface="Arial" pitchFamily="-1" charset="0"/>
              <a:ea typeface="Arial" pitchFamily="-1" charset="0"/>
              <a:cs typeface="Arial" pitchFamily="-1"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29</a:t>
            </a:fld>
            <a:endParaRPr lang="en-US"/>
          </a:p>
        </p:txBody>
      </p:sp>
    </p:spTree>
    <p:extLst>
      <p:ext uri="{BB962C8B-B14F-4D97-AF65-F5344CB8AC3E}">
        <p14:creationId xmlns:p14="http://schemas.microsoft.com/office/powerpoint/2010/main" val="20700678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endParaRPr lang="en-US">
              <a:latin typeface="Arial" pitchFamily="-1" charset="0"/>
              <a:ea typeface="Arial" pitchFamily="-1" charset="0"/>
              <a:cs typeface="Arial" pitchFamily="-1"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30</a:t>
            </a:fld>
            <a:endParaRPr lang="en-US"/>
          </a:p>
        </p:txBody>
      </p:sp>
    </p:spTree>
    <p:extLst>
      <p:ext uri="{BB962C8B-B14F-4D97-AF65-F5344CB8AC3E}">
        <p14:creationId xmlns:p14="http://schemas.microsoft.com/office/powerpoint/2010/main" val="1683805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endParaRPr lang="en-AU">
              <a:solidFill>
                <a:srgbClr val="000000"/>
              </a:solidFill>
              <a:latin typeface="Arial" pitchFamily="-1" charset="0"/>
              <a:ea typeface="Arial" pitchFamily="-1" charset="0"/>
              <a:cs typeface="Arial" pitchFamily="-1"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31</a:t>
            </a:fld>
            <a:endParaRPr lang="en-US"/>
          </a:p>
        </p:txBody>
      </p:sp>
    </p:spTree>
    <p:extLst>
      <p:ext uri="{BB962C8B-B14F-4D97-AF65-F5344CB8AC3E}">
        <p14:creationId xmlns:p14="http://schemas.microsoft.com/office/powerpoint/2010/main" val="3521938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B52CF-B483-E36F-A5C5-7B9844102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5F1CDD-E0F8-4F7E-1428-C24EFF00F11C}"/>
              </a:ext>
            </a:extLst>
          </p:cNvPr>
          <p:cNvSpPr>
            <a:spLocks noGrp="1" noRot="1" noChangeAspect="1"/>
          </p:cNvSpPr>
          <p:nvPr>
            <p:ph type="sldImg"/>
          </p:nvPr>
        </p:nvSpPr>
        <p:spPr>
          <a:xfrm>
            <a:off x="2270125" y="533400"/>
            <a:ext cx="4603750" cy="2590800"/>
          </a:xfrm>
        </p:spPr>
      </p:sp>
      <p:sp>
        <p:nvSpPr>
          <p:cNvPr id="3" name="Notes Placeholder 2">
            <a:extLst>
              <a:ext uri="{FF2B5EF4-FFF2-40B4-BE49-F238E27FC236}">
                <a16:creationId xmlns:a16="http://schemas.microsoft.com/office/drawing/2014/main" id="{92D7D7D5-B377-9806-F078-D5914E0B7697}"/>
              </a:ext>
            </a:extLst>
          </p:cNvPr>
          <p:cNvSpPr>
            <a:spLocks noGrp="1"/>
          </p:cNvSpPr>
          <p:nvPr>
            <p:ph type="body" idx="1"/>
          </p:nvPr>
        </p:nvSpPr>
        <p:spPr/>
        <p:txBody>
          <a:bodyPr/>
          <a:lstStyle/>
          <a:p>
            <a:endParaRPr lang="en-AU">
              <a:latin typeface="Arial" pitchFamily="-1" charset="0"/>
              <a:ea typeface="ＭＳ Ｐゴシック" pitchFamily="-1" charset="-128"/>
              <a:cs typeface="ＭＳ Ｐゴシック" pitchFamily="-1" charset="-128"/>
            </a:endParaRPr>
          </a:p>
        </p:txBody>
      </p:sp>
      <p:sp>
        <p:nvSpPr>
          <p:cNvPr id="4" name="Slide Number Placeholder 3">
            <a:extLst>
              <a:ext uri="{FF2B5EF4-FFF2-40B4-BE49-F238E27FC236}">
                <a16:creationId xmlns:a16="http://schemas.microsoft.com/office/drawing/2014/main" id="{3ACD247F-D516-8290-928C-3EA9058DCDC4}"/>
              </a:ext>
            </a:extLst>
          </p:cNvPr>
          <p:cNvSpPr>
            <a:spLocks noGrp="1"/>
          </p:cNvSpPr>
          <p:nvPr>
            <p:ph type="sldNum" sz="quarter" idx="10"/>
          </p:nvPr>
        </p:nvSpPr>
        <p:spPr/>
        <p:txBody>
          <a:bodyPr/>
          <a:lstStyle/>
          <a:p>
            <a:fld id="{A73D6722-9B4D-4E29-B226-C325925A8118}" type="slidenum">
              <a:rPr lang="en-US" smtClean="0"/>
              <a:t>32</a:t>
            </a:fld>
            <a:endParaRPr lang="en-US"/>
          </a:p>
        </p:txBody>
      </p:sp>
    </p:spTree>
    <p:extLst>
      <p:ext uri="{BB962C8B-B14F-4D97-AF65-F5344CB8AC3E}">
        <p14:creationId xmlns:p14="http://schemas.microsoft.com/office/powerpoint/2010/main" val="29297349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endParaRPr lang="en-AU">
              <a:latin typeface="Arial"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33</a:t>
            </a:fld>
            <a:endParaRPr lang="en-US"/>
          </a:p>
        </p:txBody>
      </p:sp>
    </p:spTree>
    <p:extLst>
      <p:ext uri="{BB962C8B-B14F-4D97-AF65-F5344CB8AC3E}">
        <p14:creationId xmlns:p14="http://schemas.microsoft.com/office/powerpoint/2010/main" val="160142057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endParaRPr lang="en-AU">
              <a:latin typeface="Arial"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34</a:t>
            </a:fld>
            <a:endParaRPr lang="en-US"/>
          </a:p>
        </p:txBody>
      </p:sp>
    </p:spTree>
    <p:extLst>
      <p:ext uri="{BB962C8B-B14F-4D97-AF65-F5344CB8AC3E}">
        <p14:creationId xmlns:p14="http://schemas.microsoft.com/office/powerpoint/2010/main" val="2729765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 Another way to improve on the simple </a:t>
            </a:r>
            <a:r>
              <a:rPr lang="en-US" sz="1200" kern="1200" baseline="0" err="1">
                <a:solidFill>
                  <a:schemeClr val="tx1"/>
                </a:solidFill>
                <a:latin typeface="Arial" charset="0"/>
                <a:ea typeface="ＭＳ Ｐゴシック" pitchFamily="-107" charset="-128"/>
                <a:cs typeface="ＭＳ Ｐゴシック" pitchFamily="-107" charset="-128"/>
              </a:rPr>
              <a:t>monoalphabetic</a:t>
            </a:r>
            <a:r>
              <a:rPr lang="en-US" sz="1200" kern="1200" baseline="0">
                <a:solidFill>
                  <a:schemeClr val="tx1"/>
                </a:solidFill>
                <a:latin typeface="Arial" charset="0"/>
                <a:ea typeface="ＭＳ Ｐゴシック" pitchFamily="-107" charset="-128"/>
                <a:cs typeface="ＭＳ Ｐゴシック" pitchFamily="-107" charset="-128"/>
              </a:rPr>
              <a:t> technique is to use different</a:t>
            </a:r>
          </a:p>
          <a:p>
            <a:r>
              <a:rPr lang="en-US" sz="1200" kern="1200" baseline="0" err="1">
                <a:solidFill>
                  <a:schemeClr val="tx1"/>
                </a:solidFill>
                <a:latin typeface="Arial" charset="0"/>
                <a:ea typeface="ＭＳ Ｐゴシック" pitchFamily="-107" charset="-128"/>
                <a:cs typeface="ＭＳ Ｐゴシック" pitchFamily="-107" charset="-128"/>
              </a:rPr>
              <a:t>monoalphabetic</a:t>
            </a:r>
            <a:r>
              <a:rPr lang="en-US" sz="1200" kern="1200" baseline="0">
                <a:solidFill>
                  <a:schemeClr val="tx1"/>
                </a:solidFill>
                <a:latin typeface="Arial" charset="0"/>
                <a:ea typeface="ＭＳ Ｐゴシック" pitchFamily="-107" charset="-128"/>
                <a:cs typeface="ＭＳ Ｐゴシック" pitchFamily="-107" charset="-128"/>
              </a:rPr>
              <a:t> substitutions as one proceeds through the plaintext message.</a:t>
            </a:r>
          </a:p>
          <a:p>
            <a:r>
              <a:rPr lang="en-US" sz="1200" kern="1200" baseline="0">
                <a:solidFill>
                  <a:schemeClr val="tx1"/>
                </a:solidFill>
                <a:latin typeface="Arial" charset="0"/>
                <a:ea typeface="ＭＳ Ｐゴシック" pitchFamily="-107" charset="-128"/>
                <a:cs typeface="ＭＳ Ｐゴシック" pitchFamily="-107" charset="-128"/>
              </a:rPr>
              <a:t>The general name for this approach is </a:t>
            </a:r>
            <a:r>
              <a:rPr lang="en-US" sz="1200" b="1" kern="1200" baseline="0">
                <a:solidFill>
                  <a:schemeClr val="tx1"/>
                </a:solidFill>
                <a:latin typeface="Arial" charset="0"/>
                <a:ea typeface="ＭＳ Ｐゴシック" pitchFamily="-107" charset="-128"/>
                <a:cs typeface="ＭＳ Ｐゴシック" pitchFamily="-107" charset="-128"/>
              </a:rPr>
              <a:t>polyalphabetic</a:t>
            </a:r>
            <a:r>
              <a:rPr lang="en-US" sz="1200" kern="1200" baseline="0">
                <a:solidFill>
                  <a:schemeClr val="tx1"/>
                </a:solidFill>
                <a:latin typeface="Arial" charset="0"/>
                <a:ea typeface="ＭＳ Ｐゴシック" pitchFamily="-107" charset="-128"/>
                <a:cs typeface="ＭＳ Ｐゴシック" pitchFamily="-107" charset="-128"/>
              </a:rPr>
              <a:t> </a:t>
            </a:r>
            <a:r>
              <a:rPr lang="en-US" sz="1200" b="1" kern="1200" baseline="0">
                <a:solidFill>
                  <a:schemeClr val="tx1"/>
                </a:solidFill>
                <a:latin typeface="Arial" charset="0"/>
                <a:ea typeface="ＭＳ Ｐゴシック" pitchFamily="-107" charset="-128"/>
                <a:cs typeface="ＭＳ Ｐゴシック" pitchFamily="-107" charset="-128"/>
              </a:rPr>
              <a:t>substitution</a:t>
            </a:r>
            <a:r>
              <a:rPr lang="en-US" sz="1200" kern="1200" baseline="0">
                <a:solidFill>
                  <a:schemeClr val="tx1"/>
                </a:solidFill>
                <a:latin typeface="Arial" charset="0"/>
                <a:ea typeface="ＭＳ Ｐゴシック" pitchFamily="-107" charset="-128"/>
                <a:cs typeface="ＭＳ Ｐゴシック" pitchFamily="-107" charset="-128"/>
              </a:rPr>
              <a:t> </a:t>
            </a:r>
            <a:r>
              <a:rPr lang="en-US" sz="1200" b="1" kern="1200" baseline="0">
                <a:solidFill>
                  <a:schemeClr val="tx1"/>
                </a:solidFill>
                <a:latin typeface="Arial" charset="0"/>
                <a:ea typeface="ＭＳ Ｐゴシック" pitchFamily="-107" charset="-128"/>
                <a:cs typeface="ＭＳ Ｐゴシック" pitchFamily="-107" charset="-128"/>
              </a:rPr>
              <a:t>cipher</a:t>
            </a:r>
            <a:r>
              <a:rPr lang="en-US" sz="1200" kern="1200" baseline="0">
                <a:solidFill>
                  <a:schemeClr val="tx1"/>
                </a:solidFill>
                <a:latin typeface="Arial" charset="0"/>
                <a:ea typeface="ＭＳ Ｐゴシック" pitchFamily="-107" charset="-128"/>
                <a:cs typeface="ＭＳ Ｐゴシック" pitchFamily="-107" charset="-128"/>
              </a:rPr>
              <a:t> . All these</a:t>
            </a:r>
          </a:p>
          <a:p>
            <a:r>
              <a:rPr lang="en-US" sz="1200" kern="1200" baseline="0">
                <a:solidFill>
                  <a:schemeClr val="tx1"/>
                </a:solidFill>
                <a:latin typeface="Arial" charset="0"/>
                <a:ea typeface="ＭＳ Ｐゴシック" pitchFamily="-107" charset="-128"/>
                <a:cs typeface="ＭＳ Ｐゴシック" pitchFamily="-107" charset="-128"/>
              </a:rPr>
              <a:t>techniques have the following features in common:</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1.  A set of related </a:t>
            </a:r>
            <a:r>
              <a:rPr lang="en-US" sz="1200" kern="1200" baseline="0" err="1">
                <a:solidFill>
                  <a:schemeClr val="tx1"/>
                </a:solidFill>
                <a:latin typeface="Arial" charset="0"/>
                <a:ea typeface="ＭＳ Ｐゴシック" pitchFamily="-107" charset="-128"/>
                <a:cs typeface="ＭＳ Ｐゴシック" pitchFamily="-107" charset="-128"/>
              </a:rPr>
              <a:t>monoalphabetic</a:t>
            </a:r>
            <a:r>
              <a:rPr lang="en-US" sz="1200" kern="1200" baseline="0">
                <a:solidFill>
                  <a:schemeClr val="tx1"/>
                </a:solidFill>
                <a:latin typeface="Arial" charset="0"/>
                <a:ea typeface="ＭＳ Ｐゴシック" pitchFamily="-107" charset="-128"/>
                <a:cs typeface="ＭＳ Ｐゴシック" pitchFamily="-107" charset="-128"/>
              </a:rPr>
              <a:t> substitution rules is used.</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2.  A key determines which particular rule is chosen for a given transformation.</a:t>
            </a:r>
            <a:endParaRPr lang="en-AU">
              <a:latin typeface="Arial" pitchFamily="-1" charset="0"/>
              <a:ea typeface="Arial" pitchFamily="-1" charset="0"/>
              <a:cs typeface="Arial" pitchFamily="-1"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t>35</a:t>
            </a:fld>
            <a:endParaRPr lang="en-US"/>
          </a:p>
        </p:txBody>
      </p:sp>
    </p:spTree>
    <p:extLst>
      <p:ext uri="{BB962C8B-B14F-4D97-AF65-F5344CB8AC3E}">
        <p14:creationId xmlns:p14="http://schemas.microsoft.com/office/powerpoint/2010/main" val="16587768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err="1"/>
              <a:t>Digram</a:t>
            </a:r>
            <a:r>
              <a:rPr lang="en-US" sz="1200"/>
              <a:t>= </a:t>
            </a:r>
            <a:r>
              <a:rPr lang="en-US" sz="1200" kern="1200">
                <a:solidFill>
                  <a:schemeClr val="tx1"/>
                </a:solidFill>
                <a:effectLst/>
                <a:latin typeface="Times" pitchFamily="18" charset="0"/>
                <a:ea typeface="+mn-ea"/>
                <a:cs typeface="+mn-cs"/>
              </a:rPr>
              <a:t>two successive letters; </a:t>
            </a:r>
            <a:br>
              <a:rPr lang="en-US" sz="1200"/>
            </a:br>
            <a:r>
              <a:rPr lang="en-US" sz="1200" kern="1200" baseline="0">
                <a:solidFill>
                  <a:schemeClr val="tx1"/>
                </a:solidFill>
                <a:latin typeface="Arial" charset="0"/>
                <a:ea typeface="ＭＳ Ｐゴシック" pitchFamily="-107" charset="-128"/>
                <a:cs typeface="ＭＳ Ｐゴシック" pitchFamily="-107" charset="-128"/>
              </a:rPr>
              <a:t>The best-known multiple-letter encryption cipher is the Playfair, which treats</a:t>
            </a:r>
          </a:p>
          <a:p>
            <a:r>
              <a:rPr lang="en-US" sz="1200" kern="1200" baseline="0" err="1">
                <a:solidFill>
                  <a:schemeClr val="tx1"/>
                </a:solidFill>
                <a:latin typeface="Arial" charset="0"/>
                <a:ea typeface="ＭＳ Ｐゴシック" pitchFamily="-107" charset="-128"/>
                <a:cs typeface="ＭＳ Ｐゴシック" pitchFamily="-107" charset="-128"/>
              </a:rPr>
              <a:t>digrams</a:t>
            </a:r>
            <a:r>
              <a:rPr lang="en-US" sz="1200" kern="1200" baseline="0">
                <a:solidFill>
                  <a:schemeClr val="tx1"/>
                </a:solidFill>
                <a:latin typeface="Arial" charset="0"/>
                <a:ea typeface="ＭＳ Ｐゴシック" pitchFamily="-107" charset="-128"/>
                <a:cs typeface="ＭＳ Ｐゴシック" pitchFamily="-107" charset="-128"/>
              </a:rPr>
              <a:t> in the plaintext as single units and translates these units into </a:t>
            </a:r>
            <a:r>
              <a:rPr lang="en-US" sz="1200" kern="1200" baseline="0" err="1">
                <a:solidFill>
                  <a:schemeClr val="tx1"/>
                </a:solidFill>
                <a:latin typeface="Arial" charset="0"/>
                <a:ea typeface="ＭＳ Ｐゴシック" pitchFamily="-107" charset="-128"/>
                <a:cs typeface="ＭＳ Ｐゴシック" pitchFamily="-107" charset="-128"/>
              </a:rPr>
              <a:t>ciphertext</a:t>
            </a:r>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err="1">
                <a:solidFill>
                  <a:schemeClr val="tx1"/>
                </a:solidFill>
                <a:latin typeface="Arial" charset="0"/>
                <a:ea typeface="ＭＳ Ｐゴシック" pitchFamily="-107" charset="-128"/>
                <a:cs typeface="ＭＳ Ｐゴシック" pitchFamily="-107" charset="-128"/>
              </a:rPr>
              <a:t>Digrams</a:t>
            </a:r>
            <a:r>
              <a:rPr lang="en-US" sz="1200" kern="1200" baseline="0">
                <a:solidFill>
                  <a:schemeClr val="tx1"/>
                </a:solidFill>
                <a:latin typeface="Arial" charset="0"/>
                <a:ea typeface="ＭＳ Ｐゴシック" pitchFamily="-107" charset="-128"/>
                <a:cs typeface="ＭＳ Ｐゴシック" pitchFamily="-107" charset="-128"/>
              </a:rPr>
              <a:t>.</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 The </a:t>
            </a:r>
            <a:r>
              <a:rPr lang="en-US" sz="1200" kern="1200" baseline="0" err="1">
                <a:solidFill>
                  <a:schemeClr val="tx1"/>
                </a:solidFill>
                <a:latin typeface="Arial" charset="0"/>
                <a:ea typeface="ＭＳ Ｐゴシック" pitchFamily="-107" charset="-128"/>
                <a:cs typeface="ＭＳ Ｐゴシック" pitchFamily="-107" charset="-128"/>
              </a:rPr>
              <a:t>Playfair</a:t>
            </a:r>
            <a:r>
              <a:rPr lang="en-US" sz="1200" kern="1200" baseline="0">
                <a:solidFill>
                  <a:schemeClr val="tx1"/>
                </a:solidFill>
                <a:latin typeface="Arial" charset="0"/>
                <a:ea typeface="ＭＳ Ｐゴシック" pitchFamily="-107" charset="-128"/>
                <a:cs typeface="ＭＳ Ｐゴシック" pitchFamily="-107" charset="-128"/>
              </a:rPr>
              <a:t> algorithm is based on the use of a 5 *  5 matrix of letters constructed</a:t>
            </a:r>
          </a:p>
          <a:p>
            <a:r>
              <a:rPr lang="en-US" sz="1200" kern="1200" baseline="0">
                <a:solidFill>
                  <a:schemeClr val="tx1"/>
                </a:solidFill>
                <a:latin typeface="Arial" charset="0"/>
                <a:ea typeface="ＭＳ Ｐゴシック" pitchFamily="-107" charset="-128"/>
                <a:cs typeface="ＭＳ Ｐゴシック" pitchFamily="-107" charset="-128"/>
              </a:rPr>
              <a:t>using a keyword.</a:t>
            </a:r>
            <a:endParaRPr lang="en-AU">
              <a:latin typeface="Arial"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36</a:t>
            </a:fld>
            <a:endParaRPr lang="en-US"/>
          </a:p>
        </p:txBody>
      </p:sp>
    </p:spTree>
    <p:extLst>
      <p:ext uri="{BB962C8B-B14F-4D97-AF65-F5344CB8AC3E}">
        <p14:creationId xmlns:p14="http://schemas.microsoft.com/office/powerpoint/2010/main" val="3521938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In this case, the keyword is </a:t>
            </a:r>
            <a:r>
              <a:rPr lang="en-US" sz="1200" i="1" kern="1200" baseline="0">
                <a:solidFill>
                  <a:schemeClr val="tx1"/>
                </a:solidFill>
                <a:latin typeface="Arial" charset="0"/>
                <a:ea typeface="ＭＳ Ｐゴシック" pitchFamily="-107" charset="-128"/>
                <a:cs typeface="ＭＳ Ｐゴシック" pitchFamily="-107" charset="-128"/>
              </a:rPr>
              <a:t>monarch</a:t>
            </a:r>
            <a:r>
              <a:rPr lang="en-US" sz="1200" kern="1200" baseline="0">
                <a:solidFill>
                  <a:schemeClr val="tx1"/>
                </a:solidFill>
                <a:latin typeface="Arial" charset="0"/>
                <a:ea typeface="ＭＳ Ｐゴシック" pitchFamily="-107" charset="-128"/>
                <a:cs typeface="ＭＳ Ｐゴシック" pitchFamily="-107" charset="-128"/>
              </a:rPr>
              <a:t>y . The matrix is constructed by filling</a:t>
            </a:r>
          </a:p>
          <a:p>
            <a:r>
              <a:rPr lang="en-US" sz="1200" kern="1200" baseline="0">
                <a:solidFill>
                  <a:schemeClr val="tx1"/>
                </a:solidFill>
                <a:latin typeface="Arial" charset="0"/>
                <a:ea typeface="ＭＳ Ｐゴシック" pitchFamily="-107" charset="-128"/>
                <a:cs typeface="ＭＳ Ｐゴシック" pitchFamily="-107" charset="-128"/>
              </a:rPr>
              <a:t>in the letters of the keyword (minus duplicates) from left to right and from top to</a:t>
            </a:r>
          </a:p>
          <a:p>
            <a:r>
              <a:rPr lang="en-US" sz="1200" kern="1200" baseline="0">
                <a:solidFill>
                  <a:schemeClr val="tx1"/>
                </a:solidFill>
                <a:latin typeface="Arial" charset="0"/>
                <a:ea typeface="ＭＳ Ｐゴシック" pitchFamily="-107" charset="-128"/>
                <a:cs typeface="ＭＳ Ｐゴシック" pitchFamily="-107" charset="-128"/>
              </a:rPr>
              <a:t>bottom, and then filling in the remainder of the matrix with the remaining letters in</a:t>
            </a:r>
          </a:p>
          <a:p>
            <a:r>
              <a:rPr lang="en-US" sz="1200" kern="1200" baseline="0">
                <a:solidFill>
                  <a:schemeClr val="tx1"/>
                </a:solidFill>
                <a:latin typeface="Arial" charset="0"/>
                <a:ea typeface="ＭＳ Ｐゴシック" pitchFamily="-107" charset="-128"/>
                <a:cs typeface="ＭＳ Ｐゴシック" pitchFamily="-107" charset="-128"/>
              </a:rPr>
              <a:t>alphabetic order. The letters I and J count as one letter. Plaintext is encrypted two</a:t>
            </a:r>
          </a:p>
          <a:p>
            <a:r>
              <a:rPr lang="en-US" sz="1200" kern="1200" baseline="0">
                <a:solidFill>
                  <a:schemeClr val="tx1"/>
                </a:solidFill>
                <a:latin typeface="Arial" charset="0"/>
                <a:ea typeface="ＭＳ Ｐゴシック" pitchFamily="-107" charset="-128"/>
                <a:cs typeface="ＭＳ Ｐゴシック" pitchFamily="-107" charset="-128"/>
              </a:rPr>
              <a:t>letters at a time, according to the following rules:</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1.  Repeating plaintext letters that are in the same pair are separated with a filler</a:t>
            </a:r>
          </a:p>
          <a:p>
            <a:r>
              <a:rPr lang="en-US" sz="1200" kern="1200" baseline="0">
                <a:solidFill>
                  <a:schemeClr val="tx1"/>
                </a:solidFill>
                <a:latin typeface="Arial" charset="0"/>
                <a:ea typeface="ＭＳ Ｐゴシック" pitchFamily="-107" charset="-128"/>
                <a:cs typeface="ＭＳ Ｐゴシック" pitchFamily="-107" charset="-128"/>
              </a:rPr>
              <a:t>letter, such as x, so that balloon would be treated as </a:t>
            </a:r>
            <a:r>
              <a:rPr lang="en-US" sz="1200" kern="1200" baseline="0" err="1">
                <a:solidFill>
                  <a:schemeClr val="tx1"/>
                </a:solidFill>
                <a:latin typeface="Arial" charset="0"/>
                <a:ea typeface="ＭＳ Ｐゴシック" pitchFamily="-107" charset="-128"/>
                <a:cs typeface="ＭＳ Ｐゴシック" pitchFamily="-107" charset="-128"/>
              </a:rPr>
              <a:t>ba</a:t>
            </a:r>
            <a:r>
              <a:rPr lang="en-US" sz="1200" kern="1200" baseline="0">
                <a:solidFill>
                  <a:schemeClr val="tx1"/>
                </a:solidFill>
                <a:latin typeface="Arial" charset="0"/>
                <a:ea typeface="ＭＳ Ｐゴシック" pitchFamily="-107" charset="-128"/>
                <a:cs typeface="ＭＳ Ｐゴシック" pitchFamily="-107" charset="-128"/>
              </a:rPr>
              <a:t> lx lo on.</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2.  Two plaintext letters that fall in the same row of the matrix are each replaced</a:t>
            </a:r>
          </a:p>
          <a:p>
            <a:r>
              <a:rPr lang="en-US" sz="1200" kern="1200" baseline="0">
                <a:solidFill>
                  <a:schemeClr val="tx1"/>
                </a:solidFill>
                <a:latin typeface="Arial" charset="0"/>
                <a:ea typeface="ＭＳ Ｐゴシック" pitchFamily="-107" charset="-128"/>
                <a:cs typeface="ＭＳ Ｐゴシック" pitchFamily="-107" charset="-128"/>
              </a:rPr>
              <a:t>by the letter to the right, with the first element of the row circularly following</a:t>
            </a:r>
          </a:p>
          <a:p>
            <a:r>
              <a:rPr lang="en-US" sz="1200" kern="1200" baseline="0">
                <a:solidFill>
                  <a:schemeClr val="tx1"/>
                </a:solidFill>
                <a:latin typeface="Arial" charset="0"/>
                <a:ea typeface="ＭＳ Ｐゴシック" pitchFamily="-107" charset="-128"/>
                <a:cs typeface="ＭＳ Ｐゴシック" pitchFamily="-107" charset="-128"/>
              </a:rPr>
              <a:t>the last. For example, </a:t>
            </a:r>
            <a:r>
              <a:rPr lang="en-US" sz="1200" kern="1200" baseline="0" err="1">
                <a:solidFill>
                  <a:schemeClr val="tx1"/>
                </a:solidFill>
                <a:latin typeface="Arial" charset="0"/>
                <a:ea typeface="ＭＳ Ｐゴシック" pitchFamily="-107" charset="-128"/>
                <a:cs typeface="ＭＳ Ｐゴシック" pitchFamily="-107" charset="-128"/>
              </a:rPr>
              <a:t>ar</a:t>
            </a:r>
            <a:r>
              <a:rPr lang="en-US" sz="1200" kern="1200" baseline="0">
                <a:solidFill>
                  <a:schemeClr val="tx1"/>
                </a:solidFill>
                <a:latin typeface="Arial" charset="0"/>
                <a:ea typeface="ＭＳ Ｐゴシック" pitchFamily="-107" charset="-128"/>
                <a:cs typeface="ＭＳ Ｐゴシック" pitchFamily="-107" charset="-128"/>
              </a:rPr>
              <a:t> is encrypted as RM.</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3.  Two plaintext letters that fall in the same column are each replaced by the</a:t>
            </a:r>
          </a:p>
          <a:p>
            <a:r>
              <a:rPr lang="en-US" sz="1200" kern="1200" baseline="0">
                <a:solidFill>
                  <a:schemeClr val="tx1"/>
                </a:solidFill>
                <a:latin typeface="Arial" charset="0"/>
                <a:ea typeface="ＭＳ Ｐゴシック" pitchFamily="-107" charset="-128"/>
                <a:cs typeface="ＭＳ Ｐゴシック" pitchFamily="-107" charset="-128"/>
              </a:rPr>
              <a:t>letter beneath, with the top element of the column circularly following the last.</a:t>
            </a:r>
          </a:p>
          <a:p>
            <a:r>
              <a:rPr lang="en-US" sz="1200" kern="1200" baseline="0">
                <a:solidFill>
                  <a:schemeClr val="tx1"/>
                </a:solidFill>
                <a:latin typeface="Arial" charset="0"/>
                <a:ea typeface="ＭＳ Ｐゴシック" pitchFamily="-107" charset="-128"/>
                <a:cs typeface="ＭＳ Ｐゴシック" pitchFamily="-107" charset="-128"/>
              </a:rPr>
              <a:t>For example, mu is encrypted as CM.</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4. Otherwise, each plaintext letter in a pair is replaced by the letter that lies in</a:t>
            </a:r>
          </a:p>
          <a:p>
            <a:r>
              <a:rPr lang="en-US" sz="1200" kern="1200" baseline="0">
                <a:solidFill>
                  <a:schemeClr val="tx1"/>
                </a:solidFill>
                <a:latin typeface="Arial" charset="0"/>
                <a:ea typeface="ＭＳ Ｐゴシック" pitchFamily="-107" charset="-128"/>
                <a:cs typeface="ＭＳ Ｐゴシック" pitchFamily="-107" charset="-128"/>
              </a:rPr>
              <a:t>its own row and the column occupied by the other plaintext letter. Thus, </a:t>
            </a:r>
            <a:r>
              <a:rPr lang="en-US" sz="1200" kern="1200" baseline="0" err="1">
                <a:solidFill>
                  <a:schemeClr val="tx1"/>
                </a:solidFill>
                <a:latin typeface="Arial" charset="0"/>
                <a:ea typeface="ＭＳ Ｐゴシック" pitchFamily="-107" charset="-128"/>
                <a:cs typeface="ＭＳ Ｐゴシック" pitchFamily="-107" charset="-128"/>
              </a:rPr>
              <a:t>hs</a:t>
            </a:r>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becomes BP and </a:t>
            </a:r>
            <a:r>
              <a:rPr lang="en-US" sz="1200" kern="1200" baseline="0" err="1">
                <a:solidFill>
                  <a:schemeClr val="tx1"/>
                </a:solidFill>
                <a:latin typeface="Arial" charset="0"/>
                <a:ea typeface="ＭＳ Ｐゴシック" pitchFamily="-107" charset="-128"/>
                <a:cs typeface="ＭＳ Ｐゴシック" pitchFamily="-107" charset="-128"/>
              </a:rPr>
              <a:t>ea</a:t>
            </a:r>
            <a:r>
              <a:rPr lang="en-US" sz="1200" kern="1200" baseline="0">
                <a:solidFill>
                  <a:schemeClr val="tx1"/>
                </a:solidFill>
                <a:latin typeface="Arial" charset="0"/>
                <a:ea typeface="ＭＳ Ｐゴシック" pitchFamily="-107" charset="-128"/>
                <a:cs typeface="ＭＳ Ｐゴシック" pitchFamily="-107" charset="-128"/>
              </a:rPr>
              <a:t> becomes IM (or JM, as the </a:t>
            </a:r>
            <a:r>
              <a:rPr lang="en-US" sz="1200" kern="1200" baseline="0" err="1">
                <a:solidFill>
                  <a:schemeClr val="tx1"/>
                </a:solidFill>
                <a:latin typeface="Arial" charset="0"/>
                <a:ea typeface="ＭＳ Ｐゴシック" pitchFamily="-107" charset="-128"/>
                <a:cs typeface="ＭＳ Ｐゴシック" pitchFamily="-107" charset="-128"/>
              </a:rPr>
              <a:t>encipherer</a:t>
            </a:r>
            <a:r>
              <a:rPr lang="en-US" sz="1200" kern="1200" baseline="0">
                <a:solidFill>
                  <a:schemeClr val="tx1"/>
                </a:solidFill>
                <a:latin typeface="Arial" charset="0"/>
                <a:ea typeface="ＭＳ Ｐゴシック" pitchFamily="-107" charset="-128"/>
                <a:cs typeface="ＭＳ Ｐゴシック" pitchFamily="-107" charset="-128"/>
              </a:rPr>
              <a:t> wishes).</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The </a:t>
            </a:r>
            <a:r>
              <a:rPr lang="en-US" sz="1200" kern="1200" baseline="0" err="1">
                <a:solidFill>
                  <a:schemeClr val="tx1"/>
                </a:solidFill>
                <a:latin typeface="Arial" charset="0"/>
                <a:ea typeface="ＭＳ Ｐゴシック" pitchFamily="-107" charset="-128"/>
                <a:cs typeface="ＭＳ Ｐゴシック" pitchFamily="-107" charset="-128"/>
              </a:rPr>
              <a:t>Playfair</a:t>
            </a:r>
            <a:r>
              <a:rPr lang="en-US" sz="1200" kern="1200" baseline="0">
                <a:solidFill>
                  <a:schemeClr val="tx1"/>
                </a:solidFill>
                <a:latin typeface="Arial" charset="0"/>
                <a:ea typeface="ＭＳ Ｐゴシック" pitchFamily="-107" charset="-128"/>
                <a:cs typeface="ＭＳ Ｐゴシック" pitchFamily="-107" charset="-128"/>
              </a:rPr>
              <a:t> cipher is a great advance over simple </a:t>
            </a:r>
            <a:r>
              <a:rPr lang="en-US" sz="1200" kern="1200" baseline="0" err="1">
                <a:solidFill>
                  <a:schemeClr val="tx1"/>
                </a:solidFill>
                <a:latin typeface="Arial" charset="0"/>
                <a:ea typeface="ＭＳ Ｐゴシック" pitchFamily="-107" charset="-128"/>
                <a:cs typeface="ＭＳ Ｐゴシック" pitchFamily="-107" charset="-128"/>
              </a:rPr>
              <a:t>monoalphabetic</a:t>
            </a:r>
            <a:r>
              <a:rPr lang="en-US" sz="1200" kern="1200" baseline="0">
                <a:solidFill>
                  <a:schemeClr val="tx1"/>
                </a:solidFill>
                <a:latin typeface="Arial" charset="0"/>
                <a:ea typeface="ＭＳ Ｐゴシック" pitchFamily="-107" charset="-128"/>
                <a:cs typeface="ＭＳ Ｐゴシック" pitchFamily="-107" charset="-128"/>
              </a:rPr>
              <a:t> ciphers.</a:t>
            </a:r>
          </a:p>
          <a:p>
            <a:r>
              <a:rPr lang="en-US" sz="1200" kern="1200" baseline="0">
                <a:solidFill>
                  <a:schemeClr val="tx1"/>
                </a:solidFill>
                <a:latin typeface="Arial" charset="0"/>
                <a:ea typeface="ＭＳ Ｐゴシック" pitchFamily="-107" charset="-128"/>
                <a:cs typeface="ＭＳ Ｐゴシック" pitchFamily="-107" charset="-128"/>
              </a:rPr>
              <a:t>For one thing, whereas there are only 26 letters, there are 26 *  26 =  676 </a:t>
            </a:r>
            <a:r>
              <a:rPr lang="en-US" sz="1200" kern="1200" baseline="0" err="1">
                <a:solidFill>
                  <a:schemeClr val="tx1"/>
                </a:solidFill>
                <a:latin typeface="Arial" charset="0"/>
                <a:ea typeface="ＭＳ Ｐゴシック" pitchFamily="-107" charset="-128"/>
                <a:cs typeface="ＭＳ Ｐゴシック" pitchFamily="-107" charset="-128"/>
              </a:rPr>
              <a:t>digrams</a:t>
            </a:r>
            <a:r>
              <a:rPr lang="en-US" sz="1200" kern="1200" baseline="0">
                <a:solidFill>
                  <a:schemeClr val="tx1"/>
                </a:solidFill>
                <a:latin typeface="Arial" charset="0"/>
                <a:ea typeface="ＭＳ Ｐゴシック" pitchFamily="-107" charset="-128"/>
                <a:cs typeface="ＭＳ Ｐゴシック" pitchFamily="-107" charset="-128"/>
              </a:rPr>
              <a:t>, so</a:t>
            </a:r>
          </a:p>
          <a:p>
            <a:r>
              <a:rPr lang="en-US" sz="1200" kern="1200" baseline="0">
                <a:solidFill>
                  <a:schemeClr val="tx1"/>
                </a:solidFill>
                <a:latin typeface="Arial" charset="0"/>
                <a:ea typeface="ＭＳ Ｐゴシック" pitchFamily="-107" charset="-128"/>
                <a:cs typeface="ＭＳ Ｐゴシック" pitchFamily="-107" charset="-128"/>
              </a:rPr>
              <a:t>that identification of individual </a:t>
            </a:r>
            <a:r>
              <a:rPr lang="en-US" sz="1200" kern="1200" baseline="0" err="1">
                <a:solidFill>
                  <a:schemeClr val="tx1"/>
                </a:solidFill>
                <a:latin typeface="Arial" charset="0"/>
                <a:ea typeface="ＭＳ Ｐゴシック" pitchFamily="-107" charset="-128"/>
                <a:cs typeface="ＭＳ Ｐゴシック" pitchFamily="-107" charset="-128"/>
              </a:rPr>
              <a:t>digrams</a:t>
            </a:r>
            <a:r>
              <a:rPr lang="en-US" sz="1200" kern="1200" baseline="0">
                <a:solidFill>
                  <a:schemeClr val="tx1"/>
                </a:solidFill>
                <a:latin typeface="Arial" charset="0"/>
                <a:ea typeface="ＭＳ Ｐゴシック" pitchFamily="-107" charset="-128"/>
                <a:cs typeface="ＭＳ Ｐゴシック" pitchFamily="-107" charset="-128"/>
              </a:rPr>
              <a:t> is more difficult. Furthermore, the relative</a:t>
            </a:r>
          </a:p>
          <a:p>
            <a:r>
              <a:rPr lang="en-US" sz="1200" kern="1200" baseline="0">
                <a:solidFill>
                  <a:schemeClr val="tx1"/>
                </a:solidFill>
                <a:latin typeface="Arial" charset="0"/>
                <a:ea typeface="ＭＳ Ｐゴシック" pitchFamily="-107" charset="-128"/>
                <a:cs typeface="ＭＳ Ｐゴシック" pitchFamily="-107" charset="-128"/>
              </a:rPr>
              <a:t>frequencies of individual letters exhibit a much greater range than that of </a:t>
            </a:r>
            <a:r>
              <a:rPr lang="en-US" sz="1200" kern="1200" baseline="0" err="1">
                <a:solidFill>
                  <a:schemeClr val="tx1"/>
                </a:solidFill>
                <a:latin typeface="Arial" charset="0"/>
                <a:ea typeface="ＭＳ Ｐゴシック" pitchFamily="-107" charset="-128"/>
                <a:cs typeface="ＭＳ Ｐゴシック" pitchFamily="-107" charset="-128"/>
              </a:rPr>
              <a:t>digrams</a:t>
            </a:r>
            <a:r>
              <a:rPr lang="en-US" sz="1200" kern="1200" baseline="0">
                <a:solidFill>
                  <a:schemeClr val="tx1"/>
                </a:solidFill>
                <a:latin typeface="Arial" charset="0"/>
                <a:ea typeface="ＭＳ Ｐゴシック" pitchFamily="-107" charset="-128"/>
                <a:cs typeface="ＭＳ Ｐゴシック" pitchFamily="-107" charset="-128"/>
              </a:rPr>
              <a:t>,</a:t>
            </a:r>
          </a:p>
          <a:p>
            <a:r>
              <a:rPr lang="en-US" sz="1200" kern="1200" baseline="0">
                <a:solidFill>
                  <a:schemeClr val="tx1"/>
                </a:solidFill>
                <a:latin typeface="Arial" charset="0"/>
                <a:ea typeface="ＭＳ Ｐゴシック" pitchFamily="-107" charset="-128"/>
                <a:cs typeface="ＭＳ Ｐゴシック" pitchFamily="-107" charset="-128"/>
              </a:rPr>
              <a:t>making frequency analysis much more difficult. For these reasons, the </a:t>
            </a:r>
            <a:r>
              <a:rPr lang="en-US" sz="1200" kern="1200" baseline="0" err="1">
                <a:solidFill>
                  <a:schemeClr val="tx1"/>
                </a:solidFill>
                <a:latin typeface="Arial" charset="0"/>
                <a:ea typeface="ＭＳ Ｐゴシック" pitchFamily="-107" charset="-128"/>
                <a:cs typeface="ＭＳ Ｐゴシック" pitchFamily="-107" charset="-128"/>
              </a:rPr>
              <a:t>Playfair</a:t>
            </a:r>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cipher was for a long time considered unbreakable. It was used as the standard field</a:t>
            </a:r>
          </a:p>
          <a:p>
            <a:r>
              <a:rPr lang="en-US" sz="1200" kern="1200" baseline="0">
                <a:solidFill>
                  <a:schemeClr val="tx1"/>
                </a:solidFill>
                <a:latin typeface="Arial" charset="0"/>
                <a:ea typeface="ＭＳ Ｐゴシック" pitchFamily="-107" charset="-128"/>
                <a:cs typeface="ＭＳ Ｐゴシック" pitchFamily="-107" charset="-128"/>
              </a:rPr>
              <a:t>system by the British Army in World War I and still enjoyed considerable use by the</a:t>
            </a:r>
          </a:p>
          <a:p>
            <a:r>
              <a:rPr lang="en-US" sz="1200" kern="1200" baseline="0">
                <a:solidFill>
                  <a:schemeClr val="tx1"/>
                </a:solidFill>
                <a:latin typeface="Arial" charset="0"/>
                <a:ea typeface="ＭＳ Ｐゴシック" pitchFamily="-107" charset="-128"/>
                <a:cs typeface="ＭＳ Ｐゴシック" pitchFamily="-107" charset="-128"/>
              </a:rPr>
              <a:t>U.S. Army and other Allied forces during World War II.</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Despite this level of confidence in its security, the </a:t>
            </a:r>
            <a:r>
              <a:rPr lang="en-US" sz="1200" kern="1200" baseline="0" err="1">
                <a:solidFill>
                  <a:schemeClr val="tx1"/>
                </a:solidFill>
                <a:latin typeface="Arial" charset="0"/>
                <a:ea typeface="ＭＳ Ｐゴシック" pitchFamily="-107" charset="-128"/>
                <a:cs typeface="ＭＳ Ｐゴシック" pitchFamily="-107" charset="-128"/>
              </a:rPr>
              <a:t>Playfair</a:t>
            </a:r>
            <a:r>
              <a:rPr lang="en-US" sz="1200" kern="1200" baseline="0">
                <a:solidFill>
                  <a:schemeClr val="tx1"/>
                </a:solidFill>
                <a:latin typeface="Arial" charset="0"/>
                <a:ea typeface="ＭＳ Ｐゴシック" pitchFamily="-107" charset="-128"/>
                <a:cs typeface="ＭＳ Ｐゴシック" pitchFamily="-107" charset="-128"/>
              </a:rPr>
              <a:t> cipher is relatively</a:t>
            </a:r>
          </a:p>
          <a:p>
            <a:r>
              <a:rPr lang="en-US" sz="1200" kern="1200" baseline="0">
                <a:solidFill>
                  <a:schemeClr val="tx1"/>
                </a:solidFill>
                <a:latin typeface="Arial" charset="0"/>
                <a:ea typeface="ＭＳ Ｐゴシック" pitchFamily="-107" charset="-128"/>
                <a:cs typeface="ＭＳ Ｐゴシック" pitchFamily="-107" charset="-128"/>
              </a:rPr>
              <a:t>easy to break, because it still leaves much of the structure of the plaintext language</a:t>
            </a:r>
          </a:p>
          <a:p>
            <a:r>
              <a:rPr lang="en-US" sz="1200" kern="1200" baseline="0">
                <a:solidFill>
                  <a:schemeClr val="tx1"/>
                </a:solidFill>
                <a:latin typeface="Arial" charset="0"/>
                <a:ea typeface="ＭＳ Ｐゴシック" pitchFamily="-107" charset="-128"/>
                <a:cs typeface="ＭＳ Ｐゴシック" pitchFamily="-107" charset="-128"/>
              </a:rPr>
              <a:t>intact. A few hundred letters of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are generally sufficient.</a:t>
            </a:r>
            <a:endParaRPr lang="en-AU">
              <a:latin typeface="Arial" pitchFamily="-1" charset="0"/>
              <a:ea typeface="Arial" pitchFamily="-1" charset="0"/>
              <a:cs typeface="Arial" pitchFamily="-1"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37</a:t>
            </a:fld>
            <a:endParaRPr lang="en-US"/>
          </a:p>
        </p:txBody>
      </p:sp>
    </p:spTree>
    <p:extLst>
      <p:ext uri="{BB962C8B-B14F-4D97-AF65-F5344CB8AC3E}">
        <p14:creationId xmlns:p14="http://schemas.microsoft.com/office/powerpoint/2010/main" val="3521938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In this case, the keyword is </a:t>
            </a:r>
            <a:r>
              <a:rPr lang="en-US" sz="1200" i="1" kern="1200" baseline="0">
                <a:solidFill>
                  <a:schemeClr val="tx1"/>
                </a:solidFill>
                <a:latin typeface="Arial" charset="0"/>
                <a:ea typeface="ＭＳ Ｐゴシック" pitchFamily="-107" charset="-128"/>
                <a:cs typeface="ＭＳ Ｐゴシック" pitchFamily="-107" charset="-128"/>
              </a:rPr>
              <a:t>monarch</a:t>
            </a:r>
            <a:r>
              <a:rPr lang="en-US" sz="1200" kern="1200" baseline="0">
                <a:solidFill>
                  <a:schemeClr val="tx1"/>
                </a:solidFill>
                <a:latin typeface="Arial" charset="0"/>
                <a:ea typeface="ＭＳ Ｐゴシック" pitchFamily="-107" charset="-128"/>
                <a:cs typeface="ＭＳ Ｐゴシック" pitchFamily="-107" charset="-128"/>
              </a:rPr>
              <a:t>y . The matrix is constructed by filling</a:t>
            </a:r>
          </a:p>
          <a:p>
            <a:r>
              <a:rPr lang="en-US" sz="1200" kern="1200" baseline="0">
                <a:solidFill>
                  <a:schemeClr val="tx1"/>
                </a:solidFill>
                <a:latin typeface="Arial" charset="0"/>
                <a:ea typeface="ＭＳ Ｐゴシック" pitchFamily="-107" charset="-128"/>
                <a:cs typeface="ＭＳ Ｐゴシック" pitchFamily="-107" charset="-128"/>
              </a:rPr>
              <a:t>in the letters of the keyword (minus duplicates) from left to right and from top to</a:t>
            </a:r>
          </a:p>
          <a:p>
            <a:r>
              <a:rPr lang="en-US" sz="1200" kern="1200" baseline="0">
                <a:solidFill>
                  <a:schemeClr val="tx1"/>
                </a:solidFill>
                <a:latin typeface="Arial" charset="0"/>
                <a:ea typeface="ＭＳ Ｐゴシック" pitchFamily="-107" charset="-128"/>
                <a:cs typeface="ＭＳ Ｐゴシック" pitchFamily="-107" charset="-128"/>
              </a:rPr>
              <a:t>bottom, and then filling in the remainder of the matrix with the remaining letters in</a:t>
            </a:r>
          </a:p>
          <a:p>
            <a:r>
              <a:rPr lang="en-US" sz="1200" kern="1200" baseline="0">
                <a:solidFill>
                  <a:schemeClr val="tx1"/>
                </a:solidFill>
                <a:latin typeface="Arial" charset="0"/>
                <a:ea typeface="ＭＳ Ｐゴシック" pitchFamily="-107" charset="-128"/>
                <a:cs typeface="ＭＳ Ｐゴシック" pitchFamily="-107" charset="-128"/>
              </a:rPr>
              <a:t>alphabetic order. The letters I and J count as one letter. Plaintext is encrypted two</a:t>
            </a:r>
          </a:p>
          <a:p>
            <a:r>
              <a:rPr lang="en-US" sz="1200" kern="1200" baseline="0">
                <a:solidFill>
                  <a:schemeClr val="tx1"/>
                </a:solidFill>
                <a:latin typeface="Arial" charset="0"/>
                <a:ea typeface="ＭＳ Ｐゴシック" pitchFamily="-107" charset="-128"/>
                <a:cs typeface="ＭＳ Ｐゴシック" pitchFamily="-107" charset="-128"/>
              </a:rPr>
              <a:t>letters at a time, according to the following rules:</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1.  Repeating plaintext letters that are in the same pair are separated with a filler</a:t>
            </a:r>
          </a:p>
          <a:p>
            <a:r>
              <a:rPr lang="en-US" sz="1200" kern="1200" baseline="0">
                <a:solidFill>
                  <a:schemeClr val="tx1"/>
                </a:solidFill>
                <a:latin typeface="Arial" charset="0"/>
                <a:ea typeface="ＭＳ Ｐゴシック" pitchFamily="-107" charset="-128"/>
                <a:cs typeface="ＭＳ Ｐゴシック" pitchFamily="-107" charset="-128"/>
              </a:rPr>
              <a:t>letter, such as x, so that balloon would be treated as </a:t>
            </a:r>
            <a:r>
              <a:rPr lang="en-US" sz="1200" kern="1200" baseline="0" err="1">
                <a:solidFill>
                  <a:schemeClr val="tx1"/>
                </a:solidFill>
                <a:latin typeface="Arial" charset="0"/>
                <a:ea typeface="ＭＳ Ｐゴシック" pitchFamily="-107" charset="-128"/>
                <a:cs typeface="ＭＳ Ｐゴシック" pitchFamily="-107" charset="-128"/>
              </a:rPr>
              <a:t>ba</a:t>
            </a:r>
            <a:r>
              <a:rPr lang="en-US" sz="1200" kern="1200" baseline="0">
                <a:solidFill>
                  <a:schemeClr val="tx1"/>
                </a:solidFill>
                <a:latin typeface="Arial" charset="0"/>
                <a:ea typeface="ＭＳ Ｐゴシック" pitchFamily="-107" charset="-128"/>
                <a:cs typeface="ＭＳ Ｐゴシック" pitchFamily="-107" charset="-128"/>
              </a:rPr>
              <a:t> lx lo on.</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2.  Two plaintext letters that fall in the same row of the matrix are each replaced</a:t>
            </a:r>
          </a:p>
          <a:p>
            <a:r>
              <a:rPr lang="en-US" sz="1200" kern="1200" baseline="0">
                <a:solidFill>
                  <a:schemeClr val="tx1"/>
                </a:solidFill>
                <a:latin typeface="Arial" charset="0"/>
                <a:ea typeface="ＭＳ Ｐゴシック" pitchFamily="-107" charset="-128"/>
                <a:cs typeface="ＭＳ Ｐゴシック" pitchFamily="-107" charset="-128"/>
              </a:rPr>
              <a:t>by the letter to the right, with the first element of the row circularly following</a:t>
            </a:r>
          </a:p>
          <a:p>
            <a:r>
              <a:rPr lang="en-US" sz="1200" kern="1200" baseline="0">
                <a:solidFill>
                  <a:schemeClr val="tx1"/>
                </a:solidFill>
                <a:latin typeface="Arial" charset="0"/>
                <a:ea typeface="ＭＳ Ｐゴシック" pitchFamily="-107" charset="-128"/>
                <a:cs typeface="ＭＳ Ｐゴシック" pitchFamily="-107" charset="-128"/>
              </a:rPr>
              <a:t>the last. For example, </a:t>
            </a:r>
            <a:r>
              <a:rPr lang="en-US" sz="1200" kern="1200" baseline="0" err="1">
                <a:solidFill>
                  <a:schemeClr val="tx1"/>
                </a:solidFill>
                <a:latin typeface="Arial" charset="0"/>
                <a:ea typeface="ＭＳ Ｐゴシック" pitchFamily="-107" charset="-128"/>
                <a:cs typeface="ＭＳ Ｐゴシック" pitchFamily="-107" charset="-128"/>
              </a:rPr>
              <a:t>ar</a:t>
            </a:r>
            <a:r>
              <a:rPr lang="en-US" sz="1200" kern="1200" baseline="0">
                <a:solidFill>
                  <a:schemeClr val="tx1"/>
                </a:solidFill>
                <a:latin typeface="Arial" charset="0"/>
                <a:ea typeface="ＭＳ Ｐゴシック" pitchFamily="-107" charset="-128"/>
                <a:cs typeface="ＭＳ Ｐゴシック" pitchFamily="-107" charset="-128"/>
              </a:rPr>
              <a:t> is encrypted as RM.</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3.  Two plaintext letters that fall in the same column are each replaced by the</a:t>
            </a:r>
          </a:p>
          <a:p>
            <a:r>
              <a:rPr lang="en-US" sz="1200" kern="1200" baseline="0">
                <a:solidFill>
                  <a:schemeClr val="tx1"/>
                </a:solidFill>
                <a:latin typeface="Arial" charset="0"/>
                <a:ea typeface="ＭＳ Ｐゴシック" pitchFamily="-107" charset="-128"/>
                <a:cs typeface="ＭＳ Ｐゴシック" pitchFamily="-107" charset="-128"/>
              </a:rPr>
              <a:t>letter beneath, with the top element of the column circularly following the last.</a:t>
            </a:r>
          </a:p>
          <a:p>
            <a:r>
              <a:rPr lang="en-US" sz="1200" kern="1200" baseline="0">
                <a:solidFill>
                  <a:schemeClr val="tx1"/>
                </a:solidFill>
                <a:latin typeface="Arial" charset="0"/>
                <a:ea typeface="ＭＳ Ｐゴシック" pitchFamily="-107" charset="-128"/>
                <a:cs typeface="ＭＳ Ｐゴシック" pitchFamily="-107" charset="-128"/>
              </a:rPr>
              <a:t>For example, mu is encrypted as CM.</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4. Otherwise, each plaintext letter in a pair is replaced by the letter that lies in</a:t>
            </a:r>
          </a:p>
          <a:p>
            <a:r>
              <a:rPr lang="en-US" sz="1200" kern="1200" baseline="0">
                <a:solidFill>
                  <a:schemeClr val="tx1"/>
                </a:solidFill>
                <a:latin typeface="Arial" charset="0"/>
                <a:ea typeface="ＭＳ Ｐゴシック" pitchFamily="-107" charset="-128"/>
                <a:cs typeface="ＭＳ Ｐゴシック" pitchFamily="-107" charset="-128"/>
              </a:rPr>
              <a:t>its own row and the column occupied by the other plaintext letter. Thus, </a:t>
            </a:r>
            <a:r>
              <a:rPr lang="en-US" sz="1200" kern="1200" baseline="0" err="1">
                <a:solidFill>
                  <a:schemeClr val="tx1"/>
                </a:solidFill>
                <a:latin typeface="Arial" charset="0"/>
                <a:ea typeface="ＭＳ Ｐゴシック" pitchFamily="-107" charset="-128"/>
                <a:cs typeface="ＭＳ Ｐゴシック" pitchFamily="-107" charset="-128"/>
              </a:rPr>
              <a:t>hs</a:t>
            </a:r>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becomes BP and </a:t>
            </a:r>
            <a:r>
              <a:rPr lang="en-US" sz="1200" kern="1200" baseline="0" err="1">
                <a:solidFill>
                  <a:schemeClr val="tx1"/>
                </a:solidFill>
                <a:latin typeface="Arial" charset="0"/>
                <a:ea typeface="ＭＳ Ｐゴシック" pitchFamily="-107" charset="-128"/>
                <a:cs typeface="ＭＳ Ｐゴシック" pitchFamily="-107" charset="-128"/>
              </a:rPr>
              <a:t>ea</a:t>
            </a:r>
            <a:r>
              <a:rPr lang="en-US" sz="1200" kern="1200" baseline="0">
                <a:solidFill>
                  <a:schemeClr val="tx1"/>
                </a:solidFill>
                <a:latin typeface="Arial" charset="0"/>
                <a:ea typeface="ＭＳ Ｐゴシック" pitchFamily="-107" charset="-128"/>
                <a:cs typeface="ＭＳ Ｐゴシック" pitchFamily="-107" charset="-128"/>
              </a:rPr>
              <a:t> becomes IM (or JM, as the </a:t>
            </a:r>
            <a:r>
              <a:rPr lang="en-US" sz="1200" kern="1200" baseline="0" err="1">
                <a:solidFill>
                  <a:schemeClr val="tx1"/>
                </a:solidFill>
                <a:latin typeface="Arial" charset="0"/>
                <a:ea typeface="ＭＳ Ｐゴシック" pitchFamily="-107" charset="-128"/>
                <a:cs typeface="ＭＳ Ｐゴシック" pitchFamily="-107" charset="-128"/>
              </a:rPr>
              <a:t>encipherer</a:t>
            </a:r>
            <a:r>
              <a:rPr lang="en-US" sz="1200" kern="1200" baseline="0">
                <a:solidFill>
                  <a:schemeClr val="tx1"/>
                </a:solidFill>
                <a:latin typeface="Arial" charset="0"/>
                <a:ea typeface="ＭＳ Ｐゴシック" pitchFamily="-107" charset="-128"/>
                <a:cs typeface="ＭＳ Ｐゴシック" pitchFamily="-107" charset="-128"/>
              </a:rPr>
              <a:t> wishes).</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The </a:t>
            </a:r>
            <a:r>
              <a:rPr lang="en-US" sz="1200" kern="1200" baseline="0" err="1">
                <a:solidFill>
                  <a:schemeClr val="tx1"/>
                </a:solidFill>
                <a:latin typeface="Arial" charset="0"/>
                <a:ea typeface="ＭＳ Ｐゴシック" pitchFamily="-107" charset="-128"/>
                <a:cs typeface="ＭＳ Ｐゴシック" pitchFamily="-107" charset="-128"/>
              </a:rPr>
              <a:t>Playfair</a:t>
            </a:r>
            <a:r>
              <a:rPr lang="en-US" sz="1200" kern="1200" baseline="0">
                <a:solidFill>
                  <a:schemeClr val="tx1"/>
                </a:solidFill>
                <a:latin typeface="Arial" charset="0"/>
                <a:ea typeface="ＭＳ Ｐゴシック" pitchFamily="-107" charset="-128"/>
                <a:cs typeface="ＭＳ Ｐゴシック" pitchFamily="-107" charset="-128"/>
              </a:rPr>
              <a:t> cipher is a great advance over simple </a:t>
            </a:r>
            <a:r>
              <a:rPr lang="en-US" sz="1200" kern="1200" baseline="0" err="1">
                <a:solidFill>
                  <a:schemeClr val="tx1"/>
                </a:solidFill>
                <a:latin typeface="Arial" charset="0"/>
                <a:ea typeface="ＭＳ Ｐゴシック" pitchFamily="-107" charset="-128"/>
                <a:cs typeface="ＭＳ Ｐゴシック" pitchFamily="-107" charset="-128"/>
              </a:rPr>
              <a:t>monoalphabetic</a:t>
            </a:r>
            <a:r>
              <a:rPr lang="en-US" sz="1200" kern="1200" baseline="0">
                <a:solidFill>
                  <a:schemeClr val="tx1"/>
                </a:solidFill>
                <a:latin typeface="Arial" charset="0"/>
                <a:ea typeface="ＭＳ Ｐゴシック" pitchFamily="-107" charset="-128"/>
                <a:cs typeface="ＭＳ Ｐゴシック" pitchFamily="-107" charset="-128"/>
              </a:rPr>
              <a:t> ciphers.</a:t>
            </a:r>
          </a:p>
          <a:p>
            <a:r>
              <a:rPr lang="en-US" sz="1200" kern="1200" baseline="0">
                <a:solidFill>
                  <a:schemeClr val="tx1"/>
                </a:solidFill>
                <a:latin typeface="Arial" charset="0"/>
                <a:ea typeface="ＭＳ Ｐゴシック" pitchFamily="-107" charset="-128"/>
                <a:cs typeface="ＭＳ Ｐゴシック" pitchFamily="-107" charset="-128"/>
              </a:rPr>
              <a:t>For one thing, whereas there are only 26 letters, there are 26 *  26 =  676 </a:t>
            </a:r>
            <a:r>
              <a:rPr lang="en-US" sz="1200" kern="1200" baseline="0" err="1">
                <a:solidFill>
                  <a:schemeClr val="tx1"/>
                </a:solidFill>
                <a:latin typeface="Arial" charset="0"/>
                <a:ea typeface="ＭＳ Ｐゴシック" pitchFamily="-107" charset="-128"/>
                <a:cs typeface="ＭＳ Ｐゴシック" pitchFamily="-107" charset="-128"/>
              </a:rPr>
              <a:t>digrams</a:t>
            </a:r>
            <a:r>
              <a:rPr lang="en-US" sz="1200" kern="1200" baseline="0">
                <a:solidFill>
                  <a:schemeClr val="tx1"/>
                </a:solidFill>
                <a:latin typeface="Arial" charset="0"/>
                <a:ea typeface="ＭＳ Ｐゴシック" pitchFamily="-107" charset="-128"/>
                <a:cs typeface="ＭＳ Ｐゴシック" pitchFamily="-107" charset="-128"/>
              </a:rPr>
              <a:t>, so</a:t>
            </a:r>
          </a:p>
          <a:p>
            <a:r>
              <a:rPr lang="en-US" sz="1200" kern="1200" baseline="0">
                <a:solidFill>
                  <a:schemeClr val="tx1"/>
                </a:solidFill>
                <a:latin typeface="Arial" charset="0"/>
                <a:ea typeface="ＭＳ Ｐゴシック" pitchFamily="-107" charset="-128"/>
                <a:cs typeface="ＭＳ Ｐゴシック" pitchFamily="-107" charset="-128"/>
              </a:rPr>
              <a:t>that identification of individual </a:t>
            </a:r>
            <a:r>
              <a:rPr lang="en-US" sz="1200" kern="1200" baseline="0" err="1">
                <a:solidFill>
                  <a:schemeClr val="tx1"/>
                </a:solidFill>
                <a:latin typeface="Arial" charset="0"/>
                <a:ea typeface="ＭＳ Ｐゴシック" pitchFamily="-107" charset="-128"/>
                <a:cs typeface="ＭＳ Ｐゴシック" pitchFamily="-107" charset="-128"/>
              </a:rPr>
              <a:t>digrams</a:t>
            </a:r>
            <a:r>
              <a:rPr lang="en-US" sz="1200" kern="1200" baseline="0">
                <a:solidFill>
                  <a:schemeClr val="tx1"/>
                </a:solidFill>
                <a:latin typeface="Arial" charset="0"/>
                <a:ea typeface="ＭＳ Ｐゴシック" pitchFamily="-107" charset="-128"/>
                <a:cs typeface="ＭＳ Ｐゴシック" pitchFamily="-107" charset="-128"/>
              </a:rPr>
              <a:t> is more difficult. Furthermore, the relative</a:t>
            </a:r>
          </a:p>
          <a:p>
            <a:r>
              <a:rPr lang="en-US" sz="1200" kern="1200" baseline="0">
                <a:solidFill>
                  <a:schemeClr val="tx1"/>
                </a:solidFill>
                <a:latin typeface="Arial" charset="0"/>
                <a:ea typeface="ＭＳ Ｐゴシック" pitchFamily="-107" charset="-128"/>
                <a:cs typeface="ＭＳ Ｐゴシック" pitchFamily="-107" charset="-128"/>
              </a:rPr>
              <a:t>frequencies of individual letters exhibit a much greater range than that of </a:t>
            </a:r>
            <a:r>
              <a:rPr lang="en-US" sz="1200" kern="1200" baseline="0" err="1">
                <a:solidFill>
                  <a:schemeClr val="tx1"/>
                </a:solidFill>
                <a:latin typeface="Arial" charset="0"/>
                <a:ea typeface="ＭＳ Ｐゴシック" pitchFamily="-107" charset="-128"/>
                <a:cs typeface="ＭＳ Ｐゴシック" pitchFamily="-107" charset="-128"/>
              </a:rPr>
              <a:t>digrams</a:t>
            </a:r>
            <a:r>
              <a:rPr lang="en-US" sz="1200" kern="1200" baseline="0">
                <a:solidFill>
                  <a:schemeClr val="tx1"/>
                </a:solidFill>
                <a:latin typeface="Arial" charset="0"/>
                <a:ea typeface="ＭＳ Ｐゴシック" pitchFamily="-107" charset="-128"/>
                <a:cs typeface="ＭＳ Ｐゴシック" pitchFamily="-107" charset="-128"/>
              </a:rPr>
              <a:t>,</a:t>
            </a:r>
          </a:p>
          <a:p>
            <a:r>
              <a:rPr lang="en-US" sz="1200" kern="1200" baseline="0">
                <a:solidFill>
                  <a:schemeClr val="tx1"/>
                </a:solidFill>
                <a:latin typeface="Arial" charset="0"/>
                <a:ea typeface="ＭＳ Ｐゴシック" pitchFamily="-107" charset="-128"/>
                <a:cs typeface="ＭＳ Ｐゴシック" pitchFamily="-107" charset="-128"/>
              </a:rPr>
              <a:t>making frequency analysis much more difficult. For these reasons, the </a:t>
            </a:r>
            <a:r>
              <a:rPr lang="en-US" sz="1200" kern="1200" baseline="0" err="1">
                <a:solidFill>
                  <a:schemeClr val="tx1"/>
                </a:solidFill>
                <a:latin typeface="Arial" charset="0"/>
                <a:ea typeface="ＭＳ Ｐゴシック" pitchFamily="-107" charset="-128"/>
                <a:cs typeface="ＭＳ Ｐゴシック" pitchFamily="-107" charset="-128"/>
              </a:rPr>
              <a:t>Playfair</a:t>
            </a:r>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cipher was for a long time considered unbreakable. It was used as the standard field</a:t>
            </a:r>
          </a:p>
          <a:p>
            <a:r>
              <a:rPr lang="en-US" sz="1200" kern="1200" baseline="0">
                <a:solidFill>
                  <a:schemeClr val="tx1"/>
                </a:solidFill>
                <a:latin typeface="Arial" charset="0"/>
                <a:ea typeface="ＭＳ Ｐゴシック" pitchFamily="-107" charset="-128"/>
                <a:cs typeface="ＭＳ Ｐゴシック" pitchFamily="-107" charset="-128"/>
              </a:rPr>
              <a:t>system by the British Army in World War I and still enjoyed considerable use by the</a:t>
            </a:r>
          </a:p>
          <a:p>
            <a:r>
              <a:rPr lang="en-US" sz="1200" kern="1200" baseline="0">
                <a:solidFill>
                  <a:schemeClr val="tx1"/>
                </a:solidFill>
                <a:latin typeface="Arial" charset="0"/>
                <a:ea typeface="ＭＳ Ｐゴシック" pitchFamily="-107" charset="-128"/>
                <a:cs typeface="ＭＳ Ｐゴシック" pitchFamily="-107" charset="-128"/>
              </a:rPr>
              <a:t>U.S. Army and other Allied forces during World War II.</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Despite this level of confidence in its security, the </a:t>
            </a:r>
            <a:r>
              <a:rPr lang="en-US" sz="1200" kern="1200" baseline="0" err="1">
                <a:solidFill>
                  <a:schemeClr val="tx1"/>
                </a:solidFill>
                <a:latin typeface="Arial" charset="0"/>
                <a:ea typeface="ＭＳ Ｐゴシック" pitchFamily="-107" charset="-128"/>
                <a:cs typeface="ＭＳ Ｐゴシック" pitchFamily="-107" charset="-128"/>
              </a:rPr>
              <a:t>Playfair</a:t>
            </a:r>
            <a:r>
              <a:rPr lang="en-US" sz="1200" kern="1200" baseline="0">
                <a:solidFill>
                  <a:schemeClr val="tx1"/>
                </a:solidFill>
                <a:latin typeface="Arial" charset="0"/>
                <a:ea typeface="ＭＳ Ｐゴシック" pitchFamily="-107" charset="-128"/>
                <a:cs typeface="ＭＳ Ｐゴシック" pitchFamily="-107" charset="-128"/>
              </a:rPr>
              <a:t> cipher is relatively</a:t>
            </a:r>
          </a:p>
          <a:p>
            <a:r>
              <a:rPr lang="en-US" sz="1200" kern="1200" baseline="0">
                <a:solidFill>
                  <a:schemeClr val="tx1"/>
                </a:solidFill>
                <a:latin typeface="Arial" charset="0"/>
                <a:ea typeface="ＭＳ Ｐゴシック" pitchFamily="-107" charset="-128"/>
                <a:cs typeface="ＭＳ Ｐゴシック" pitchFamily="-107" charset="-128"/>
              </a:rPr>
              <a:t>easy to break, because it still leaves much of the structure of the plaintext language</a:t>
            </a:r>
          </a:p>
          <a:p>
            <a:r>
              <a:rPr lang="en-US" sz="1200" kern="1200" baseline="0">
                <a:solidFill>
                  <a:schemeClr val="tx1"/>
                </a:solidFill>
                <a:latin typeface="Arial" charset="0"/>
                <a:ea typeface="ＭＳ Ｐゴシック" pitchFamily="-107" charset="-128"/>
                <a:cs typeface="ＭＳ Ｐゴシック" pitchFamily="-107" charset="-128"/>
              </a:rPr>
              <a:t>intact. A few hundred letters of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are generally sufficient.</a:t>
            </a:r>
            <a:endParaRPr lang="en-AU">
              <a:latin typeface="Arial" pitchFamily="-1" charset="0"/>
              <a:ea typeface="Arial" pitchFamily="-1" charset="0"/>
              <a:cs typeface="Arial" pitchFamily="-1"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38</a:t>
            </a:fld>
            <a:endParaRPr lang="en-US"/>
          </a:p>
        </p:txBody>
      </p:sp>
    </p:spTree>
    <p:extLst>
      <p:ext uri="{BB962C8B-B14F-4D97-AF65-F5344CB8AC3E}">
        <p14:creationId xmlns:p14="http://schemas.microsoft.com/office/powerpoint/2010/main" val="30953083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 A powerful tool is to look at the frequency of two-letter combinations, known</a:t>
            </a:r>
          </a:p>
          <a:p>
            <a:r>
              <a:rPr lang="en-US" sz="1200" kern="1200" baseline="0">
                <a:solidFill>
                  <a:schemeClr val="tx1"/>
                </a:solidFill>
                <a:latin typeface="Arial" charset="0"/>
                <a:ea typeface="ＭＳ Ｐゴシック" pitchFamily="-107" charset="-128"/>
                <a:cs typeface="ＭＳ Ｐゴシック" pitchFamily="-107" charset="-128"/>
              </a:rPr>
              <a:t>as </a:t>
            </a:r>
            <a:r>
              <a:rPr lang="en-US" sz="1200" b="1" kern="1200" baseline="0" err="1">
                <a:solidFill>
                  <a:schemeClr val="tx1"/>
                </a:solidFill>
                <a:latin typeface="Arial" charset="0"/>
                <a:ea typeface="ＭＳ Ｐゴシック" pitchFamily="-107" charset="-128"/>
                <a:cs typeface="ＭＳ Ｐゴシック" pitchFamily="-107" charset="-128"/>
              </a:rPr>
              <a:t>digrams</a:t>
            </a:r>
            <a:r>
              <a:rPr lang="en-US" sz="1200" kern="1200" baseline="0">
                <a:solidFill>
                  <a:schemeClr val="tx1"/>
                </a:solidFill>
                <a:latin typeface="Arial" charset="0"/>
                <a:ea typeface="ＭＳ Ｐゴシック" pitchFamily="-107" charset="-128"/>
                <a:cs typeface="ＭＳ Ｐゴシック" pitchFamily="-107" charset="-128"/>
              </a:rPr>
              <a:t> . A table similar to Figure 3.5 could be drawn up showing the relative frequency</a:t>
            </a:r>
          </a:p>
          <a:p>
            <a:r>
              <a:rPr lang="en-US" sz="1200" kern="1200" baseline="0">
                <a:solidFill>
                  <a:schemeClr val="tx1"/>
                </a:solidFill>
                <a:latin typeface="Arial" charset="0"/>
                <a:ea typeface="ＭＳ Ｐゴシック" pitchFamily="-107" charset="-128"/>
                <a:cs typeface="ＭＳ Ｐゴシック" pitchFamily="-107" charset="-128"/>
              </a:rPr>
              <a:t>of </a:t>
            </a:r>
            <a:r>
              <a:rPr lang="en-US" sz="1200" kern="1200" baseline="0" err="1">
                <a:solidFill>
                  <a:schemeClr val="tx1"/>
                </a:solidFill>
                <a:latin typeface="Arial" charset="0"/>
                <a:ea typeface="ＭＳ Ｐゴシック" pitchFamily="-107" charset="-128"/>
                <a:cs typeface="ＭＳ Ｐゴシック" pitchFamily="-107" charset="-128"/>
              </a:rPr>
              <a:t>digrams</a:t>
            </a:r>
            <a:r>
              <a:rPr lang="en-US" sz="1200" kern="1200" baseline="0">
                <a:solidFill>
                  <a:schemeClr val="tx1"/>
                </a:solidFill>
                <a:latin typeface="Arial" charset="0"/>
                <a:ea typeface="ＭＳ Ｐゴシック" pitchFamily="-107" charset="-128"/>
                <a:cs typeface="ＭＳ Ｐゴシック" pitchFamily="-107" charset="-128"/>
              </a:rPr>
              <a:t>. The most common such </a:t>
            </a:r>
            <a:r>
              <a:rPr lang="en-US" sz="1200" kern="1200" baseline="0" err="1">
                <a:solidFill>
                  <a:schemeClr val="tx1"/>
                </a:solidFill>
                <a:latin typeface="Arial" charset="0"/>
                <a:ea typeface="ＭＳ Ｐゴシック" pitchFamily="-107" charset="-128"/>
                <a:cs typeface="ＭＳ Ｐゴシック" pitchFamily="-107" charset="-128"/>
              </a:rPr>
              <a:t>digram</a:t>
            </a:r>
            <a:r>
              <a:rPr lang="en-US" sz="1200" kern="1200" baseline="0">
                <a:solidFill>
                  <a:schemeClr val="tx1"/>
                </a:solidFill>
                <a:latin typeface="Arial" charset="0"/>
                <a:ea typeface="ＭＳ Ｐゴシック" pitchFamily="-107" charset="-128"/>
                <a:cs typeface="ＭＳ Ｐゴシック" pitchFamily="-107" charset="-128"/>
              </a:rPr>
              <a:t> is </a:t>
            </a:r>
            <a:r>
              <a:rPr lang="en-US" sz="1200" kern="1200" baseline="0" err="1">
                <a:solidFill>
                  <a:schemeClr val="tx1"/>
                </a:solidFill>
                <a:latin typeface="Arial" charset="0"/>
                <a:ea typeface="ＭＳ Ｐゴシック" pitchFamily="-107" charset="-128"/>
                <a:cs typeface="ＭＳ Ｐゴシック" pitchFamily="-107" charset="-128"/>
              </a:rPr>
              <a:t>th.</a:t>
            </a:r>
            <a:r>
              <a:rPr lang="en-US" sz="1200" kern="1200" baseline="0">
                <a:solidFill>
                  <a:schemeClr val="tx1"/>
                </a:solidFill>
                <a:latin typeface="Arial" charset="0"/>
                <a:ea typeface="ＭＳ Ｐゴシック" pitchFamily="-107" charset="-128"/>
                <a:cs typeface="ＭＳ Ｐゴシック" pitchFamily="-107" charset="-128"/>
              </a:rPr>
              <a:t> In our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the most</a:t>
            </a:r>
          </a:p>
          <a:p>
            <a:r>
              <a:rPr lang="en-US" sz="1200" kern="1200" baseline="0">
                <a:solidFill>
                  <a:schemeClr val="tx1"/>
                </a:solidFill>
                <a:latin typeface="Arial" charset="0"/>
                <a:ea typeface="ＭＳ Ｐゴシック" pitchFamily="-107" charset="-128"/>
                <a:cs typeface="ＭＳ Ｐゴシック" pitchFamily="-107" charset="-128"/>
              </a:rPr>
              <a:t>common </a:t>
            </a:r>
            <a:r>
              <a:rPr lang="en-US" sz="1200" kern="1200" baseline="0" err="1">
                <a:solidFill>
                  <a:schemeClr val="tx1"/>
                </a:solidFill>
                <a:latin typeface="Arial" charset="0"/>
                <a:ea typeface="ＭＳ Ｐゴシック" pitchFamily="-107" charset="-128"/>
                <a:cs typeface="ＭＳ Ｐゴシック" pitchFamily="-107" charset="-128"/>
              </a:rPr>
              <a:t>digram</a:t>
            </a:r>
            <a:r>
              <a:rPr lang="en-US" sz="1200" kern="1200" baseline="0">
                <a:solidFill>
                  <a:schemeClr val="tx1"/>
                </a:solidFill>
                <a:latin typeface="Arial" charset="0"/>
                <a:ea typeface="ＭＳ Ｐゴシック" pitchFamily="-107" charset="-128"/>
                <a:cs typeface="ＭＳ Ｐゴシック" pitchFamily="-107" charset="-128"/>
              </a:rPr>
              <a:t> is ZW, which appears three times. So we make the correspondence</a:t>
            </a:r>
          </a:p>
          <a:p>
            <a:r>
              <a:rPr lang="en-US" sz="1200" kern="1200" baseline="0">
                <a:solidFill>
                  <a:schemeClr val="tx1"/>
                </a:solidFill>
                <a:latin typeface="Arial" charset="0"/>
                <a:ea typeface="ＭＳ Ｐゴシック" pitchFamily="-107" charset="-128"/>
                <a:cs typeface="ＭＳ Ｐゴシック" pitchFamily="-107" charset="-128"/>
              </a:rPr>
              <a:t>of Z with t and W with h. Then, by our earlier hypothesis, we can equate P with e.</a:t>
            </a:r>
          </a:p>
          <a:p>
            <a:r>
              <a:rPr lang="en-US" sz="1200" kern="1200" baseline="0">
                <a:solidFill>
                  <a:schemeClr val="tx1"/>
                </a:solidFill>
                <a:latin typeface="Arial" charset="0"/>
                <a:ea typeface="ＭＳ Ｐゴシック" pitchFamily="-107" charset="-128"/>
                <a:cs typeface="ＭＳ Ｐゴシック" pitchFamily="-107" charset="-128"/>
              </a:rPr>
              <a:t>Now notice that the sequence ZWP appears in the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and we can translate</a:t>
            </a:r>
          </a:p>
          <a:p>
            <a:r>
              <a:rPr lang="en-US" sz="1200" kern="1200" baseline="0">
                <a:solidFill>
                  <a:schemeClr val="tx1"/>
                </a:solidFill>
                <a:latin typeface="Arial" charset="0"/>
                <a:ea typeface="ＭＳ Ｐゴシック" pitchFamily="-107" charset="-128"/>
                <a:cs typeface="ＭＳ Ｐゴシック" pitchFamily="-107" charset="-128"/>
              </a:rPr>
              <a:t>that sequence as “the.” This is the most frequent trigram (three-letter combination)</a:t>
            </a:r>
          </a:p>
          <a:p>
            <a:r>
              <a:rPr lang="en-US" sz="1200" kern="1200" baseline="0">
                <a:solidFill>
                  <a:schemeClr val="tx1"/>
                </a:solidFill>
                <a:latin typeface="Arial" charset="0"/>
                <a:ea typeface="ＭＳ Ｐゴシック" pitchFamily="-107" charset="-128"/>
                <a:cs typeface="ＭＳ Ｐゴシック" pitchFamily="-107" charset="-128"/>
              </a:rPr>
              <a:t>in English, which seems to indicate that we are on the right track.</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Next, notice the sequence ZWSZ in the first line. We do not know that these</a:t>
            </a:r>
          </a:p>
          <a:p>
            <a:r>
              <a:rPr lang="en-US" sz="1200" kern="1200" baseline="0">
                <a:solidFill>
                  <a:schemeClr val="tx1"/>
                </a:solidFill>
                <a:latin typeface="Arial" charset="0"/>
                <a:ea typeface="ＭＳ Ｐゴシック" pitchFamily="-107" charset="-128"/>
                <a:cs typeface="ＭＳ Ｐゴシック" pitchFamily="-107" charset="-128"/>
              </a:rPr>
              <a:t>four letters form a complete word, but if they do, it is of the form </a:t>
            </a:r>
            <a:r>
              <a:rPr lang="en-US" sz="1200" kern="1200" baseline="0" err="1">
                <a:solidFill>
                  <a:schemeClr val="tx1"/>
                </a:solidFill>
                <a:latin typeface="Arial" charset="0"/>
                <a:ea typeface="ＭＳ Ｐゴシック" pitchFamily="-107" charset="-128"/>
                <a:cs typeface="ＭＳ Ｐゴシック" pitchFamily="-107" charset="-128"/>
              </a:rPr>
              <a:t>th_t</a:t>
            </a:r>
            <a:r>
              <a:rPr lang="en-US" sz="1200" kern="1200" baseline="0">
                <a:solidFill>
                  <a:schemeClr val="tx1"/>
                </a:solidFill>
                <a:latin typeface="Arial" charset="0"/>
                <a:ea typeface="ＭＳ Ｐゴシック" pitchFamily="-107" charset="-128"/>
                <a:cs typeface="ＭＳ Ｐゴシック" pitchFamily="-107" charset="-128"/>
              </a:rPr>
              <a:t>. If so, S</a:t>
            </a:r>
          </a:p>
          <a:p>
            <a:r>
              <a:rPr lang="en-US" sz="1200" kern="1200" baseline="0">
                <a:solidFill>
                  <a:schemeClr val="tx1"/>
                </a:solidFill>
                <a:latin typeface="Arial" charset="0"/>
                <a:ea typeface="ＭＳ Ｐゴシック" pitchFamily="-107" charset="-128"/>
                <a:cs typeface="ＭＳ Ｐゴシック" pitchFamily="-107" charset="-128"/>
              </a:rPr>
              <a:t>equates with a.</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 So far, then, we have</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UZQSOVUOHXMOPVGPOZPEVSGZWSZOPFPESXUDBMETSXAIZ</a:t>
            </a:r>
          </a:p>
          <a:p>
            <a:r>
              <a:rPr lang="en-US" sz="1200" kern="1200" baseline="0">
                <a:solidFill>
                  <a:schemeClr val="tx1"/>
                </a:solidFill>
                <a:latin typeface="Arial" charset="0"/>
                <a:ea typeface="ＭＳ Ｐゴシック" pitchFamily="-107" charset="-128"/>
                <a:cs typeface="ＭＳ Ｐゴシック" pitchFamily="-107" charset="-128"/>
              </a:rPr>
              <a:t>   t    a                     e      </a:t>
            </a:r>
            <a:r>
              <a:rPr lang="en-US" sz="1200" kern="1200" baseline="0" err="1">
                <a:solidFill>
                  <a:schemeClr val="tx1"/>
                </a:solidFill>
                <a:latin typeface="Arial" charset="0"/>
                <a:ea typeface="ＭＳ Ｐゴシック" pitchFamily="-107" charset="-128"/>
                <a:cs typeface="ＭＳ Ｐゴシック" pitchFamily="-107" charset="-128"/>
              </a:rPr>
              <a:t>e</a:t>
            </a:r>
            <a:r>
              <a:rPr lang="en-US" sz="1200" kern="1200" baseline="0">
                <a:solidFill>
                  <a:schemeClr val="tx1"/>
                </a:solidFill>
                <a:latin typeface="Arial" charset="0"/>
                <a:ea typeface="ＭＳ Ｐゴシック" pitchFamily="-107" charset="-128"/>
                <a:cs typeface="ＭＳ Ｐゴシック" pitchFamily="-107" charset="-128"/>
              </a:rPr>
              <a:t>    </a:t>
            </a:r>
            <a:r>
              <a:rPr lang="en-US" sz="1200" kern="1200" baseline="0" err="1">
                <a:solidFill>
                  <a:schemeClr val="tx1"/>
                </a:solidFill>
                <a:latin typeface="Arial" charset="0"/>
                <a:ea typeface="ＭＳ Ｐゴシック" pitchFamily="-107" charset="-128"/>
                <a:cs typeface="ＭＳ Ｐゴシック" pitchFamily="-107" charset="-128"/>
              </a:rPr>
              <a:t>te</a:t>
            </a:r>
            <a:r>
              <a:rPr lang="en-US" sz="1200" kern="1200" baseline="0">
                <a:solidFill>
                  <a:schemeClr val="tx1"/>
                </a:solidFill>
                <a:latin typeface="Arial" charset="0"/>
                <a:ea typeface="ＭＳ Ｐゴシック" pitchFamily="-107" charset="-128"/>
                <a:cs typeface="ＭＳ Ｐゴシック" pitchFamily="-107" charset="-128"/>
              </a:rPr>
              <a:t>      a    that     e   </a:t>
            </a:r>
            <a:r>
              <a:rPr lang="en-US" sz="1200" kern="1200" baseline="0" err="1">
                <a:solidFill>
                  <a:schemeClr val="tx1"/>
                </a:solidFill>
                <a:latin typeface="Arial" charset="0"/>
                <a:ea typeface="ＭＳ Ｐゴシック" pitchFamily="-107" charset="-128"/>
                <a:cs typeface="ＭＳ Ｐゴシック" pitchFamily="-107" charset="-128"/>
              </a:rPr>
              <a:t>e</a:t>
            </a:r>
            <a:r>
              <a:rPr lang="en-US" sz="1200" kern="1200" baseline="0">
                <a:solidFill>
                  <a:schemeClr val="tx1"/>
                </a:solidFill>
                <a:latin typeface="Arial" charset="0"/>
                <a:ea typeface="ＭＳ Ｐゴシック" pitchFamily="-107" charset="-128"/>
                <a:cs typeface="ＭＳ Ｐゴシック" pitchFamily="-107" charset="-128"/>
              </a:rPr>
              <a:t>   a                  </a:t>
            </a:r>
            <a:r>
              <a:rPr lang="en-US" sz="1200" kern="1200" baseline="0" err="1">
                <a:solidFill>
                  <a:schemeClr val="tx1"/>
                </a:solidFill>
                <a:latin typeface="Arial" charset="0"/>
                <a:ea typeface="ＭＳ Ｐゴシック" pitchFamily="-107" charset="-128"/>
                <a:cs typeface="ＭＳ Ｐゴシック" pitchFamily="-107" charset="-128"/>
              </a:rPr>
              <a:t>a</a:t>
            </a:r>
            <a:endParaRPr lang="en-US" sz="1200" kern="1200" baseline="0">
              <a:solidFill>
                <a:schemeClr val="tx1"/>
              </a:solidFill>
              <a:latin typeface="Arial" charset="0"/>
              <a:ea typeface="ＭＳ Ｐゴシック" pitchFamily="-107" charset="-128"/>
              <a:cs typeface="ＭＳ Ｐゴシック" pitchFamily="-107" charset="-128"/>
            </a:endParaRP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VUEPHZHMDZSHZOWSFPAPPDTSVPQUZWYMXUZUHSX</a:t>
            </a:r>
          </a:p>
          <a:p>
            <a:r>
              <a:rPr lang="en-US" sz="1200" kern="1200" baseline="0">
                <a:solidFill>
                  <a:schemeClr val="tx1"/>
                </a:solidFill>
                <a:latin typeface="Arial" charset="0"/>
                <a:ea typeface="ＭＳ Ｐゴシック" pitchFamily="-107" charset="-128"/>
                <a:cs typeface="ＭＳ Ｐゴシック" pitchFamily="-107" charset="-128"/>
              </a:rPr>
              <a:t>        e   t          ta    t    ha   e   </a:t>
            </a:r>
            <a:r>
              <a:rPr lang="en-US" sz="1200" kern="1200" baseline="0" err="1">
                <a:solidFill>
                  <a:schemeClr val="tx1"/>
                </a:solidFill>
                <a:latin typeface="Arial" charset="0"/>
                <a:ea typeface="ＭＳ Ｐゴシック" pitchFamily="-107" charset="-128"/>
                <a:cs typeface="ＭＳ Ｐゴシック" pitchFamily="-107" charset="-128"/>
              </a:rPr>
              <a:t>ee</a:t>
            </a:r>
            <a:r>
              <a:rPr lang="en-US" sz="1200" kern="1200" baseline="0">
                <a:solidFill>
                  <a:schemeClr val="tx1"/>
                </a:solidFill>
                <a:latin typeface="Arial" charset="0"/>
                <a:ea typeface="ＭＳ Ｐゴシック" pitchFamily="-107" charset="-128"/>
                <a:cs typeface="ＭＳ Ｐゴシック" pitchFamily="-107" charset="-128"/>
              </a:rPr>
              <a:t>     a   e       </a:t>
            </a:r>
            <a:r>
              <a:rPr lang="en-US" sz="1200" kern="1200" baseline="0" err="1">
                <a:solidFill>
                  <a:schemeClr val="tx1"/>
                </a:solidFill>
                <a:latin typeface="Arial" charset="0"/>
                <a:ea typeface="ＭＳ Ｐゴシック" pitchFamily="-107" charset="-128"/>
                <a:cs typeface="ＭＳ Ｐゴシック" pitchFamily="-107" charset="-128"/>
              </a:rPr>
              <a:t>th</a:t>
            </a:r>
            <a:r>
              <a:rPr lang="en-US" sz="1200" kern="1200" baseline="0">
                <a:solidFill>
                  <a:schemeClr val="tx1"/>
                </a:solidFill>
                <a:latin typeface="Arial" charset="0"/>
                <a:ea typeface="ＭＳ Ｐゴシック" pitchFamily="-107" charset="-128"/>
                <a:cs typeface="ＭＳ Ｐゴシック" pitchFamily="-107" charset="-128"/>
              </a:rPr>
              <a:t>            t       a</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EPYEPOPDZSZUFPOMBZWPFUPZHMDJUDTMOHMQ</a:t>
            </a:r>
          </a:p>
          <a:p>
            <a:r>
              <a:rPr lang="en-US" sz="1200" kern="1200" baseline="0">
                <a:solidFill>
                  <a:schemeClr val="tx1"/>
                </a:solidFill>
                <a:latin typeface="Arial" charset="0"/>
                <a:ea typeface="ＭＳ Ｐゴシック" pitchFamily="-107" charset="-128"/>
                <a:cs typeface="ＭＳ Ｐゴシック" pitchFamily="-107" charset="-128"/>
              </a:rPr>
              <a:t>   e     </a:t>
            </a:r>
            <a:r>
              <a:rPr lang="en-US" sz="1200" kern="1200" baseline="0" err="1">
                <a:solidFill>
                  <a:schemeClr val="tx1"/>
                </a:solidFill>
                <a:latin typeface="Arial" charset="0"/>
                <a:ea typeface="ＭＳ Ｐゴシック" pitchFamily="-107" charset="-128"/>
                <a:cs typeface="ＭＳ Ｐゴシック" pitchFamily="-107" charset="-128"/>
              </a:rPr>
              <a:t>e</a:t>
            </a:r>
            <a:r>
              <a:rPr lang="en-US" sz="1200" kern="1200" baseline="0">
                <a:solidFill>
                  <a:schemeClr val="tx1"/>
                </a:solidFill>
                <a:latin typeface="Arial" charset="0"/>
                <a:ea typeface="ＭＳ Ｐゴシック" pitchFamily="-107" charset="-128"/>
                <a:cs typeface="ＭＳ Ｐゴシック" pitchFamily="-107" charset="-128"/>
              </a:rPr>
              <a:t>   </a:t>
            </a:r>
            <a:r>
              <a:rPr lang="en-US" sz="1200" kern="1200" baseline="0" err="1">
                <a:solidFill>
                  <a:schemeClr val="tx1"/>
                </a:solidFill>
                <a:latin typeface="Arial" charset="0"/>
                <a:ea typeface="ＭＳ Ｐゴシック" pitchFamily="-107" charset="-128"/>
                <a:cs typeface="ＭＳ Ｐゴシック" pitchFamily="-107" charset="-128"/>
              </a:rPr>
              <a:t>e</a:t>
            </a:r>
            <a:r>
              <a:rPr lang="en-US" sz="1200" kern="1200" baseline="0">
                <a:solidFill>
                  <a:schemeClr val="tx1"/>
                </a:solidFill>
                <a:latin typeface="Arial" charset="0"/>
                <a:ea typeface="ＭＳ Ｐゴシック" pitchFamily="-107" charset="-128"/>
                <a:cs typeface="ＭＳ Ｐゴシック" pitchFamily="-107" charset="-128"/>
              </a:rPr>
              <a:t>    tat      e           the         t</a:t>
            </a:r>
          </a:p>
          <a:p>
            <a:r>
              <a:rPr lang="en-US" sz="1200" kern="1200" baseline="0">
                <a:solidFill>
                  <a:schemeClr val="tx1"/>
                </a:solidFill>
                <a:latin typeface="Arial" charset="0"/>
                <a:ea typeface="ＭＳ Ｐゴシック" pitchFamily="-107" charset="-128"/>
                <a:cs typeface="ＭＳ Ｐゴシック" pitchFamily="-107" charset="-128"/>
              </a:rPr>
              <a:t> </a:t>
            </a:r>
          </a:p>
          <a:p>
            <a:r>
              <a:rPr lang="en-US" sz="1200" kern="1200" baseline="0">
                <a:solidFill>
                  <a:schemeClr val="tx1"/>
                </a:solidFill>
                <a:latin typeface="Arial" charset="0"/>
                <a:ea typeface="ＭＳ Ｐゴシック" pitchFamily="-107" charset="-128"/>
                <a:cs typeface="ＭＳ Ｐゴシック" pitchFamily="-107" charset="-128"/>
              </a:rPr>
              <a:t>Only four letters have been identified, but already we have quite a bit of the</a:t>
            </a:r>
          </a:p>
          <a:p>
            <a:r>
              <a:rPr lang="en-US" sz="1200" kern="1200" baseline="0">
                <a:solidFill>
                  <a:schemeClr val="tx1"/>
                </a:solidFill>
                <a:latin typeface="Arial" charset="0"/>
                <a:ea typeface="ＭＳ Ｐゴシック" pitchFamily="-107" charset="-128"/>
                <a:cs typeface="ＭＳ Ｐゴシック" pitchFamily="-107" charset="-128"/>
              </a:rPr>
              <a:t>message. Continued analysis of frequencies plus trial and error should easily yield a</a:t>
            </a:r>
          </a:p>
          <a:p>
            <a:r>
              <a:rPr lang="en-US" sz="1200" kern="1200" baseline="0">
                <a:solidFill>
                  <a:schemeClr val="tx1"/>
                </a:solidFill>
                <a:latin typeface="Arial" charset="0"/>
                <a:ea typeface="ＭＳ Ｐゴシック" pitchFamily="-107" charset="-128"/>
                <a:cs typeface="ＭＳ Ｐゴシック" pitchFamily="-107" charset="-128"/>
              </a:rPr>
              <a:t>solution from this point. The complete plaintext, with spaces added between words,</a:t>
            </a:r>
          </a:p>
          <a:p>
            <a:r>
              <a:rPr lang="en-US" sz="1200" kern="1200" baseline="0">
                <a:solidFill>
                  <a:schemeClr val="tx1"/>
                </a:solidFill>
                <a:latin typeface="Arial" charset="0"/>
                <a:ea typeface="ＭＳ Ｐゴシック" pitchFamily="-107" charset="-128"/>
                <a:cs typeface="ＭＳ Ｐゴシック" pitchFamily="-107" charset="-128"/>
              </a:rPr>
              <a:t>follows:</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it was disclosed yesterday that several informal but</a:t>
            </a:r>
          </a:p>
          <a:p>
            <a:r>
              <a:rPr lang="en-US" sz="1200" kern="1200" baseline="0">
                <a:solidFill>
                  <a:schemeClr val="tx1"/>
                </a:solidFill>
                <a:latin typeface="Arial" charset="0"/>
                <a:ea typeface="ＭＳ Ｐゴシック" pitchFamily="-107" charset="-128"/>
                <a:cs typeface="ＭＳ Ｐゴシック" pitchFamily="-107" charset="-128"/>
              </a:rPr>
              <a:t>direct contacts have been made with political</a:t>
            </a:r>
          </a:p>
          <a:p>
            <a:r>
              <a:rPr lang="en-US" sz="1200" kern="1200" baseline="0">
                <a:solidFill>
                  <a:schemeClr val="tx1"/>
                </a:solidFill>
                <a:latin typeface="Arial" charset="0"/>
                <a:ea typeface="ＭＳ Ｐゴシック" pitchFamily="-107" charset="-128"/>
                <a:cs typeface="ＭＳ Ｐゴシック" pitchFamily="-107" charset="-128"/>
              </a:rPr>
              <a:t>representatives of the Viet </a:t>
            </a:r>
            <a:r>
              <a:rPr lang="en-US" sz="1200" kern="1200" baseline="0" err="1">
                <a:solidFill>
                  <a:schemeClr val="tx1"/>
                </a:solidFill>
                <a:latin typeface="Arial" charset="0"/>
                <a:ea typeface="ＭＳ Ｐゴシック" pitchFamily="-107" charset="-128"/>
                <a:cs typeface="ＭＳ Ｐゴシック" pitchFamily="-107" charset="-128"/>
              </a:rPr>
              <a:t>cong</a:t>
            </a:r>
            <a:r>
              <a:rPr lang="en-US" sz="1200" kern="1200" baseline="0">
                <a:solidFill>
                  <a:schemeClr val="tx1"/>
                </a:solidFill>
                <a:latin typeface="Arial" charset="0"/>
                <a:ea typeface="ＭＳ Ｐゴシック" pitchFamily="-107" charset="-128"/>
                <a:cs typeface="ＭＳ Ｐゴシック" pitchFamily="-107" charset="-128"/>
              </a:rPr>
              <a:t> in Moscow</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err="1">
                <a:solidFill>
                  <a:schemeClr val="tx1"/>
                </a:solidFill>
                <a:latin typeface="Arial" charset="0"/>
                <a:ea typeface="ＭＳ Ｐゴシック" pitchFamily="-107" charset="-128"/>
                <a:cs typeface="ＭＳ Ｐゴシック" pitchFamily="-107" charset="-128"/>
              </a:rPr>
              <a:t>Monoalphabetic</a:t>
            </a:r>
            <a:r>
              <a:rPr lang="en-US" sz="1200" kern="1200" baseline="0">
                <a:solidFill>
                  <a:schemeClr val="tx1"/>
                </a:solidFill>
                <a:latin typeface="Arial" charset="0"/>
                <a:ea typeface="ＭＳ Ｐゴシック" pitchFamily="-107" charset="-128"/>
                <a:cs typeface="ＭＳ Ｐゴシック" pitchFamily="-107" charset="-128"/>
              </a:rPr>
              <a:t> ciphers are easy to break because they reflect the frequency</a:t>
            </a:r>
          </a:p>
          <a:p>
            <a:r>
              <a:rPr lang="en-US" sz="1200" kern="1200" baseline="0">
                <a:solidFill>
                  <a:schemeClr val="tx1"/>
                </a:solidFill>
                <a:latin typeface="Arial" charset="0"/>
                <a:ea typeface="ＭＳ Ｐゴシック" pitchFamily="-107" charset="-128"/>
                <a:cs typeface="ＭＳ Ｐゴシック" pitchFamily="-107" charset="-128"/>
              </a:rPr>
              <a:t>data of the original alphabet. A countermeasure is to provide multiple substitutes,</a:t>
            </a:r>
          </a:p>
          <a:p>
            <a:r>
              <a:rPr lang="en-US" sz="1200" kern="1200" baseline="0">
                <a:solidFill>
                  <a:schemeClr val="tx1"/>
                </a:solidFill>
                <a:latin typeface="Arial" charset="0"/>
                <a:ea typeface="ＭＳ Ｐゴシック" pitchFamily="-107" charset="-128"/>
                <a:cs typeface="ＭＳ Ｐゴシック" pitchFamily="-107" charset="-128"/>
              </a:rPr>
              <a:t> known as homophones, for a single letter. For example, the letter e could be assigned</a:t>
            </a:r>
          </a:p>
          <a:p>
            <a:r>
              <a:rPr lang="en-US" sz="1200" kern="1200" baseline="0">
                <a:solidFill>
                  <a:schemeClr val="tx1"/>
                </a:solidFill>
                <a:latin typeface="Arial" charset="0"/>
                <a:ea typeface="ＭＳ Ｐゴシック" pitchFamily="-107" charset="-128"/>
                <a:cs typeface="ＭＳ Ｐゴシック" pitchFamily="-107" charset="-128"/>
              </a:rPr>
              <a:t>a number of different cipher symbols, such as 16, 74, 35, and 21, with each</a:t>
            </a:r>
          </a:p>
          <a:p>
            <a:r>
              <a:rPr lang="en-US" sz="1200" kern="1200" baseline="0">
                <a:solidFill>
                  <a:schemeClr val="tx1"/>
                </a:solidFill>
                <a:latin typeface="Arial" charset="0"/>
                <a:ea typeface="ＭＳ Ｐゴシック" pitchFamily="-107" charset="-128"/>
                <a:cs typeface="ＭＳ Ｐゴシック" pitchFamily="-107" charset="-128"/>
              </a:rPr>
              <a:t>homophone assigned to a letter in rotation or randomly. If the number of symbols</a:t>
            </a:r>
          </a:p>
          <a:p>
            <a:r>
              <a:rPr lang="en-US" sz="1200" kern="1200" baseline="0">
                <a:solidFill>
                  <a:schemeClr val="tx1"/>
                </a:solidFill>
                <a:latin typeface="Arial" charset="0"/>
                <a:ea typeface="ＭＳ Ｐゴシック" pitchFamily="-107" charset="-128"/>
                <a:cs typeface="ＭＳ Ｐゴシック" pitchFamily="-107" charset="-128"/>
              </a:rPr>
              <a:t>assigned to each letter is proportional to the relative frequency of that letter, then</a:t>
            </a:r>
          </a:p>
          <a:p>
            <a:r>
              <a:rPr lang="en-US" sz="1200" kern="1200" baseline="0">
                <a:solidFill>
                  <a:schemeClr val="tx1"/>
                </a:solidFill>
                <a:latin typeface="Arial" charset="0"/>
                <a:ea typeface="ＭＳ Ｐゴシック" pitchFamily="-107" charset="-128"/>
                <a:cs typeface="ＭＳ Ｐゴシック" pitchFamily="-107" charset="-128"/>
              </a:rPr>
              <a:t>single-letter frequency information is completely obliterated. The great mathematician</a:t>
            </a:r>
          </a:p>
          <a:p>
            <a:r>
              <a:rPr lang="en-US" sz="1200" kern="1200" baseline="0">
                <a:solidFill>
                  <a:schemeClr val="tx1"/>
                </a:solidFill>
                <a:latin typeface="Arial" charset="0"/>
                <a:ea typeface="ＭＳ Ｐゴシック" pitchFamily="-107" charset="-128"/>
                <a:cs typeface="ＭＳ Ｐゴシック" pitchFamily="-107" charset="-128"/>
              </a:rPr>
              <a:t>Carl Friedrich Gauss believed that he had devised an unbreakable cipher using</a:t>
            </a:r>
          </a:p>
          <a:p>
            <a:r>
              <a:rPr lang="en-US" sz="1200" kern="1200" baseline="0">
                <a:solidFill>
                  <a:schemeClr val="tx1"/>
                </a:solidFill>
                <a:latin typeface="Arial" charset="0"/>
                <a:ea typeface="ＭＳ Ｐゴシック" pitchFamily="-107" charset="-128"/>
                <a:cs typeface="ＭＳ Ｐゴシック" pitchFamily="-107" charset="-128"/>
              </a:rPr>
              <a:t>homophones. However, even with homophones, each element of plaintext affects</a:t>
            </a:r>
          </a:p>
          <a:p>
            <a:r>
              <a:rPr lang="en-US" sz="1200" kern="1200" baseline="0">
                <a:solidFill>
                  <a:schemeClr val="tx1"/>
                </a:solidFill>
                <a:latin typeface="Arial" charset="0"/>
                <a:ea typeface="ＭＳ Ｐゴシック" pitchFamily="-107" charset="-128"/>
                <a:cs typeface="ＭＳ Ｐゴシック" pitchFamily="-107" charset="-128"/>
              </a:rPr>
              <a:t>only one element of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and multiple-letter patterns (e.g., </a:t>
            </a:r>
            <a:r>
              <a:rPr lang="en-US" sz="1200" kern="1200" baseline="0" err="1">
                <a:solidFill>
                  <a:schemeClr val="tx1"/>
                </a:solidFill>
                <a:latin typeface="Arial" charset="0"/>
                <a:ea typeface="ＭＳ Ｐゴシック" pitchFamily="-107" charset="-128"/>
                <a:cs typeface="ＭＳ Ｐゴシック" pitchFamily="-107" charset="-128"/>
              </a:rPr>
              <a:t>digram</a:t>
            </a:r>
            <a:r>
              <a:rPr lang="en-US" sz="1200" kern="1200" baseline="0">
                <a:solidFill>
                  <a:schemeClr val="tx1"/>
                </a:solidFill>
                <a:latin typeface="Arial" charset="0"/>
                <a:ea typeface="ＭＳ Ｐゴシック" pitchFamily="-107" charset="-128"/>
                <a:cs typeface="ＭＳ Ｐゴシック" pitchFamily="-107" charset="-128"/>
              </a:rPr>
              <a:t> frequencies)</a:t>
            </a:r>
          </a:p>
          <a:p>
            <a:r>
              <a:rPr lang="en-US" sz="1200" kern="1200" baseline="0">
                <a:solidFill>
                  <a:schemeClr val="tx1"/>
                </a:solidFill>
                <a:latin typeface="Arial" charset="0"/>
                <a:ea typeface="ＭＳ Ｐゴシック" pitchFamily="-107" charset="-128"/>
                <a:cs typeface="ＭＳ Ｐゴシック" pitchFamily="-107" charset="-128"/>
              </a:rPr>
              <a:t>still survive in the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making cryptanalysis relatively straightforward.</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Two principal methods are used in substitution ciphers to lessen the extent to</a:t>
            </a:r>
          </a:p>
          <a:p>
            <a:r>
              <a:rPr lang="en-US" sz="1200" kern="1200" baseline="0">
                <a:solidFill>
                  <a:schemeClr val="tx1"/>
                </a:solidFill>
                <a:latin typeface="Arial" charset="0"/>
                <a:ea typeface="ＭＳ Ｐゴシック" pitchFamily="-107" charset="-128"/>
                <a:cs typeface="ＭＳ Ｐゴシック" pitchFamily="-107" charset="-128"/>
              </a:rPr>
              <a:t>which the structure of the plaintext survives in the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One approach is to</a:t>
            </a:r>
          </a:p>
          <a:p>
            <a:r>
              <a:rPr lang="en-US" sz="1200" kern="1200" baseline="0">
                <a:solidFill>
                  <a:schemeClr val="tx1"/>
                </a:solidFill>
                <a:latin typeface="Arial" charset="0"/>
                <a:ea typeface="ＭＳ Ｐゴシック" pitchFamily="-107" charset="-128"/>
                <a:cs typeface="ＭＳ Ｐゴシック" pitchFamily="-107" charset="-128"/>
              </a:rPr>
              <a:t>encrypt multiple letters of plaintext, and the other is to use multiple cipher alphabets.</a:t>
            </a:r>
          </a:p>
          <a:p>
            <a:r>
              <a:rPr lang="en-US" sz="1200" kern="1200" baseline="0">
                <a:solidFill>
                  <a:schemeClr val="tx1"/>
                </a:solidFill>
                <a:latin typeface="Arial" charset="0"/>
                <a:ea typeface="ＭＳ Ｐゴシック" pitchFamily="-107" charset="-128"/>
                <a:cs typeface="ＭＳ Ｐゴシック" pitchFamily="-107" charset="-128"/>
              </a:rPr>
              <a:t>We briefly examine each.</a:t>
            </a:r>
            <a:endParaRPr lang="en-AU">
              <a:solidFill>
                <a:srgbClr val="000000"/>
              </a:solidFill>
              <a:latin typeface="Arial" pitchFamily="-1" charset="0"/>
              <a:ea typeface="Arial" pitchFamily="-1" charset="0"/>
              <a:cs typeface="Arial" pitchFamily="-1"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39</a:t>
            </a:fld>
            <a:endParaRPr lang="en-US"/>
          </a:p>
        </p:txBody>
      </p:sp>
    </p:spTree>
    <p:extLst>
      <p:ext uri="{BB962C8B-B14F-4D97-AF65-F5344CB8AC3E}">
        <p14:creationId xmlns:p14="http://schemas.microsoft.com/office/powerpoint/2010/main" val="11959177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One way of revealing the effectiveness of the </a:t>
            </a:r>
            <a:r>
              <a:rPr lang="en-US" sz="1200" kern="1200" baseline="0" err="1">
                <a:solidFill>
                  <a:schemeClr val="tx1"/>
                </a:solidFill>
                <a:latin typeface="Arial" charset="0"/>
                <a:ea typeface="ＭＳ Ｐゴシック" pitchFamily="-107" charset="-128"/>
                <a:cs typeface="ＭＳ Ｐゴシック" pitchFamily="-107" charset="-128"/>
              </a:rPr>
              <a:t>Playfair</a:t>
            </a:r>
            <a:r>
              <a:rPr lang="en-US" sz="1200" kern="1200" baseline="0">
                <a:solidFill>
                  <a:schemeClr val="tx1"/>
                </a:solidFill>
                <a:latin typeface="Arial" charset="0"/>
                <a:ea typeface="ＭＳ Ｐゴシック" pitchFamily="-107" charset="-128"/>
                <a:cs typeface="ＭＳ Ｐゴシック" pitchFamily="-107" charset="-128"/>
              </a:rPr>
              <a:t> and other ciphers</a:t>
            </a:r>
          </a:p>
          <a:p>
            <a:r>
              <a:rPr lang="en-US" sz="1200" kern="1200" baseline="0">
                <a:solidFill>
                  <a:schemeClr val="tx1"/>
                </a:solidFill>
                <a:latin typeface="Arial" charset="0"/>
                <a:ea typeface="ＭＳ Ｐゴシック" pitchFamily="-107" charset="-128"/>
                <a:cs typeface="ＭＳ Ｐゴシック" pitchFamily="-107" charset="-128"/>
              </a:rPr>
              <a:t>is shown in Figure 3.6. The line labeled </a:t>
            </a:r>
            <a:r>
              <a:rPr lang="en-US" sz="1200" i="1" kern="1200" baseline="0">
                <a:solidFill>
                  <a:schemeClr val="tx1"/>
                </a:solidFill>
                <a:latin typeface="Arial" charset="0"/>
                <a:ea typeface="ＭＳ Ｐゴシック" pitchFamily="-107" charset="-128"/>
                <a:cs typeface="ＭＳ Ｐゴシック" pitchFamily="-107" charset="-128"/>
              </a:rPr>
              <a:t>plaintext</a:t>
            </a:r>
            <a:r>
              <a:rPr lang="en-US" sz="1200" kern="1200" baseline="0">
                <a:solidFill>
                  <a:schemeClr val="tx1"/>
                </a:solidFill>
                <a:latin typeface="Arial" charset="0"/>
                <a:ea typeface="ＭＳ Ｐゴシック" pitchFamily="-107" charset="-128"/>
                <a:cs typeface="ＭＳ Ｐゴシック" pitchFamily="-107" charset="-128"/>
              </a:rPr>
              <a:t>  plots a typical frequency</a:t>
            </a:r>
          </a:p>
          <a:p>
            <a:r>
              <a:rPr lang="en-US" sz="1200" kern="1200" baseline="0">
                <a:solidFill>
                  <a:schemeClr val="tx1"/>
                </a:solidFill>
                <a:latin typeface="Arial" charset="0"/>
                <a:ea typeface="ＭＳ Ｐゴシック" pitchFamily="-107" charset="-128"/>
                <a:cs typeface="ＭＳ Ｐゴシック" pitchFamily="-107" charset="-128"/>
              </a:rPr>
              <a:t>distribution of the 26 alphabetic characters (no distinction between upper</a:t>
            </a:r>
          </a:p>
          <a:p>
            <a:r>
              <a:rPr lang="en-US" sz="1200" kern="1200" baseline="0">
                <a:solidFill>
                  <a:schemeClr val="tx1"/>
                </a:solidFill>
                <a:latin typeface="Arial" charset="0"/>
                <a:ea typeface="ＭＳ Ｐゴシック" pitchFamily="-107" charset="-128"/>
                <a:cs typeface="ＭＳ Ｐゴシック" pitchFamily="-107" charset="-128"/>
              </a:rPr>
              <a:t>and lower case) in ordinary text. This is also the frequency distribution of any</a:t>
            </a:r>
          </a:p>
          <a:p>
            <a:r>
              <a:rPr lang="en-US" sz="1200" kern="1200" baseline="0" err="1">
                <a:solidFill>
                  <a:schemeClr val="tx1"/>
                </a:solidFill>
                <a:latin typeface="Arial" charset="0"/>
                <a:ea typeface="ＭＳ Ｐゴシック" pitchFamily="-107" charset="-128"/>
                <a:cs typeface="ＭＳ Ｐゴシック" pitchFamily="-107" charset="-128"/>
              </a:rPr>
              <a:t>monoalphabetic</a:t>
            </a:r>
            <a:r>
              <a:rPr lang="en-US" sz="1200" kern="1200" baseline="0">
                <a:solidFill>
                  <a:schemeClr val="tx1"/>
                </a:solidFill>
                <a:latin typeface="Arial" charset="0"/>
                <a:ea typeface="ＭＳ Ｐゴシック" pitchFamily="-107" charset="-128"/>
                <a:cs typeface="ＭＳ Ｐゴシック" pitchFamily="-107" charset="-128"/>
              </a:rPr>
              <a:t> substitution cipher, because the frequency values for individual</a:t>
            </a:r>
          </a:p>
          <a:p>
            <a:r>
              <a:rPr lang="en-US" sz="1200" kern="1200" baseline="0">
                <a:solidFill>
                  <a:schemeClr val="tx1"/>
                </a:solidFill>
                <a:latin typeface="Arial" charset="0"/>
                <a:ea typeface="ＭＳ Ｐゴシック" pitchFamily="-107" charset="-128"/>
                <a:cs typeface="ＭＳ Ｐゴシック" pitchFamily="-107" charset="-128"/>
              </a:rPr>
              <a:t>letters are the same, just with different letters substituted for the original letters.</a:t>
            </a:r>
          </a:p>
          <a:p>
            <a:r>
              <a:rPr lang="en-US" sz="1200" kern="1200" baseline="0">
                <a:solidFill>
                  <a:schemeClr val="tx1"/>
                </a:solidFill>
                <a:latin typeface="Arial" charset="0"/>
                <a:ea typeface="ＭＳ Ｐゴシック" pitchFamily="-107" charset="-128"/>
                <a:cs typeface="ＭＳ Ｐゴシック" pitchFamily="-107" charset="-128"/>
              </a:rPr>
              <a:t>The plot is developed in the following way: The number of occurrences of each</a:t>
            </a:r>
          </a:p>
          <a:p>
            <a:r>
              <a:rPr lang="en-US" sz="1200" kern="1200" baseline="0">
                <a:solidFill>
                  <a:schemeClr val="tx1"/>
                </a:solidFill>
                <a:latin typeface="Arial" charset="0"/>
                <a:ea typeface="ＭＳ Ｐゴシック" pitchFamily="-107" charset="-128"/>
                <a:cs typeface="ＭＳ Ｐゴシック" pitchFamily="-107" charset="-128"/>
              </a:rPr>
              <a:t>letter in the text is counted and divided by the number of occurrences of the</a:t>
            </a:r>
          </a:p>
          <a:p>
            <a:r>
              <a:rPr lang="en-US" sz="1200" kern="1200" baseline="0">
                <a:solidFill>
                  <a:schemeClr val="tx1"/>
                </a:solidFill>
                <a:latin typeface="Arial" charset="0"/>
                <a:ea typeface="ＭＳ Ｐゴシック" pitchFamily="-107" charset="-128"/>
                <a:cs typeface="ＭＳ Ｐゴシック" pitchFamily="-107" charset="-128"/>
              </a:rPr>
              <a:t>most frequently used letter. Using the results of Figure 3.5, we see that</a:t>
            </a:r>
          </a:p>
          <a:p>
            <a:r>
              <a:rPr lang="en-US" sz="1200" kern="1200" baseline="0">
                <a:solidFill>
                  <a:schemeClr val="tx1"/>
                </a:solidFill>
                <a:latin typeface="Arial" charset="0"/>
                <a:ea typeface="ＭＳ Ｐゴシック" pitchFamily="-107" charset="-128"/>
                <a:cs typeface="ＭＳ Ｐゴシック" pitchFamily="-107" charset="-128"/>
              </a:rPr>
              <a:t>e is the most frequently used letter. As a result, e has a relative frequency of 1, t of</a:t>
            </a:r>
          </a:p>
          <a:p>
            <a:r>
              <a:rPr lang="en-US" sz="1200" kern="1200" baseline="0">
                <a:solidFill>
                  <a:schemeClr val="tx1"/>
                </a:solidFill>
                <a:latin typeface="Arial" charset="0"/>
                <a:ea typeface="ＭＳ Ｐゴシック" pitchFamily="-107" charset="-128"/>
                <a:cs typeface="ＭＳ Ｐゴシック" pitchFamily="-107" charset="-128"/>
              </a:rPr>
              <a:t> 9.056/12.702   0.72, and so on. The points on the horizontal axis correspond</a:t>
            </a:r>
          </a:p>
          <a:p>
            <a:r>
              <a:rPr lang="en-US" sz="1200" kern="1200" baseline="0">
                <a:solidFill>
                  <a:schemeClr val="tx1"/>
                </a:solidFill>
                <a:latin typeface="Arial" charset="0"/>
                <a:ea typeface="ＭＳ Ｐゴシック" pitchFamily="-107" charset="-128"/>
                <a:cs typeface="ＭＳ Ｐゴシック" pitchFamily="-107" charset="-128"/>
              </a:rPr>
              <a:t>to the letters in order of decreasing frequency.</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Figure 3.6 also shows the frequency distribution that results when the text</a:t>
            </a:r>
          </a:p>
          <a:p>
            <a:r>
              <a:rPr lang="en-US" sz="1200" kern="1200" baseline="0">
                <a:solidFill>
                  <a:schemeClr val="tx1"/>
                </a:solidFill>
                <a:latin typeface="Arial" charset="0"/>
                <a:ea typeface="ＭＳ Ｐゴシック" pitchFamily="-107" charset="-128"/>
                <a:cs typeface="ＭＳ Ｐゴシック" pitchFamily="-107" charset="-128"/>
              </a:rPr>
              <a:t>is encrypted using the </a:t>
            </a:r>
            <a:r>
              <a:rPr lang="en-US" sz="1200" kern="1200" baseline="0" err="1">
                <a:solidFill>
                  <a:schemeClr val="tx1"/>
                </a:solidFill>
                <a:latin typeface="Arial" charset="0"/>
                <a:ea typeface="ＭＳ Ｐゴシック" pitchFamily="-107" charset="-128"/>
                <a:cs typeface="ＭＳ Ｐゴシック" pitchFamily="-107" charset="-128"/>
              </a:rPr>
              <a:t>Playfair</a:t>
            </a:r>
            <a:r>
              <a:rPr lang="en-US" sz="1200" kern="1200" baseline="0">
                <a:solidFill>
                  <a:schemeClr val="tx1"/>
                </a:solidFill>
                <a:latin typeface="Arial" charset="0"/>
                <a:ea typeface="ＭＳ Ｐゴシック" pitchFamily="-107" charset="-128"/>
                <a:cs typeface="ＭＳ Ｐゴシック" pitchFamily="-107" charset="-128"/>
              </a:rPr>
              <a:t> cipher. To normalize the plot, the number of</a:t>
            </a:r>
          </a:p>
          <a:p>
            <a:r>
              <a:rPr lang="en-US" sz="1200" kern="1200" baseline="0">
                <a:solidFill>
                  <a:schemeClr val="tx1"/>
                </a:solidFill>
                <a:latin typeface="Arial" charset="0"/>
                <a:ea typeface="ＭＳ Ｐゴシック" pitchFamily="-107" charset="-128"/>
                <a:cs typeface="ＭＳ Ｐゴシック" pitchFamily="-107" charset="-128"/>
              </a:rPr>
              <a:t>occurrences of each letter in the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was again divided by the number of</a:t>
            </a:r>
          </a:p>
          <a:p>
            <a:r>
              <a:rPr lang="en-US" sz="1200" kern="1200" baseline="0">
                <a:solidFill>
                  <a:schemeClr val="tx1"/>
                </a:solidFill>
                <a:latin typeface="Arial" charset="0"/>
                <a:ea typeface="ＭＳ Ｐゴシック" pitchFamily="-107" charset="-128"/>
                <a:cs typeface="ＭＳ Ｐゴシック" pitchFamily="-107" charset="-128"/>
              </a:rPr>
              <a:t>occurrences of e in the plaintext. The resulting plot therefore shows the extent</a:t>
            </a:r>
          </a:p>
          <a:p>
            <a:r>
              <a:rPr lang="en-US" sz="1200" kern="1200" baseline="0">
                <a:solidFill>
                  <a:schemeClr val="tx1"/>
                </a:solidFill>
                <a:latin typeface="Arial" charset="0"/>
                <a:ea typeface="ＭＳ Ｐゴシック" pitchFamily="-107" charset="-128"/>
                <a:cs typeface="ＭＳ Ｐゴシック" pitchFamily="-107" charset="-128"/>
              </a:rPr>
              <a:t>to which the frequency distribution of letters, which makes it trivial to solve</a:t>
            </a:r>
          </a:p>
          <a:p>
            <a:r>
              <a:rPr lang="en-US" sz="1200" kern="1200" baseline="0">
                <a:solidFill>
                  <a:schemeClr val="tx1"/>
                </a:solidFill>
                <a:latin typeface="Arial" charset="0"/>
                <a:ea typeface="ＭＳ Ｐゴシック" pitchFamily="-107" charset="-128"/>
                <a:cs typeface="ＭＳ Ｐゴシック" pitchFamily="-107" charset="-128"/>
              </a:rPr>
              <a:t>substitution ciphers, is masked by encryption. If the frequency distribution</a:t>
            </a:r>
          </a:p>
          <a:p>
            <a:r>
              <a:rPr lang="en-US" sz="1200" kern="1200" baseline="0">
                <a:solidFill>
                  <a:schemeClr val="tx1"/>
                </a:solidFill>
                <a:latin typeface="Arial" charset="0"/>
                <a:ea typeface="ＭＳ Ｐゴシック" pitchFamily="-107" charset="-128"/>
                <a:cs typeface="ＭＳ Ｐゴシック" pitchFamily="-107" charset="-128"/>
              </a:rPr>
              <a:t>information were totally concealed in the encryption process, the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plot</a:t>
            </a:r>
          </a:p>
          <a:p>
            <a:r>
              <a:rPr lang="en-US" sz="1200" kern="1200" baseline="0">
                <a:solidFill>
                  <a:schemeClr val="tx1"/>
                </a:solidFill>
                <a:latin typeface="Arial" charset="0"/>
                <a:ea typeface="ＭＳ Ｐゴシック" pitchFamily="-107" charset="-128"/>
                <a:cs typeface="ＭＳ Ｐゴシック" pitchFamily="-107" charset="-128"/>
              </a:rPr>
              <a:t>of frequencies would be flat, and cryptanalysis using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only would be</a:t>
            </a:r>
          </a:p>
          <a:p>
            <a:r>
              <a:rPr lang="en-US" sz="1200" kern="1200" baseline="0">
                <a:solidFill>
                  <a:schemeClr val="tx1"/>
                </a:solidFill>
                <a:latin typeface="Arial" charset="0"/>
                <a:ea typeface="ＭＳ Ｐゴシック" pitchFamily="-107" charset="-128"/>
                <a:cs typeface="ＭＳ Ｐゴシック" pitchFamily="-107" charset="-128"/>
              </a:rPr>
              <a:t>effectively impossible. As the figure shows, the </a:t>
            </a:r>
            <a:r>
              <a:rPr lang="en-US" sz="1200" kern="1200" baseline="0" err="1">
                <a:solidFill>
                  <a:schemeClr val="tx1"/>
                </a:solidFill>
                <a:latin typeface="Arial" charset="0"/>
                <a:ea typeface="ＭＳ Ｐゴシック" pitchFamily="-107" charset="-128"/>
                <a:cs typeface="ＭＳ Ｐゴシック" pitchFamily="-107" charset="-128"/>
              </a:rPr>
              <a:t>Playfair</a:t>
            </a:r>
            <a:r>
              <a:rPr lang="en-US" sz="1200" kern="1200" baseline="0">
                <a:solidFill>
                  <a:schemeClr val="tx1"/>
                </a:solidFill>
                <a:latin typeface="Arial" charset="0"/>
                <a:ea typeface="ＭＳ Ｐゴシック" pitchFamily="-107" charset="-128"/>
                <a:cs typeface="ＭＳ Ｐゴシック" pitchFamily="-107" charset="-128"/>
              </a:rPr>
              <a:t> cipher has a flatter distribution</a:t>
            </a:r>
          </a:p>
          <a:p>
            <a:r>
              <a:rPr lang="en-US" sz="1200" kern="1200" baseline="0">
                <a:solidFill>
                  <a:schemeClr val="tx1"/>
                </a:solidFill>
                <a:latin typeface="Arial" charset="0"/>
                <a:ea typeface="ＭＳ Ｐゴシック" pitchFamily="-107" charset="-128"/>
                <a:cs typeface="ＭＳ Ｐゴシック" pitchFamily="-107" charset="-128"/>
              </a:rPr>
              <a:t>than does plaintext, but nevertheless, it reveals plenty of structure for</a:t>
            </a:r>
          </a:p>
          <a:p>
            <a:r>
              <a:rPr lang="en-US" sz="1200" kern="1200" baseline="0">
                <a:solidFill>
                  <a:schemeClr val="tx1"/>
                </a:solidFill>
                <a:latin typeface="Arial" charset="0"/>
                <a:ea typeface="ＭＳ Ｐゴシック" pitchFamily="-107" charset="-128"/>
                <a:cs typeface="ＭＳ Ｐゴシック" pitchFamily="-107" charset="-128"/>
              </a:rPr>
              <a:t>a cryptanalyst to work with. The plot also shows the </a:t>
            </a:r>
            <a:r>
              <a:rPr lang="en-US" sz="1200" kern="1200" baseline="0" err="1">
                <a:solidFill>
                  <a:schemeClr val="tx1"/>
                </a:solidFill>
                <a:latin typeface="Arial" charset="0"/>
                <a:ea typeface="ＭＳ Ｐゴシック" pitchFamily="-107" charset="-128"/>
                <a:cs typeface="ＭＳ Ｐゴシック" pitchFamily="-107" charset="-128"/>
              </a:rPr>
              <a:t>Vigenère</a:t>
            </a:r>
            <a:r>
              <a:rPr lang="en-US" sz="1200" kern="1200" baseline="0">
                <a:solidFill>
                  <a:schemeClr val="tx1"/>
                </a:solidFill>
                <a:latin typeface="Arial" charset="0"/>
                <a:ea typeface="ＭＳ Ｐゴシック" pitchFamily="-107" charset="-128"/>
                <a:cs typeface="ＭＳ Ｐゴシック" pitchFamily="-107" charset="-128"/>
              </a:rPr>
              <a:t> cipher, discussed</a:t>
            </a:r>
          </a:p>
          <a:p>
            <a:r>
              <a:rPr lang="en-US" sz="1200" kern="1200" baseline="0">
                <a:solidFill>
                  <a:schemeClr val="tx1"/>
                </a:solidFill>
                <a:latin typeface="Arial" charset="0"/>
                <a:ea typeface="ＭＳ Ｐゴシック" pitchFamily="-107" charset="-128"/>
                <a:cs typeface="ＭＳ Ｐゴシック" pitchFamily="-107" charset="-128"/>
              </a:rPr>
              <a:t>subsequently. The Hill  and </a:t>
            </a:r>
            <a:r>
              <a:rPr lang="en-US" sz="1200" kern="1200" baseline="0" err="1">
                <a:solidFill>
                  <a:schemeClr val="tx1"/>
                </a:solidFill>
                <a:latin typeface="Arial" charset="0"/>
                <a:ea typeface="ＭＳ Ｐゴシック" pitchFamily="-107" charset="-128"/>
                <a:cs typeface="ＭＳ Ｐゴシック" pitchFamily="-107" charset="-128"/>
              </a:rPr>
              <a:t>Vigenère</a:t>
            </a:r>
            <a:r>
              <a:rPr lang="en-US" sz="1200" kern="1200" baseline="0">
                <a:solidFill>
                  <a:schemeClr val="tx1"/>
                </a:solidFill>
                <a:latin typeface="Arial" charset="0"/>
                <a:ea typeface="ＭＳ Ｐゴシック" pitchFamily="-107" charset="-128"/>
                <a:cs typeface="ＭＳ Ｐゴシック" pitchFamily="-107" charset="-128"/>
              </a:rPr>
              <a:t> curves on the plot are based on results</a:t>
            </a:r>
          </a:p>
          <a:p>
            <a:r>
              <a:rPr lang="en-US" sz="1200" kern="1200" baseline="0">
                <a:solidFill>
                  <a:schemeClr val="tx1"/>
                </a:solidFill>
                <a:latin typeface="Arial" charset="0"/>
                <a:ea typeface="ＭＳ Ｐゴシック" pitchFamily="-107" charset="-128"/>
                <a:cs typeface="ＭＳ Ｐゴシック" pitchFamily="-107" charset="-128"/>
              </a:rPr>
              <a:t>reported in [SIMM93].</a:t>
            </a:r>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t>40</a:t>
            </a:fld>
            <a:endParaRPr lang="en-US"/>
          </a:p>
        </p:txBody>
      </p:sp>
    </p:spTree>
    <p:extLst>
      <p:ext uri="{BB962C8B-B14F-4D97-AF65-F5344CB8AC3E}">
        <p14:creationId xmlns:p14="http://schemas.microsoft.com/office/powerpoint/2010/main" val="3521938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 Another interesting </a:t>
            </a:r>
            <a:r>
              <a:rPr lang="en-US" sz="1200" kern="1200" baseline="0" err="1">
                <a:solidFill>
                  <a:schemeClr val="tx1"/>
                </a:solidFill>
                <a:latin typeface="Arial" charset="0"/>
                <a:ea typeface="ＭＳ Ｐゴシック" pitchFamily="-107" charset="-128"/>
                <a:cs typeface="ＭＳ Ｐゴシック" pitchFamily="-107" charset="-128"/>
              </a:rPr>
              <a:t>multiletter</a:t>
            </a:r>
            <a:r>
              <a:rPr lang="en-US" sz="1200" kern="1200" baseline="0">
                <a:solidFill>
                  <a:schemeClr val="tx1"/>
                </a:solidFill>
                <a:latin typeface="Arial" charset="0"/>
                <a:ea typeface="ＭＳ Ｐゴシック" pitchFamily="-107" charset="-128"/>
                <a:cs typeface="ＭＳ Ｐゴシック" pitchFamily="-107" charset="-128"/>
              </a:rPr>
              <a:t> cipher is the Hill cipher, developed by the mathematician</a:t>
            </a:r>
          </a:p>
          <a:p>
            <a:r>
              <a:rPr lang="en-US" sz="1200" kern="1200" baseline="0">
                <a:solidFill>
                  <a:schemeClr val="tx1"/>
                </a:solidFill>
                <a:latin typeface="Arial" charset="0"/>
                <a:ea typeface="ＭＳ Ｐゴシック" pitchFamily="-107" charset="-128"/>
                <a:cs typeface="ＭＳ Ｐゴシック" pitchFamily="-107" charset="-128"/>
              </a:rPr>
              <a:t>Lester Hill in 1929.</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 Before describing the Hill cipher, let us briefly</a:t>
            </a:r>
          </a:p>
          <a:p>
            <a:r>
              <a:rPr lang="en-US" sz="1200" kern="1200" baseline="0">
                <a:solidFill>
                  <a:schemeClr val="tx1"/>
                </a:solidFill>
                <a:latin typeface="Arial" charset="0"/>
                <a:ea typeface="ＭＳ Ｐゴシック" pitchFamily="-107" charset="-128"/>
                <a:cs typeface="ＭＳ Ｐゴシック" pitchFamily="-107" charset="-128"/>
              </a:rPr>
              <a:t>review some terminology from linear algebra. In this discussion, we are concerned</a:t>
            </a:r>
          </a:p>
          <a:p>
            <a:r>
              <a:rPr lang="en-US" sz="1200" kern="1200" baseline="0">
                <a:solidFill>
                  <a:schemeClr val="tx1"/>
                </a:solidFill>
                <a:latin typeface="Arial" charset="0"/>
                <a:ea typeface="ＭＳ Ｐゴシック" pitchFamily="-107" charset="-128"/>
                <a:cs typeface="ＭＳ Ｐゴシック" pitchFamily="-107" charset="-128"/>
              </a:rPr>
              <a:t>with matrix arithmetic modulo 26. For the reader who needs a refresher on matrix</a:t>
            </a:r>
          </a:p>
          <a:p>
            <a:r>
              <a:rPr lang="en-US" sz="1200" kern="1200" baseline="0">
                <a:solidFill>
                  <a:schemeClr val="tx1"/>
                </a:solidFill>
                <a:latin typeface="Arial" charset="0"/>
                <a:ea typeface="ＭＳ Ｐゴシック" pitchFamily="-107" charset="-128"/>
                <a:cs typeface="ＭＳ Ｐゴシック" pitchFamily="-107" charset="-128"/>
              </a:rPr>
              <a:t>multiplication and inversion, see Appendix A.</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 We define the inverse </a:t>
            </a:r>
            <a:r>
              <a:rPr lang="en-US" sz="1200" b="1" kern="1200" baseline="0">
                <a:solidFill>
                  <a:schemeClr val="tx1"/>
                </a:solidFill>
                <a:latin typeface="Arial" charset="0"/>
                <a:ea typeface="ＭＳ Ｐゴシック" pitchFamily="-107" charset="-128"/>
                <a:cs typeface="ＭＳ Ｐゴシック" pitchFamily="-107" charset="-128"/>
              </a:rPr>
              <a:t>M</a:t>
            </a:r>
            <a:r>
              <a:rPr lang="en-US" sz="1200" b="0" kern="1200" baseline="30000">
                <a:solidFill>
                  <a:schemeClr val="tx1"/>
                </a:solidFill>
                <a:latin typeface="Arial" charset="0"/>
                <a:ea typeface="ＭＳ Ｐゴシック" pitchFamily="-107" charset="-128"/>
                <a:cs typeface="ＭＳ Ｐゴシック" pitchFamily="-107" charset="-128"/>
              </a:rPr>
              <a:t>-1</a:t>
            </a:r>
            <a:r>
              <a:rPr lang="en-US" sz="1200" b="1" kern="1200" baseline="0">
                <a:solidFill>
                  <a:schemeClr val="tx1"/>
                </a:solidFill>
                <a:latin typeface="Arial" charset="0"/>
                <a:ea typeface="ＭＳ Ｐゴシック" pitchFamily="-107" charset="-128"/>
                <a:cs typeface="ＭＳ Ｐゴシック" pitchFamily="-107" charset="-128"/>
              </a:rPr>
              <a:t>  </a:t>
            </a:r>
            <a:r>
              <a:rPr lang="en-US" sz="1200" b="0" kern="1200" baseline="0">
                <a:solidFill>
                  <a:schemeClr val="tx1"/>
                </a:solidFill>
                <a:latin typeface="Arial" charset="0"/>
                <a:ea typeface="ＭＳ Ｐゴシック" pitchFamily="-107" charset="-128"/>
                <a:cs typeface="ＭＳ Ｐゴシック" pitchFamily="-107" charset="-128"/>
              </a:rPr>
              <a:t>of a square matrix </a:t>
            </a:r>
            <a:r>
              <a:rPr lang="en-US" sz="1200" b="1" kern="1200" baseline="0">
                <a:solidFill>
                  <a:schemeClr val="tx1"/>
                </a:solidFill>
                <a:latin typeface="Arial" charset="0"/>
                <a:ea typeface="ＭＳ Ｐゴシック" pitchFamily="-107" charset="-128"/>
                <a:cs typeface="ＭＳ Ｐゴシック" pitchFamily="-107" charset="-128"/>
              </a:rPr>
              <a:t>M  </a:t>
            </a:r>
            <a:r>
              <a:rPr lang="en-US" sz="1200" b="0" kern="1200" baseline="0">
                <a:solidFill>
                  <a:schemeClr val="tx1"/>
                </a:solidFill>
                <a:latin typeface="Arial" charset="0"/>
                <a:ea typeface="ＭＳ Ｐゴシック" pitchFamily="-107" charset="-128"/>
                <a:cs typeface="ＭＳ Ｐゴシック" pitchFamily="-107" charset="-128"/>
              </a:rPr>
              <a:t>by the equation</a:t>
            </a:r>
          </a:p>
          <a:p>
            <a:r>
              <a:rPr lang="en-US" sz="1200" b="1" kern="1200" baseline="0">
                <a:solidFill>
                  <a:schemeClr val="tx1"/>
                </a:solidFill>
                <a:latin typeface="Arial" charset="0"/>
                <a:ea typeface="ＭＳ Ｐゴシック" pitchFamily="-107" charset="-128"/>
                <a:cs typeface="ＭＳ Ｐゴシック" pitchFamily="-107" charset="-128"/>
              </a:rPr>
              <a:t>M (M</a:t>
            </a:r>
            <a:r>
              <a:rPr lang="en-US" sz="1200" b="0" kern="1200" baseline="30000">
                <a:solidFill>
                  <a:schemeClr val="tx1"/>
                </a:solidFill>
                <a:latin typeface="Arial" charset="0"/>
                <a:ea typeface="ＭＳ Ｐゴシック" pitchFamily="-107" charset="-128"/>
                <a:cs typeface="ＭＳ Ｐゴシック" pitchFamily="-107" charset="-128"/>
              </a:rPr>
              <a:t>-1</a:t>
            </a:r>
            <a:r>
              <a:rPr lang="en-US" sz="1200" b="1" kern="1200" baseline="0">
                <a:solidFill>
                  <a:schemeClr val="tx1"/>
                </a:solidFill>
                <a:latin typeface="Arial" charset="0"/>
                <a:ea typeface="ＭＳ Ｐゴシック" pitchFamily="-107" charset="-128"/>
                <a:cs typeface="ＭＳ Ｐゴシック" pitchFamily="-107" charset="-128"/>
              </a:rPr>
              <a:t> ) = M</a:t>
            </a:r>
            <a:r>
              <a:rPr lang="en-US" sz="1200" b="1" kern="1200" baseline="30000">
                <a:solidFill>
                  <a:schemeClr val="tx1"/>
                </a:solidFill>
                <a:latin typeface="Arial" charset="0"/>
                <a:ea typeface="ＭＳ Ｐゴシック" pitchFamily="-107" charset="-128"/>
                <a:cs typeface="ＭＳ Ｐゴシック" pitchFamily="-107" charset="-128"/>
              </a:rPr>
              <a:t>-1</a:t>
            </a:r>
            <a:r>
              <a:rPr lang="en-US" sz="1200" b="1" kern="1200" baseline="0">
                <a:solidFill>
                  <a:schemeClr val="tx1"/>
                </a:solidFill>
                <a:latin typeface="Arial" charset="0"/>
                <a:ea typeface="ＭＳ Ｐゴシック" pitchFamily="-107" charset="-128"/>
                <a:cs typeface="ＭＳ Ｐゴシック" pitchFamily="-107" charset="-128"/>
              </a:rPr>
              <a:t>M = I , </a:t>
            </a:r>
            <a:r>
              <a:rPr lang="en-US" sz="1200" b="0" kern="1200" baseline="0">
                <a:solidFill>
                  <a:schemeClr val="tx1"/>
                </a:solidFill>
                <a:latin typeface="Arial" charset="0"/>
                <a:ea typeface="ＭＳ Ｐゴシック" pitchFamily="-107" charset="-128"/>
                <a:cs typeface="ＭＳ Ｐゴシック" pitchFamily="-107" charset="-128"/>
              </a:rPr>
              <a:t>wher</a:t>
            </a:r>
            <a:r>
              <a:rPr lang="en-US" sz="1200" b="1" kern="1200" baseline="0">
                <a:solidFill>
                  <a:schemeClr val="tx1"/>
                </a:solidFill>
                <a:latin typeface="Arial" charset="0"/>
                <a:ea typeface="ＭＳ Ｐゴシック" pitchFamily="-107" charset="-128"/>
                <a:cs typeface="ＭＳ Ｐゴシック" pitchFamily="-107" charset="-128"/>
              </a:rPr>
              <a:t>e I  </a:t>
            </a:r>
            <a:r>
              <a:rPr lang="en-US" sz="1200" b="0" kern="1200" baseline="0">
                <a:solidFill>
                  <a:schemeClr val="tx1"/>
                </a:solidFill>
                <a:latin typeface="Arial" charset="0"/>
                <a:ea typeface="ＭＳ Ｐゴシック" pitchFamily="-107" charset="-128"/>
                <a:cs typeface="ＭＳ Ｐゴシック" pitchFamily="-107" charset="-128"/>
              </a:rPr>
              <a:t>is the identity matrix</a:t>
            </a:r>
            <a:r>
              <a:rPr lang="en-US" sz="1200" b="1" kern="1200" baseline="0">
                <a:solidFill>
                  <a:schemeClr val="tx1"/>
                </a:solidFill>
                <a:latin typeface="Arial" charset="0"/>
                <a:ea typeface="ＭＳ Ｐゴシック" pitchFamily="-107" charset="-128"/>
                <a:cs typeface="ＭＳ Ｐゴシック" pitchFamily="-107" charset="-128"/>
              </a:rPr>
              <a:t>. I  </a:t>
            </a:r>
            <a:r>
              <a:rPr lang="en-US" sz="1200" b="0" kern="1200" baseline="0">
                <a:solidFill>
                  <a:schemeClr val="tx1"/>
                </a:solidFill>
                <a:latin typeface="Arial" charset="0"/>
                <a:ea typeface="ＭＳ Ｐゴシック" pitchFamily="-107" charset="-128"/>
                <a:cs typeface="ＭＳ Ｐゴシック" pitchFamily="-107" charset="-128"/>
              </a:rPr>
              <a:t>is a square matrix that is all</a:t>
            </a:r>
          </a:p>
          <a:p>
            <a:r>
              <a:rPr lang="en-US" sz="1200" kern="1200" baseline="0">
                <a:solidFill>
                  <a:schemeClr val="tx1"/>
                </a:solidFill>
                <a:latin typeface="Arial" charset="0"/>
                <a:ea typeface="ＭＳ Ｐゴシック" pitchFamily="-107" charset="-128"/>
                <a:cs typeface="ＭＳ Ｐゴシック" pitchFamily="-107" charset="-128"/>
              </a:rPr>
              <a:t>zeros except for ones along the main diagonal from upper left to lower right. The</a:t>
            </a:r>
          </a:p>
          <a:p>
            <a:r>
              <a:rPr lang="en-US" sz="1200" kern="1200" baseline="0">
                <a:solidFill>
                  <a:schemeClr val="tx1"/>
                </a:solidFill>
                <a:latin typeface="Arial" charset="0"/>
                <a:ea typeface="ＭＳ Ｐゴシック" pitchFamily="-107" charset="-128"/>
                <a:cs typeface="ＭＳ Ｐゴシック" pitchFamily="-107" charset="-128"/>
              </a:rPr>
              <a:t>inverse of a matrix does not always exist, but when it does, it satisfies the preceding</a:t>
            </a:r>
          </a:p>
          <a:p>
            <a:r>
              <a:rPr lang="en-US" sz="1200" kern="1200" baseline="0">
                <a:solidFill>
                  <a:schemeClr val="tx1"/>
                </a:solidFill>
                <a:latin typeface="Arial" charset="0"/>
                <a:ea typeface="ＭＳ Ｐゴシック" pitchFamily="-107" charset="-128"/>
                <a:cs typeface="ＭＳ Ｐゴシック" pitchFamily="-107" charset="-128"/>
              </a:rPr>
              <a:t>equation.</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 To explain how the inverse of a matrix is computed, we begin with the concept</a:t>
            </a:r>
          </a:p>
          <a:p>
            <a:r>
              <a:rPr lang="en-US" sz="1200" kern="1200" baseline="0">
                <a:solidFill>
                  <a:schemeClr val="tx1"/>
                </a:solidFill>
                <a:latin typeface="Arial" charset="0"/>
                <a:ea typeface="ＭＳ Ｐゴシック" pitchFamily="-107" charset="-128"/>
                <a:cs typeface="ＭＳ Ｐゴシック" pitchFamily="-107" charset="-128"/>
              </a:rPr>
              <a:t>of determinant. For any square matrix (m * m ), the </a:t>
            </a:r>
            <a:r>
              <a:rPr lang="en-US" sz="1200" b="1" kern="1200" baseline="0">
                <a:solidFill>
                  <a:schemeClr val="tx1"/>
                </a:solidFill>
                <a:latin typeface="Arial" charset="0"/>
                <a:ea typeface="ＭＳ Ｐゴシック" pitchFamily="-107" charset="-128"/>
                <a:cs typeface="ＭＳ Ｐゴシック" pitchFamily="-107" charset="-128"/>
              </a:rPr>
              <a:t>determinant</a:t>
            </a:r>
            <a:r>
              <a:rPr lang="en-US" sz="1200" kern="1200" baseline="0">
                <a:solidFill>
                  <a:schemeClr val="tx1"/>
                </a:solidFill>
                <a:latin typeface="Arial" charset="0"/>
                <a:ea typeface="ＭＳ Ｐゴシック" pitchFamily="-107" charset="-128"/>
                <a:cs typeface="ＭＳ Ｐゴシック" pitchFamily="-107" charset="-128"/>
              </a:rPr>
              <a:t>  equals the sum of</a:t>
            </a:r>
          </a:p>
          <a:p>
            <a:r>
              <a:rPr lang="en-US" sz="1200" kern="1200" baseline="0">
                <a:solidFill>
                  <a:schemeClr val="tx1"/>
                </a:solidFill>
                <a:latin typeface="Arial" charset="0"/>
                <a:ea typeface="ＭＳ Ｐゴシック" pitchFamily="-107" charset="-128"/>
                <a:cs typeface="ＭＳ Ｐゴシック" pitchFamily="-107" charset="-128"/>
              </a:rPr>
              <a:t>all the products that can be formed by taking exactly one element from each row</a:t>
            </a:r>
          </a:p>
          <a:p>
            <a:r>
              <a:rPr lang="en-US" sz="1200" kern="1200" baseline="0">
                <a:solidFill>
                  <a:schemeClr val="tx1"/>
                </a:solidFill>
                <a:latin typeface="Arial" charset="0"/>
                <a:ea typeface="ＭＳ Ｐゴシック" pitchFamily="-107" charset="-128"/>
                <a:cs typeface="ＭＳ Ｐゴシック" pitchFamily="-107" charset="-128"/>
              </a:rPr>
              <a:t> and exactly one element from each column, with certain of the product terms preceded</a:t>
            </a:r>
          </a:p>
          <a:p>
            <a:r>
              <a:rPr lang="en-US" sz="1200" kern="1200" baseline="0">
                <a:solidFill>
                  <a:schemeClr val="tx1"/>
                </a:solidFill>
                <a:latin typeface="Arial" charset="0"/>
                <a:ea typeface="ＭＳ Ｐゴシック" pitchFamily="-107" charset="-128"/>
                <a:cs typeface="ＭＳ Ｐゴシック" pitchFamily="-107" charset="-128"/>
              </a:rPr>
              <a:t>by a minus sign.</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 This encryption algorithm takes m  successive plaintext letters</a:t>
            </a:r>
          </a:p>
          <a:p>
            <a:r>
              <a:rPr lang="en-US" sz="1200" kern="1200" baseline="0">
                <a:solidFill>
                  <a:schemeClr val="tx1"/>
                </a:solidFill>
                <a:latin typeface="Arial" charset="0"/>
                <a:ea typeface="ＭＳ Ｐゴシック" pitchFamily="-107" charset="-128"/>
                <a:cs typeface="ＭＳ Ｐゴシック" pitchFamily="-107" charset="-128"/>
              </a:rPr>
              <a:t>and substitutes for them m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letters. The substitution is determined</a:t>
            </a:r>
          </a:p>
          <a:p>
            <a:r>
              <a:rPr lang="en-US" sz="1200" kern="1200" baseline="0">
                <a:solidFill>
                  <a:schemeClr val="tx1"/>
                </a:solidFill>
                <a:latin typeface="Arial" charset="0"/>
                <a:ea typeface="ＭＳ Ｐゴシック" pitchFamily="-107" charset="-128"/>
                <a:cs typeface="ＭＳ Ｐゴシック" pitchFamily="-107" charset="-128"/>
              </a:rPr>
              <a:t>by m  linear equations in which each character is assigned a numerical value</a:t>
            </a:r>
          </a:p>
          <a:p>
            <a:r>
              <a:rPr lang="en-US" sz="1200" b="0" kern="1200" baseline="0">
                <a:solidFill>
                  <a:schemeClr val="tx1"/>
                </a:solidFill>
                <a:latin typeface="Arial" charset="0"/>
                <a:ea typeface="ＭＳ Ｐゴシック" pitchFamily="-107" charset="-128"/>
                <a:cs typeface="ＭＳ Ｐゴシック" pitchFamily="-107" charset="-128"/>
              </a:rPr>
              <a:t>(a =  0, b =  1, …. , z =  25).</a:t>
            </a:r>
          </a:p>
          <a:p>
            <a:endParaRPr lang="en-US" sz="1200" b="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 As with </a:t>
            </a:r>
            <a:r>
              <a:rPr lang="en-US" sz="1200" kern="1200" baseline="0" err="1">
                <a:solidFill>
                  <a:schemeClr val="tx1"/>
                </a:solidFill>
                <a:latin typeface="Arial" charset="0"/>
                <a:ea typeface="ＭＳ Ｐゴシック" pitchFamily="-107" charset="-128"/>
                <a:cs typeface="ＭＳ Ｐゴシック" pitchFamily="-107" charset="-128"/>
              </a:rPr>
              <a:t>Playfair</a:t>
            </a:r>
            <a:r>
              <a:rPr lang="en-US" sz="1200" kern="1200" baseline="0">
                <a:solidFill>
                  <a:schemeClr val="tx1"/>
                </a:solidFill>
                <a:latin typeface="Arial" charset="0"/>
                <a:ea typeface="ＭＳ Ｐゴシック" pitchFamily="-107" charset="-128"/>
                <a:cs typeface="ＭＳ Ｐゴシック" pitchFamily="-107" charset="-128"/>
              </a:rPr>
              <a:t>, the strength of the Hill cipher is that it completely hides</a:t>
            </a:r>
          </a:p>
          <a:p>
            <a:r>
              <a:rPr lang="en-US" sz="1200" kern="1200" baseline="0">
                <a:solidFill>
                  <a:schemeClr val="tx1"/>
                </a:solidFill>
                <a:latin typeface="Arial" charset="0"/>
                <a:ea typeface="ＭＳ Ｐゴシック" pitchFamily="-107" charset="-128"/>
                <a:cs typeface="ＭＳ Ｐゴシック" pitchFamily="-107" charset="-128"/>
              </a:rPr>
              <a:t>single-letter frequencies. Indeed, with Hill, the use of a larger matrix hides more</a:t>
            </a:r>
          </a:p>
          <a:p>
            <a:r>
              <a:rPr lang="en-US" sz="1200" kern="1200" baseline="0">
                <a:solidFill>
                  <a:schemeClr val="tx1"/>
                </a:solidFill>
                <a:latin typeface="Arial" charset="0"/>
                <a:ea typeface="ＭＳ Ｐゴシック" pitchFamily="-107" charset="-128"/>
                <a:cs typeface="ＭＳ Ｐゴシック" pitchFamily="-107" charset="-128"/>
              </a:rPr>
              <a:t>frequency information. Thus, a 3 *  3 Hill cipher hides not only single-letter but</a:t>
            </a:r>
          </a:p>
          <a:p>
            <a:r>
              <a:rPr lang="en-US" sz="1200" kern="1200" baseline="0">
                <a:solidFill>
                  <a:schemeClr val="tx1"/>
                </a:solidFill>
                <a:latin typeface="Arial" charset="0"/>
                <a:ea typeface="ＭＳ Ｐゴシック" pitchFamily="-107" charset="-128"/>
                <a:cs typeface="ＭＳ Ｐゴシック" pitchFamily="-107" charset="-128"/>
              </a:rPr>
              <a:t>also two-letter frequency information.</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Although the Hill cipher is strong against a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-only attack, it is</a:t>
            </a:r>
          </a:p>
          <a:p>
            <a:r>
              <a:rPr lang="en-US" sz="1200" kern="1200" baseline="0">
                <a:solidFill>
                  <a:schemeClr val="tx1"/>
                </a:solidFill>
                <a:latin typeface="Arial" charset="0"/>
                <a:ea typeface="ＭＳ Ｐゴシック" pitchFamily="-107" charset="-128"/>
                <a:cs typeface="ＭＳ Ｐゴシック" pitchFamily="-107" charset="-128"/>
              </a:rPr>
              <a:t>easily broken with a known plaintext attack.</a:t>
            </a:r>
          </a:p>
          <a:p>
            <a:endParaRPr lang="en-US" sz="1200" b="0" kern="1200" baseline="0">
              <a:solidFill>
                <a:schemeClr val="tx1"/>
              </a:solidFill>
              <a:latin typeface="Arial" charset="0"/>
              <a:ea typeface="ＭＳ Ｐゴシック" pitchFamily="-107" charset="-128"/>
              <a:cs typeface="ＭＳ Ｐゴシック" pitchFamily="-107" charset="-128"/>
            </a:endParaRPr>
          </a:p>
          <a:p>
            <a:endParaRPr lang="en-US" b="0"/>
          </a:p>
        </p:txBody>
      </p:sp>
      <p:sp>
        <p:nvSpPr>
          <p:cNvPr id="4" name="Slide Number Placeholder 3"/>
          <p:cNvSpPr>
            <a:spLocks noGrp="1"/>
          </p:cNvSpPr>
          <p:nvPr>
            <p:ph type="sldNum" sz="quarter" idx="10"/>
          </p:nvPr>
        </p:nvSpPr>
        <p:spPr/>
        <p:txBody>
          <a:bodyPr/>
          <a:lstStyle/>
          <a:p>
            <a:fld id="{A73D6722-9B4D-4E29-B226-C325925A8118}" type="slidenum">
              <a:rPr lang="en-US" smtClean="0"/>
              <a:t>41</a:t>
            </a:fld>
            <a:endParaRPr lang="en-US"/>
          </a:p>
        </p:txBody>
      </p:sp>
    </p:spTree>
    <p:extLst>
      <p:ext uri="{BB962C8B-B14F-4D97-AF65-F5344CB8AC3E}">
        <p14:creationId xmlns:p14="http://schemas.microsoft.com/office/powerpoint/2010/main" val="3521938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 The best known, and one of the simplest, polyalphabetic ciphers</a:t>
            </a:r>
          </a:p>
          <a:p>
            <a:r>
              <a:rPr lang="en-US" sz="1200" kern="1200" baseline="0">
                <a:solidFill>
                  <a:schemeClr val="tx1"/>
                </a:solidFill>
                <a:latin typeface="Arial" charset="0"/>
                <a:ea typeface="ＭＳ Ｐゴシック" pitchFamily="-107" charset="-128"/>
                <a:cs typeface="ＭＳ Ｐゴシック" pitchFamily="-107" charset="-128"/>
              </a:rPr>
              <a:t>is the </a:t>
            </a:r>
            <a:r>
              <a:rPr lang="en-US" sz="1200" kern="1200" baseline="0" err="1">
                <a:solidFill>
                  <a:schemeClr val="tx1"/>
                </a:solidFill>
                <a:latin typeface="Arial" charset="0"/>
                <a:ea typeface="ＭＳ Ｐゴシック" pitchFamily="-107" charset="-128"/>
                <a:cs typeface="ＭＳ Ｐゴシック" pitchFamily="-107" charset="-128"/>
              </a:rPr>
              <a:t>Vigenère</a:t>
            </a:r>
            <a:r>
              <a:rPr lang="en-US" sz="1200" kern="1200" baseline="0">
                <a:solidFill>
                  <a:schemeClr val="tx1"/>
                </a:solidFill>
                <a:latin typeface="Arial" charset="0"/>
                <a:ea typeface="ＭＳ Ｐゴシック" pitchFamily="-107" charset="-128"/>
                <a:cs typeface="ＭＳ Ｐゴシック" pitchFamily="-107" charset="-128"/>
              </a:rPr>
              <a:t> cipher. In this scheme, the set of related </a:t>
            </a:r>
            <a:r>
              <a:rPr lang="en-US" sz="1200" kern="1200" baseline="0" err="1">
                <a:solidFill>
                  <a:schemeClr val="tx1"/>
                </a:solidFill>
                <a:latin typeface="Arial" charset="0"/>
                <a:ea typeface="ＭＳ Ｐゴシック" pitchFamily="-107" charset="-128"/>
                <a:cs typeface="ＭＳ Ｐゴシック" pitchFamily="-107" charset="-128"/>
              </a:rPr>
              <a:t>monoalphabetic</a:t>
            </a:r>
            <a:r>
              <a:rPr lang="en-US" sz="1200" kern="1200" baseline="0">
                <a:solidFill>
                  <a:schemeClr val="tx1"/>
                </a:solidFill>
                <a:latin typeface="Arial" charset="0"/>
                <a:ea typeface="ＭＳ Ｐゴシック" pitchFamily="-107" charset="-128"/>
                <a:cs typeface="ＭＳ Ｐゴシック" pitchFamily="-107" charset="-128"/>
              </a:rPr>
              <a:t> substitution</a:t>
            </a:r>
          </a:p>
          <a:p>
            <a:r>
              <a:rPr lang="en-US" sz="1200" kern="1200" baseline="0">
                <a:solidFill>
                  <a:schemeClr val="tx1"/>
                </a:solidFill>
                <a:latin typeface="Arial" charset="0"/>
                <a:ea typeface="ＭＳ Ｐゴシック" pitchFamily="-107" charset="-128"/>
                <a:cs typeface="ＭＳ Ｐゴシック" pitchFamily="-107" charset="-128"/>
              </a:rPr>
              <a:t>rules consists of the 26 Caesar ciphers with shifts of 0 through 25. Each cipher is</a:t>
            </a:r>
          </a:p>
          <a:p>
            <a:r>
              <a:rPr lang="en-US" sz="1200" kern="1200" baseline="0">
                <a:solidFill>
                  <a:schemeClr val="tx1"/>
                </a:solidFill>
                <a:latin typeface="Arial" charset="0"/>
                <a:ea typeface="ＭＳ Ｐゴシック" pitchFamily="-107" charset="-128"/>
                <a:cs typeface="ＭＳ Ｐゴシック" pitchFamily="-107" charset="-128"/>
              </a:rPr>
              <a:t>denoted by a key letter, which is the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letter that substitutes for the plaintext</a:t>
            </a:r>
          </a:p>
          <a:p>
            <a:r>
              <a:rPr lang="en-US" sz="1200" kern="1200" baseline="0">
                <a:solidFill>
                  <a:schemeClr val="tx1"/>
                </a:solidFill>
                <a:latin typeface="Arial" charset="0"/>
                <a:ea typeface="ＭＳ Ｐゴシック" pitchFamily="-107" charset="-128"/>
                <a:cs typeface="ＭＳ Ｐゴシック" pitchFamily="-107" charset="-128"/>
              </a:rPr>
              <a:t>letter a. Thus, a Caesar cipher with a shift of 3 is denoted by the key value 3.</a:t>
            </a:r>
          </a:p>
          <a:p>
            <a:endParaRPr lang="en-US" sz="1200" kern="1200" baseline="0">
              <a:solidFill>
                <a:schemeClr val="tx1"/>
              </a:solidFill>
              <a:latin typeface="Arial" charset="0"/>
              <a:ea typeface="ＭＳ Ｐゴシック" pitchFamily="-107" charset="-128"/>
              <a:cs typeface="ＭＳ Ｐゴシック" pitchFamily="-107"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t>42</a:t>
            </a:fld>
            <a:endParaRPr lang="en-US"/>
          </a:p>
        </p:txBody>
      </p:sp>
    </p:spTree>
    <p:extLst>
      <p:ext uri="{BB962C8B-B14F-4D97-AF65-F5344CB8AC3E}">
        <p14:creationId xmlns:p14="http://schemas.microsoft.com/office/powerpoint/2010/main" val="3521938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 To encrypt a message, a key is needed that is as long as the message. Usually,</a:t>
            </a:r>
          </a:p>
          <a:p>
            <a:r>
              <a:rPr lang="en-US" sz="1200" kern="1200" baseline="0">
                <a:solidFill>
                  <a:schemeClr val="tx1"/>
                </a:solidFill>
                <a:latin typeface="Arial" charset="0"/>
                <a:ea typeface="ＭＳ Ｐゴシック" pitchFamily="-107" charset="-128"/>
                <a:cs typeface="ＭＳ Ｐゴシック" pitchFamily="-107" charset="-128"/>
              </a:rPr>
              <a:t>the key is a repeating keyword. For example, if the keyword is </a:t>
            </a:r>
            <a:r>
              <a:rPr lang="en-US" sz="1200" i="1" kern="1200" baseline="0">
                <a:solidFill>
                  <a:schemeClr val="tx1"/>
                </a:solidFill>
                <a:latin typeface="Arial" charset="0"/>
                <a:ea typeface="ＭＳ Ｐゴシック" pitchFamily="-107" charset="-128"/>
                <a:cs typeface="ＭＳ Ｐゴシック" pitchFamily="-107" charset="-128"/>
              </a:rPr>
              <a:t>deceptive</a:t>
            </a:r>
            <a:r>
              <a:rPr lang="en-US" sz="1200" kern="1200" baseline="0">
                <a:solidFill>
                  <a:schemeClr val="tx1"/>
                </a:solidFill>
                <a:latin typeface="Arial" charset="0"/>
                <a:ea typeface="ＭＳ Ｐゴシック" pitchFamily="-107" charset="-128"/>
                <a:cs typeface="ＭＳ Ｐゴシック" pitchFamily="-107" charset="-128"/>
              </a:rPr>
              <a:t>, the</a:t>
            </a:r>
          </a:p>
          <a:p>
            <a:r>
              <a:rPr lang="en-US" sz="1200" kern="1200" baseline="0">
                <a:solidFill>
                  <a:schemeClr val="tx1"/>
                </a:solidFill>
                <a:latin typeface="Arial" charset="0"/>
                <a:ea typeface="ＭＳ Ｐゴシック" pitchFamily="-107" charset="-128"/>
                <a:cs typeface="ＭＳ Ｐゴシック" pitchFamily="-107" charset="-128"/>
              </a:rPr>
              <a:t>message “we are discovered save yourself” is encrypted as</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key: </a:t>
            </a:r>
            <a:r>
              <a:rPr lang="en-US" sz="1200" kern="1200" baseline="0" err="1">
                <a:solidFill>
                  <a:schemeClr val="tx1"/>
                </a:solidFill>
                <a:latin typeface="Arial" charset="0"/>
                <a:ea typeface="ＭＳ Ｐゴシック" pitchFamily="-107" charset="-128"/>
                <a:cs typeface="ＭＳ Ｐゴシック" pitchFamily="-107" charset="-128"/>
              </a:rPr>
              <a:t>deceptivedeceptivedeceptive</a:t>
            </a:r>
            <a:endParaRPr lang="en-US" sz="1200" kern="1200" baseline="0">
              <a:solidFill>
                <a:schemeClr val="tx1"/>
              </a:solidFill>
              <a:latin typeface="Arial" charset="0"/>
              <a:ea typeface="ＭＳ Ｐゴシック" pitchFamily="-107" charset="-128"/>
              <a:cs typeface="ＭＳ Ｐゴシック" pitchFamily="-107" charset="-128"/>
            </a:endParaRP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plaintext: </a:t>
            </a:r>
            <a:r>
              <a:rPr lang="en-US" sz="1200" kern="1200" baseline="0" err="1">
                <a:solidFill>
                  <a:schemeClr val="tx1"/>
                </a:solidFill>
                <a:latin typeface="Arial" charset="0"/>
                <a:ea typeface="ＭＳ Ｐゴシック" pitchFamily="-107" charset="-128"/>
                <a:cs typeface="ＭＳ Ｐゴシック" pitchFamily="-107" charset="-128"/>
              </a:rPr>
              <a:t>wearediscoveredsaveyourself</a:t>
            </a:r>
            <a:endParaRPr lang="en-US" sz="1200" kern="1200" baseline="0">
              <a:solidFill>
                <a:schemeClr val="tx1"/>
              </a:solidFill>
              <a:latin typeface="Arial" charset="0"/>
              <a:ea typeface="ＭＳ Ｐゴシック" pitchFamily="-107" charset="-128"/>
              <a:cs typeface="ＭＳ Ｐゴシック" pitchFamily="-107" charset="-128"/>
            </a:endParaRP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ZICVTWQNGRZGVTWAVZHCQYGLMGJ</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 The strength of this cipher is that there are multiple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letters for</a:t>
            </a:r>
          </a:p>
          <a:p>
            <a:r>
              <a:rPr lang="en-US" sz="1200" kern="1200" baseline="0">
                <a:solidFill>
                  <a:schemeClr val="tx1"/>
                </a:solidFill>
                <a:latin typeface="Arial" charset="0"/>
                <a:ea typeface="ＭＳ Ｐゴシック" pitchFamily="-107" charset="-128"/>
                <a:cs typeface="ＭＳ Ｐゴシック" pitchFamily="-107" charset="-128"/>
              </a:rPr>
              <a:t>each plaintext letter, one for each unique letter of the keyword. Thus, the letter</a:t>
            </a:r>
          </a:p>
          <a:p>
            <a:r>
              <a:rPr lang="en-US" sz="1200" kern="1200" baseline="0">
                <a:solidFill>
                  <a:schemeClr val="tx1"/>
                </a:solidFill>
                <a:latin typeface="Arial" charset="0"/>
                <a:ea typeface="ＭＳ Ｐゴシック" pitchFamily="-107" charset="-128"/>
                <a:cs typeface="ＭＳ Ｐゴシック" pitchFamily="-107" charset="-128"/>
              </a:rPr>
              <a:t>frequency information is obscured. However, not all knowledge of the plaintext</a:t>
            </a:r>
          </a:p>
          <a:p>
            <a:r>
              <a:rPr lang="en-US" sz="1200" kern="1200" baseline="0">
                <a:solidFill>
                  <a:schemeClr val="tx1"/>
                </a:solidFill>
                <a:latin typeface="Arial" charset="0"/>
                <a:ea typeface="ＭＳ Ｐゴシック" pitchFamily="-107" charset="-128"/>
                <a:cs typeface="ＭＳ Ｐゴシック" pitchFamily="-107" charset="-128"/>
              </a:rPr>
              <a:t>structure is lost. For example, Figure 3.6 shows the frequency distribution for a</a:t>
            </a:r>
          </a:p>
          <a:p>
            <a:r>
              <a:rPr lang="en-US" sz="1200" kern="1200" baseline="0" err="1">
                <a:solidFill>
                  <a:schemeClr val="tx1"/>
                </a:solidFill>
                <a:latin typeface="Arial" charset="0"/>
                <a:ea typeface="ＭＳ Ｐゴシック" pitchFamily="-107" charset="-128"/>
                <a:cs typeface="ＭＳ Ｐゴシック" pitchFamily="-107" charset="-128"/>
              </a:rPr>
              <a:t>Vigenère</a:t>
            </a:r>
            <a:r>
              <a:rPr lang="en-US" sz="1200" kern="1200" baseline="0">
                <a:solidFill>
                  <a:schemeClr val="tx1"/>
                </a:solidFill>
                <a:latin typeface="Arial" charset="0"/>
                <a:ea typeface="ＭＳ Ｐゴシック" pitchFamily="-107" charset="-128"/>
                <a:cs typeface="ＭＳ Ｐゴシック" pitchFamily="-107" charset="-128"/>
              </a:rPr>
              <a:t> cipher with a keyword of length 9. An improvement is achieved over the</a:t>
            </a:r>
          </a:p>
          <a:p>
            <a:r>
              <a:rPr lang="en-US" sz="1200" kern="1200" baseline="0" err="1">
                <a:solidFill>
                  <a:schemeClr val="tx1"/>
                </a:solidFill>
                <a:latin typeface="Arial" charset="0"/>
                <a:ea typeface="ＭＳ Ｐゴシック" pitchFamily="-107" charset="-128"/>
                <a:cs typeface="ＭＳ Ｐゴシック" pitchFamily="-107" charset="-128"/>
              </a:rPr>
              <a:t>Playfair</a:t>
            </a:r>
            <a:r>
              <a:rPr lang="en-US" sz="1200" kern="1200" baseline="0">
                <a:solidFill>
                  <a:schemeClr val="tx1"/>
                </a:solidFill>
                <a:latin typeface="Arial" charset="0"/>
                <a:ea typeface="ＭＳ Ｐゴシック" pitchFamily="-107" charset="-128"/>
                <a:cs typeface="ＭＳ Ｐゴシック" pitchFamily="-107" charset="-128"/>
              </a:rPr>
              <a:t> cipher, but considerable frequency information remains.</a:t>
            </a:r>
          </a:p>
          <a:p>
            <a:endParaRPr lang="en-US" sz="1200" kern="1200" baseline="0">
              <a:solidFill>
                <a:schemeClr val="tx1"/>
              </a:solidFill>
              <a:latin typeface="Arial" charset="0"/>
              <a:ea typeface="ＭＳ Ｐゴシック" pitchFamily="-107" charset="-128"/>
              <a:cs typeface="ＭＳ Ｐゴシック" pitchFamily="-107" charset="-128"/>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t>43</a:t>
            </a:fld>
            <a:endParaRPr lang="en-US"/>
          </a:p>
        </p:txBody>
      </p:sp>
    </p:spTree>
    <p:extLst>
      <p:ext uri="{BB962C8B-B14F-4D97-AF65-F5344CB8AC3E}">
        <p14:creationId xmlns:p14="http://schemas.microsoft.com/office/powerpoint/2010/main" val="3521938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 The best known, and one of the simplest, polyalphabetic ciphers</a:t>
            </a:r>
          </a:p>
          <a:p>
            <a:r>
              <a:rPr lang="en-US" sz="1200" kern="1200" baseline="0">
                <a:solidFill>
                  <a:schemeClr val="tx1"/>
                </a:solidFill>
                <a:latin typeface="Arial" charset="0"/>
                <a:ea typeface="ＭＳ Ｐゴシック" pitchFamily="-107" charset="-128"/>
                <a:cs typeface="ＭＳ Ｐゴシック" pitchFamily="-107" charset="-128"/>
              </a:rPr>
              <a:t>is the </a:t>
            </a:r>
            <a:r>
              <a:rPr lang="en-US" sz="1200" kern="1200" baseline="0" err="1">
                <a:solidFill>
                  <a:schemeClr val="tx1"/>
                </a:solidFill>
                <a:latin typeface="Arial" charset="0"/>
                <a:ea typeface="ＭＳ Ｐゴシック" pitchFamily="-107" charset="-128"/>
                <a:cs typeface="ＭＳ Ｐゴシック" pitchFamily="-107" charset="-128"/>
              </a:rPr>
              <a:t>Vigenère</a:t>
            </a:r>
            <a:r>
              <a:rPr lang="en-US" sz="1200" kern="1200" baseline="0">
                <a:solidFill>
                  <a:schemeClr val="tx1"/>
                </a:solidFill>
                <a:latin typeface="Arial" charset="0"/>
                <a:ea typeface="ＭＳ Ｐゴシック" pitchFamily="-107" charset="-128"/>
                <a:cs typeface="ＭＳ Ｐゴシック" pitchFamily="-107" charset="-128"/>
              </a:rPr>
              <a:t> cipher. In this scheme, the set of related </a:t>
            </a:r>
            <a:r>
              <a:rPr lang="en-US" sz="1200" kern="1200" baseline="0" err="1">
                <a:solidFill>
                  <a:schemeClr val="tx1"/>
                </a:solidFill>
                <a:latin typeface="Arial" charset="0"/>
                <a:ea typeface="ＭＳ Ｐゴシック" pitchFamily="-107" charset="-128"/>
                <a:cs typeface="ＭＳ Ｐゴシック" pitchFamily="-107" charset="-128"/>
              </a:rPr>
              <a:t>monoalphabetic</a:t>
            </a:r>
            <a:r>
              <a:rPr lang="en-US" sz="1200" kern="1200" baseline="0">
                <a:solidFill>
                  <a:schemeClr val="tx1"/>
                </a:solidFill>
                <a:latin typeface="Arial" charset="0"/>
                <a:ea typeface="ＭＳ Ｐゴシック" pitchFamily="-107" charset="-128"/>
                <a:cs typeface="ＭＳ Ｐゴシック" pitchFamily="-107" charset="-128"/>
              </a:rPr>
              <a:t> substitution</a:t>
            </a:r>
          </a:p>
          <a:p>
            <a:r>
              <a:rPr lang="en-US" sz="1200" kern="1200" baseline="0">
                <a:solidFill>
                  <a:schemeClr val="tx1"/>
                </a:solidFill>
                <a:latin typeface="Arial" charset="0"/>
                <a:ea typeface="ＭＳ Ｐゴシック" pitchFamily="-107" charset="-128"/>
                <a:cs typeface="ＭＳ Ｐゴシック" pitchFamily="-107" charset="-128"/>
              </a:rPr>
              <a:t>rules consists of the 26 Caesar ciphers with shifts of 0 through 25. Each cipher is</a:t>
            </a:r>
          </a:p>
          <a:p>
            <a:r>
              <a:rPr lang="en-US" sz="1200" kern="1200" baseline="0">
                <a:solidFill>
                  <a:schemeClr val="tx1"/>
                </a:solidFill>
                <a:latin typeface="Arial" charset="0"/>
                <a:ea typeface="ＭＳ Ｐゴシック" pitchFamily="-107" charset="-128"/>
                <a:cs typeface="ＭＳ Ｐゴシック" pitchFamily="-107" charset="-128"/>
              </a:rPr>
              <a:t>denoted by a key letter, which is the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letter that substitutes for the plaintext</a:t>
            </a:r>
          </a:p>
          <a:p>
            <a:r>
              <a:rPr lang="en-US" sz="1200" kern="1200" baseline="0">
                <a:solidFill>
                  <a:schemeClr val="tx1"/>
                </a:solidFill>
                <a:latin typeface="Arial" charset="0"/>
                <a:ea typeface="ＭＳ Ｐゴシック" pitchFamily="-107" charset="-128"/>
                <a:cs typeface="ＭＳ Ｐゴシック" pitchFamily="-107" charset="-128"/>
              </a:rPr>
              <a:t>letter a. Thus, a Caesar cipher with a shift of 3 is denoted by the key value 3.</a:t>
            </a:r>
          </a:p>
          <a:p>
            <a:endParaRPr lang="en-US" sz="1200" kern="1200" baseline="0">
              <a:solidFill>
                <a:schemeClr val="tx1"/>
              </a:solidFill>
              <a:latin typeface="Arial" charset="0"/>
              <a:ea typeface="ＭＳ Ｐゴシック" pitchFamily="-107" charset="-128"/>
              <a:cs typeface="ＭＳ Ｐゴシック" pitchFamily="-107"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t>44</a:t>
            </a:fld>
            <a:endParaRPr lang="en-US"/>
          </a:p>
        </p:txBody>
      </p:sp>
    </p:spTree>
    <p:extLst>
      <p:ext uri="{BB962C8B-B14F-4D97-AF65-F5344CB8AC3E}">
        <p14:creationId xmlns:p14="http://schemas.microsoft.com/office/powerpoint/2010/main" val="37878030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The periodic nature of the keyword can be eliminated by using a nonrepeating</a:t>
            </a:r>
          </a:p>
          <a:p>
            <a:r>
              <a:rPr lang="en-US" sz="1200" kern="1200" baseline="0">
                <a:solidFill>
                  <a:schemeClr val="tx1"/>
                </a:solidFill>
                <a:latin typeface="Arial" charset="0"/>
                <a:ea typeface="ＭＳ Ｐゴシック" pitchFamily="-107" charset="-128"/>
                <a:cs typeface="ＭＳ Ｐゴシック" pitchFamily="-107" charset="-128"/>
              </a:rPr>
              <a:t>keyword that is as long as the message itself. </a:t>
            </a:r>
            <a:r>
              <a:rPr lang="en-US" sz="1200" kern="1200" baseline="0" err="1">
                <a:solidFill>
                  <a:schemeClr val="tx1"/>
                </a:solidFill>
                <a:latin typeface="Arial" charset="0"/>
                <a:ea typeface="ＭＳ Ｐゴシック" pitchFamily="-107" charset="-128"/>
                <a:cs typeface="ＭＳ Ｐゴシック" pitchFamily="-107" charset="-128"/>
              </a:rPr>
              <a:t>Vigenère</a:t>
            </a:r>
            <a:r>
              <a:rPr lang="en-US" sz="1200" kern="1200" baseline="0">
                <a:solidFill>
                  <a:schemeClr val="tx1"/>
                </a:solidFill>
                <a:latin typeface="Arial" charset="0"/>
                <a:ea typeface="ＭＳ Ｐゴシック" pitchFamily="-107" charset="-128"/>
                <a:cs typeface="ＭＳ Ｐゴシック" pitchFamily="-107" charset="-128"/>
              </a:rPr>
              <a:t> proposed what is referred to</a:t>
            </a:r>
          </a:p>
          <a:p>
            <a:r>
              <a:rPr lang="en-US" sz="1200" kern="1200" baseline="0">
                <a:solidFill>
                  <a:schemeClr val="tx1"/>
                </a:solidFill>
                <a:latin typeface="Arial" charset="0"/>
                <a:ea typeface="ＭＳ Ｐゴシック" pitchFamily="-107" charset="-128"/>
                <a:cs typeface="ＭＳ Ｐゴシック" pitchFamily="-107" charset="-128"/>
              </a:rPr>
              <a:t>as an </a:t>
            </a:r>
            <a:r>
              <a:rPr lang="en-US" sz="1200" kern="1200" baseline="0" err="1">
                <a:solidFill>
                  <a:schemeClr val="tx1"/>
                </a:solidFill>
                <a:latin typeface="Arial" charset="0"/>
                <a:ea typeface="ＭＳ Ｐゴシック" pitchFamily="-107" charset="-128"/>
                <a:cs typeface="ＭＳ Ｐゴシック" pitchFamily="-107" charset="-128"/>
              </a:rPr>
              <a:t>autokey</a:t>
            </a:r>
            <a:r>
              <a:rPr lang="en-US" sz="1200" kern="1200" baseline="0">
                <a:solidFill>
                  <a:schemeClr val="tx1"/>
                </a:solidFill>
                <a:latin typeface="Arial" charset="0"/>
                <a:ea typeface="ＭＳ Ｐゴシック" pitchFamily="-107" charset="-128"/>
                <a:cs typeface="ＭＳ Ｐゴシック" pitchFamily="-107" charset="-128"/>
              </a:rPr>
              <a:t> system , in which a keyword is concatenated with the plaintext itself to</a:t>
            </a:r>
          </a:p>
          <a:p>
            <a:r>
              <a:rPr lang="en-US" sz="1200" kern="1200" baseline="0">
                <a:solidFill>
                  <a:schemeClr val="tx1"/>
                </a:solidFill>
                <a:latin typeface="Arial" charset="0"/>
                <a:ea typeface="ＭＳ Ｐゴシック" pitchFamily="-107" charset="-128"/>
                <a:cs typeface="ＭＳ Ｐゴシック" pitchFamily="-107" charset="-128"/>
              </a:rPr>
              <a:t>provide a running key. For our example,</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key: 	</a:t>
            </a:r>
            <a:r>
              <a:rPr lang="en-US" sz="1200" kern="1200" baseline="0" err="1">
                <a:solidFill>
                  <a:schemeClr val="tx1"/>
                </a:solidFill>
                <a:latin typeface="Arial" charset="0"/>
                <a:ea typeface="ＭＳ Ｐゴシック" pitchFamily="-107" charset="-128"/>
                <a:cs typeface="ＭＳ Ｐゴシック" pitchFamily="-107" charset="-128"/>
              </a:rPr>
              <a:t>deceptivewearediscoveredsav</a:t>
            </a:r>
            <a:endParaRPr lang="en-US" sz="1200" kern="1200" baseline="0">
              <a:solidFill>
                <a:schemeClr val="tx1"/>
              </a:solidFill>
              <a:latin typeface="Arial" charset="0"/>
              <a:ea typeface="ＭＳ Ｐゴシック" pitchFamily="-107" charset="-128"/>
              <a:cs typeface="ＭＳ Ｐゴシック" pitchFamily="-107" charset="-128"/>
            </a:endParaRP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plaintext: 	</a:t>
            </a:r>
            <a:r>
              <a:rPr lang="en-US" sz="1200" kern="1200" baseline="0" err="1">
                <a:solidFill>
                  <a:schemeClr val="tx1"/>
                </a:solidFill>
                <a:latin typeface="Arial" charset="0"/>
                <a:ea typeface="ＭＳ Ｐゴシック" pitchFamily="-107" charset="-128"/>
                <a:cs typeface="ＭＳ Ｐゴシック" pitchFamily="-107" charset="-128"/>
              </a:rPr>
              <a:t>wearediscoveredsaveyourself</a:t>
            </a:r>
            <a:endParaRPr lang="en-US" sz="1200" kern="1200" baseline="0">
              <a:solidFill>
                <a:schemeClr val="tx1"/>
              </a:solidFill>
              <a:latin typeface="Arial" charset="0"/>
              <a:ea typeface="ＭＳ Ｐゴシック" pitchFamily="-107" charset="-128"/>
              <a:cs typeface="ＭＳ Ｐゴシック" pitchFamily="-107" charset="-128"/>
            </a:endParaRP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a:t>
            </a:r>
            <a:r>
              <a:rPr lang="en-US" sz="600" kern="1200" baseline="0">
                <a:solidFill>
                  <a:schemeClr val="tx1"/>
                </a:solidFill>
                <a:latin typeface="Arial" charset="0"/>
                <a:ea typeface="ＭＳ Ｐゴシック" pitchFamily="-107" charset="-128"/>
                <a:cs typeface="ＭＳ Ｐゴシック" pitchFamily="-107" charset="-128"/>
              </a:rPr>
              <a:t>ZICVTWQNGKZEIIGASXSTSLVVWLA</a:t>
            </a:r>
            <a:endParaRPr lang="en-US" sz="1000" kern="1200" baseline="0">
              <a:solidFill>
                <a:schemeClr val="tx1"/>
              </a:solidFill>
              <a:latin typeface="Arial" charset="0"/>
              <a:ea typeface="ＭＳ Ｐゴシック" pitchFamily="-107" charset="-128"/>
              <a:cs typeface="ＭＳ Ｐゴシック" pitchFamily="-107" charset="-128"/>
            </a:endParaRP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 Even this scheme is vulnerable to cryptanalysis. Because the key and the</a:t>
            </a:r>
          </a:p>
          <a:p>
            <a:r>
              <a:rPr lang="en-US" sz="1200" kern="1200" baseline="0">
                <a:solidFill>
                  <a:schemeClr val="tx1"/>
                </a:solidFill>
                <a:latin typeface="Arial" charset="0"/>
                <a:ea typeface="ＭＳ Ｐゴシック" pitchFamily="-107" charset="-128"/>
                <a:cs typeface="ＭＳ Ｐゴシック" pitchFamily="-107" charset="-128"/>
              </a:rPr>
              <a:t>plaintext share the same frequency distribution of letters, a statistical technique</a:t>
            </a:r>
          </a:p>
          <a:p>
            <a:r>
              <a:rPr lang="en-US" sz="1200" kern="1200" baseline="0">
                <a:solidFill>
                  <a:schemeClr val="tx1"/>
                </a:solidFill>
                <a:latin typeface="Arial" charset="0"/>
                <a:ea typeface="ＭＳ Ｐゴシック" pitchFamily="-107" charset="-128"/>
                <a:cs typeface="ＭＳ Ｐゴシック" pitchFamily="-107" charset="-128"/>
              </a:rPr>
              <a:t>can be applied. For example, e enciphered </a:t>
            </a:r>
            <a:r>
              <a:rPr lang="en-US" sz="1200" b="0" kern="1200" baseline="0">
                <a:solidFill>
                  <a:schemeClr val="tx1"/>
                </a:solidFill>
                <a:latin typeface="Arial" charset="0"/>
                <a:ea typeface="ＭＳ Ｐゴシック" pitchFamily="-107" charset="-128"/>
                <a:cs typeface="ＭＳ Ｐゴシック" pitchFamily="-107" charset="-128"/>
              </a:rPr>
              <a:t>by </a:t>
            </a:r>
            <a:r>
              <a:rPr lang="en-US" sz="1200" b="0" i="1" kern="1200" baseline="0">
                <a:solidFill>
                  <a:schemeClr val="tx1"/>
                </a:solidFill>
                <a:latin typeface="Arial" charset="0"/>
                <a:ea typeface="ＭＳ Ｐゴシック" pitchFamily="-107" charset="-128"/>
                <a:cs typeface="ＭＳ Ｐゴシック" pitchFamily="-107" charset="-128"/>
              </a:rPr>
              <a:t>e</a:t>
            </a:r>
            <a:r>
              <a:rPr lang="en-US" sz="1200" b="0" kern="1200" baseline="0">
                <a:solidFill>
                  <a:schemeClr val="tx1"/>
                </a:solidFill>
                <a:latin typeface="Arial" charset="0"/>
                <a:ea typeface="ＭＳ Ｐゴシック" pitchFamily="-107" charset="-128"/>
                <a:cs typeface="ＭＳ Ｐゴシック" pitchFamily="-107" charset="-128"/>
              </a:rPr>
              <a:t> , by Figure 3.5, can be expected to</a:t>
            </a:r>
          </a:p>
          <a:p>
            <a:r>
              <a:rPr lang="en-US" sz="1200" b="0" kern="1200" baseline="0">
                <a:solidFill>
                  <a:schemeClr val="tx1"/>
                </a:solidFill>
                <a:latin typeface="Arial" charset="0"/>
                <a:ea typeface="ＭＳ Ｐゴシック" pitchFamily="-107" charset="-128"/>
                <a:cs typeface="ＭＳ Ｐゴシック" pitchFamily="-107" charset="-128"/>
              </a:rPr>
              <a:t>occur with a frequency of (0.127</a:t>
            </a:r>
            <a:r>
              <a:rPr lang="en-US" sz="1200" b="0" kern="1200" baseline="30000">
                <a:solidFill>
                  <a:schemeClr val="tx1"/>
                </a:solidFill>
                <a:latin typeface="Arial" charset="0"/>
                <a:ea typeface="ＭＳ Ｐゴシック" pitchFamily="-107" charset="-128"/>
                <a:cs typeface="ＭＳ Ｐゴシック" pitchFamily="-107" charset="-128"/>
              </a:rPr>
              <a:t>)2</a:t>
            </a:r>
            <a:r>
              <a:rPr lang="en-US" sz="1200" b="0" kern="1200" baseline="0">
                <a:solidFill>
                  <a:schemeClr val="tx1"/>
                </a:solidFill>
                <a:latin typeface="Arial" charset="0"/>
                <a:ea typeface="ＭＳ Ｐゴシック" pitchFamily="-107" charset="-128"/>
                <a:cs typeface="ＭＳ Ｐゴシック" pitchFamily="-107" charset="-128"/>
              </a:rPr>
              <a:t> =  0.016, whereas</a:t>
            </a:r>
            <a:r>
              <a:rPr lang="en-US" sz="1200" b="0" i="1" kern="1200" baseline="0">
                <a:solidFill>
                  <a:schemeClr val="tx1"/>
                </a:solidFill>
                <a:latin typeface="Arial" charset="0"/>
                <a:ea typeface="ＭＳ Ｐゴシック" pitchFamily="-107" charset="-128"/>
                <a:cs typeface="ＭＳ Ｐゴシック" pitchFamily="-107" charset="-128"/>
              </a:rPr>
              <a:t> t </a:t>
            </a:r>
            <a:r>
              <a:rPr lang="en-US" sz="1200" b="0" kern="1200" baseline="0">
                <a:solidFill>
                  <a:schemeClr val="tx1"/>
                </a:solidFill>
                <a:latin typeface="Arial" charset="0"/>
                <a:ea typeface="ＭＳ Ｐゴシック" pitchFamily="-107" charset="-128"/>
                <a:cs typeface="ＭＳ Ｐゴシック" pitchFamily="-107" charset="-128"/>
              </a:rPr>
              <a:t>enciphered by </a:t>
            </a:r>
            <a:r>
              <a:rPr lang="en-US" sz="1200" b="0" i="1" kern="1200" baseline="0">
                <a:solidFill>
                  <a:schemeClr val="tx1"/>
                </a:solidFill>
                <a:latin typeface="Arial" charset="0"/>
                <a:ea typeface="ＭＳ Ｐゴシック" pitchFamily="-107" charset="-128"/>
                <a:cs typeface="ＭＳ Ｐゴシック" pitchFamily="-107" charset="-128"/>
              </a:rPr>
              <a:t>t</a:t>
            </a:r>
            <a:r>
              <a:rPr lang="en-US" sz="1200" b="0" kern="1200" baseline="0">
                <a:solidFill>
                  <a:schemeClr val="tx1"/>
                </a:solidFill>
                <a:latin typeface="Arial" charset="0"/>
                <a:ea typeface="ＭＳ Ｐゴシック" pitchFamily="-107" charset="-128"/>
                <a:cs typeface="ＭＳ Ｐゴシック" pitchFamily="-107" charset="-128"/>
              </a:rPr>
              <a:t>  would occur</a:t>
            </a:r>
          </a:p>
          <a:p>
            <a:r>
              <a:rPr lang="en-US" sz="1200" kern="1200" baseline="0">
                <a:solidFill>
                  <a:schemeClr val="tx1"/>
                </a:solidFill>
                <a:latin typeface="Arial" charset="0"/>
                <a:ea typeface="ＭＳ Ｐゴシック" pitchFamily="-107" charset="-128"/>
                <a:cs typeface="ＭＳ Ｐゴシック" pitchFamily="-107" charset="-128"/>
              </a:rPr>
              <a:t>only about half as often. These regularities can be exploited to achieve successful</a:t>
            </a:r>
          </a:p>
          <a:p>
            <a:r>
              <a:rPr lang="en-US" sz="1200" kern="1200" baseline="0">
                <a:solidFill>
                  <a:schemeClr val="tx1"/>
                </a:solidFill>
                <a:latin typeface="Arial" charset="0"/>
                <a:ea typeface="ＭＳ Ｐゴシック" pitchFamily="-107" charset="-128"/>
                <a:cs typeface="ＭＳ Ｐゴシック" pitchFamily="-107" charset="-128"/>
              </a:rPr>
              <a:t>cryptanalysis.</a:t>
            </a:r>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t>45</a:t>
            </a:fld>
            <a:endParaRPr lang="en-US"/>
          </a:p>
        </p:txBody>
      </p:sp>
    </p:spTree>
    <p:extLst>
      <p:ext uri="{BB962C8B-B14F-4D97-AF65-F5344CB8AC3E}">
        <p14:creationId xmlns:p14="http://schemas.microsoft.com/office/powerpoint/2010/main" val="3521938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 The ultimate defense against such a cryptanalysis is to choose a</a:t>
            </a:r>
          </a:p>
          <a:p>
            <a:r>
              <a:rPr lang="en-US" sz="1200" kern="1200" baseline="0">
                <a:solidFill>
                  <a:schemeClr val="tx1"/>
                </a:solidFill>
                <a:latin typeface="Arial" charset="0"/>
                <a:ea typeface="ＭＳ Ｐゴシック" pitchFamily="-107" charset="-128"/>
                <a:cs typeface="ＭＳ Ｐゴシック" pitchFamily="-107" charset="-128"/>
              </a:rPr>
              <a:t>keyword that is as long as the plaintext and has no statistical relationship to it. Such</a:t>
            </a:r>
          </a:p>
          <a:p>
            <a:r>
              <a:rPr lang="en-US" sz="1200" kern="1200" baseline="0">
                <a:solidFill>
                  <a:schemeClr val="tx1"/>
                </a:solidFill>
                <a:latin typeface="Arial" charset="0"/>
                <a:ea typeface="ＭＳ Ｐゴシック" pitchFamily="-107" charset="-128"/>
                <a:cs typeface="ＭＳ Ｐゴシック" pitchFamily="-107" charset="-128"/>
              </a:rPr>
              <a:t>a system was introduced by an AT&amp;T engineer named Gilbert </a:t>
            </a:r>
            <a:r>
              <a:rPr lang="en-US" sz="1200" kern="1200" baseline="0" err="1">
                <a:solidFill>
                  <a:schemeClr val="tx1"/>
                </a:solidFill>
                <a:latin typeface="Arial" charset="0"/>
                <a:ea typeface="ＭＳ Ｐゴシック" pitchFamily="-107" charset="-128"/>
                <a:cs typeface="ＭＳ Ｐゴシック" pitchFamily="-107" charset="-128"/>
              </a:rPr>
              <a:t>Vernam</a:t>
            </a:r>
            <a:r>
              <a:rPr lang="en-US" sz="1200" kern="1200" baseline="0">
                <a:solidFill>
                  <a:schemeClr val="tx1"/>
                </a:solidFill>
                <a:latin typeface="Arial" charset="0"/>
                <a:ea typeface="ＭＳ Ｐゴシック" pitchFamily="-107" charset="-128"/>
                <a:cs typeface="ＭＳ Ｐゴシック" pitchFamily="-107" charset="-128"/>
              </a:rPr>
              <a:t> in 1918.</a:t>
            </a:r>
          </a:p>
          <a:p>
            <a:r>
              <a:rPr lang="en-US" sz="1200" kern="1200" baseline="0">
                <a:solidFill>
                  <a:schemeClr val="tx1"/>
                </a:solidFill>
                <a:latin typeface="Arial" charset="0"/>
                <a:ea typeface="ＭＳ Ｐゴシック" pitchFamily="-107" charset="-128"/>
                <a:cs typeface="ＭＳ Ｐゴシック" pitchFamily="-107" charset="-128"/>
              </a:rPr>
              <a:t> His system works on binary data (bits) rather than letters.</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The essence of this technique is the means of construction of the key. </a:t>
            </a:r>
            <a:r>
              <a:rPr lang="en-US" sz="1200" kern="1200" baseline="0" err="1">
                <a:solidFill>
                  <a:schemeClr val="tx1"/>
                </a:solidFill>
                <a:latin typeface="Arial" charset="0"/>
                <a:ea typeface="ＭＳ Ｐゴシック" pitchFamily="-107" charset="-128"/>
                <a:cs typeface="ＭＳ Ｐゴシック" pitchFamily="-107" charset="-128"/>
              </a:rPr>
              <a:t>Vernam</a:t>
            </a:r>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proposed the use of a running loop of tape that eventually repeated the key, so</a:t>
            </a:r>
          </a:p>
          <a:p>
            <a:r>
              <a:rPr lang="en-US" sz="1200" kern="1200" baseline="0">
                <a:solidFill>
                  <a:schemeClr val="tx1"/>
                </a:solidFill>
                <a:latin typeface="Arial" charset="0"/>
                <a:ea typeface="ＭＳ Ｐゴシック" pitchFamily="-107" charset="-128"/>
                <a:cs typeface="ＭＳ Ｐゴシック" pitchFamily="-107" charset="-128"/>
              </a:rPr>
              <a:t>that in fact the system worked with a very long but repeating keyword. Although</a:t>
            </a:r>
          </a:p>
          <a:p>
            <a:r>
              <a:rPr lang="en-US" sz="1200" kern="1200" baseline="0">
                <a:solidFill>
                  <a:schemeClr val="tx1"/>
                </a:solidFill>
                <a:latin typeface="Arial" charset="0"/>
                <a:ea typeface="ＭＳ Ｐゴシック" pitchFamily="-107" charset="-128"/>
                <a:cs typeface="ＭＳ Ｐゴシック" pitchFamily="-107" charset="-128"/>
              </a:rPr>
              <a:t>such a scheme, with a long key, presents formidable cryptanalytic difficulties, it</a:t>
            </a:r>
          </a:p>
          <a:p>
            <a:r>
              <a:rPr lang="en-US" sz="1200" kern="1200" baseline="0">
                <a:solidFill>
                  <a:schemeClr val="tx1"/>
                </a:solidFill>
                <a:latin typeface="Arial" charset="0"/>
                <a:ea typeface="ＭＳ Ｐゴシック" pitchFamily="-107" charset="-128"/>
                <a:cs typeface="ＭＳ Ｐゴシック" pitchFamily="-107" charset="-128"/>
              </a:rPr>
              <a:t>can be broken with sufficient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the use of known or probable plaintext</a:t>
            </a:r>
          </a:p>
          <a:p>
            <a:r>
              <a:rPr lang="en-US" sz="1200" kern="1200" baseline="0">
                <a:solidFill>
                  <a:schemeClr val="tx1"/>
                </a:solidFill>
                <a:latin typeface="Arial" charset="0"/>
                <a:ea typeface="ＭＳ Ｐゴシック" pitchFamily="-107" charset="-128"/>
                <a:cs typeface="ＭＳ Ｐゴシック" pitchFamily="-107" charset="-128"/>
              </a:rPr>
              <a:t>sequences, or both.</a:t>
            </a:r>
          </a:p>
          <a:p>
            <a:endParaRPr lang="en-US">
              <a:latin typeface="Arial" pitchFamily="-1" charset="0"/>
              <a:ea typeface="ＭＳ Ｐゴシック" pitchFamily="-1" charset="-128"/>
              <a:cs typeface="ＭＳ Ｐゴシック" pitchFamily="-1"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t>46</a:t>
            </a:fld>
            <a:endParaRPr lang="en-US"/>
          </a:p>
        </p:txBody>
      </p:sp>
    </p:spTree>
    <p:extLst>
      <p:ext uri="{BB962C8B-B14F-4D97-AF65-F5344CB8AC3E}">
        <p14:creationId xmlns:p14="http://schemas.microsoft.com/office/powerpoint/2010/main" val="3521938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 An Army Signal Corp officer, Joseph </a:t>
            </a:r>
            <a:r>
              <a:rPr lang="en-US" sz="1200" kern="1200" baseline="0" err="1">
                <a:solidFill>
                  <a:schemeClr val="tx1"/>
                </a:solidFill>
                <a:latin typeface="Arial" charset="0"/>
                <a:ea typeface="ＭＳ Ｐゴシック" pitchFamily="-107" charset="-128"/>
                <a:cs typeface="ＭＳ Ｐゴシック" pitchFamily="-107" charset="-128"/>
              </a:rPr>
              <a:t>Mauborgne</a:t>
            </a:r>
            <a:r>
              <a:rPr lang="en-US" sz="1200" kern="1200" baseline="0">
                <a:solidFill>
                  <a:schemeClr val="tx1"/>
                </a:solidFill>
                <a:latin typeface="Arial" charset="0"/>
                <a:ea typeface="ＭＳ Ｐゴシック" pitchFamily="-107" charset="-128"/>
                <a:cs typeface="ＭＳ Ｐゴシック" pitchFamily="-107" charset="-128"/>
              </a:rPr>
              <a:t>, proposed an improvement to the</a:t>
            </a:r>
          </a:p>
          <a:p>
            <a:r>
              <a:rPr lang="en-US" sz="1200" kern="1200" baseline="0" err="1">
                <a:solidFill>
                  <a:schemeClr val="tx1"/>
                </a:solidFill>
                <a:latin typeface="Arial" charset="0"/>
                <a:ea typeface="ＭＳ Ｐゴシック" pitchFamily="-107" charset="-128"/>
                <a:cs typeface="ＭＳ Ｐゴシック" pitchFamily="-107" charset="-128"/>
              </a:rPr>
              <a:t>Vernam</a:t>
            </a:r>
            <a:r>
              <a:rPr lang="en-US" sz="1200" kern="1200" baseline="0">
                <a:solidFill>
                  <a:schemeClr val="tx1"/>
                </a:solidFill>
                <a:latin typeface="Arial" charset="0"/>
                <a:ea typeface="ＭＳ Ｐゴシック" pitchFamily="-107" charset="-128"/>
                <a:cs typeface="ＭＳ Ｐゴシック" pitchFamily="-107" charset="-128"/>
              </a:rPr>
              <a:t> cipher that yields the ultimate in security. </a:t>
            </a:r>
            <a:r>
              <a:rPr lang="en-US" sz="1200" kern="1200" baseline="0" err="1">
                <a:solidFill>
                  <a:schemeClr val="tx1"/>
                </a:solidFill>
                <a:latin typeface="Arial" charset="0"/>
                <a:ea typeface="ＭＳ Ｐゴシック" pitchFamily="-107" charset="-128"/>
                <a:cs typeface="ＭＳ Ｐゴシック" pitchFamily="-107" charset="-128"/>
              </a:rPr>
              <a:t>Mauborgne</a:t>
            </a:r>
            <a:r>
              <a:rPr lang="en-US" sz="1200" kern="1200" baseline="0">
                <a:solidFill>
                  <a:schemeClr val="tx1"/>
                </a:solidFill>
                <a:latin typeface="Arial" charset="0"/>
                <a:ea typeface="ＭＳ Ｐゴシック" pitchFamily="-107" charset="-128"/>
                <a:cs typeface="ＭＳ Ｐゴシック" pitchFamily="-107" charset="-128"/>
              </a:rPr>
              <a:t> suggested using a</a:t>
            </a:r>
          </a:p>
          <a:p>
            <a:r>
              <a:rPr lang="en-US" sz="1200" kern="1200" baseline="0">
                <a:solidFill>
                  <a:schemeClr val="tx1"/>
                </a:solidFill>
                <a:latin typeface="Arial" charset="0"/>
                <a:ea typeface="ＭＳ Ｐゴシック" pitchFamily="-107" charset="-128"/>
                <a:cs typeface="ＭＳ Ｐゴシック" pitchFamily="-107" charset="-128"/>
              </a:rPr>
              <a:t>random key that is as long as the message, so that the key need not be repeated. In</a:t>
            </a:r>
          </a:p>
          <a:p>
            <a:r>
              <a:rPr lang="en-US" sz="1200" kern="1200" baseline="0">
                <a:solidFill>
                  <a:schemeClr val="tx1"/>
                </a:solidFill>
                <a:latin typeface="Arial" charset="0"/>
                <a:ea typeface="ＭＳ Ｐゴシック" pitchFamily="-107" charset="-128"/>
                <a:cs typeface="ＭＳ Ｐゴシック" pitchFamily="-107" charset="-128"/>
              </a:rPr>
              <a:t>addition, the key is to be used to encrypt and decrypt a single message, and then is</a:t>
            </a:r>
          </a:p>
          <a:p>
            <a:r>
              <a:rPr lang="en-US" sz="1200" kern="1200" baseline="0">
                <a:solidFill>
                  <a:schemeClr val="tx1"/>
                </a:solidFill>
                <a:latin typeface="Arial" charset="0"/>
                <a:ea typeface="ＭＳ Ｐゴシック" pitchFamily="-107" charset="-128"/>
                <a:cs typeface="ＭＳ Ｐゴシック" pitchFamily="-107" charset="-128"/>
              </a:rPr>
              <a:t>discarded. Each new message requires a new key of the same length as the new message.</a:t>
            </a:r>
          </a:p>
          <a:p>
            <a:r>
              <a:rPr lang="en-US" sz="1200" kern="1200" baseline="0">
                <a:solidFill>
                  <a:schemeClr val="tx1"/>
                </a:solidFill>
                <a:latin typeface="Arial" charset="0"/>
                <a:ea typeface="ＭＳ Ｐゴシック" pitchFamily="-107" charset="-128"/>
                <a:cs typeface="ＭＳ Ｐゴシック" pitchFamily="-107" charset="-128"/>
              </a:rPr>
              <a:t>Such a scheme, known as a </a:t>
            </a:r>
            <a:r>
              <a:rPr lang="en-US" sz="1200" b="1" kern="1200" baseline="0">
                <a:solidFill>
                  <a:schemeClr val="tx1"/>
                </a:solidFill>
                <a:latin typeface="Arial" charset="0"/>
                <a:ea typeface="ＭＳ Ｐゴシック" pitchFamily="-107" charset="-128"/>
                <a:cs typeface="ＭＳ Ｐゴシック" pitchFamily="-107" charset="-128"/>
              </a:rPr>
              <a:t>one-time</a:t>
            </a:r>
            <a:r>
              <a:rPr lang="en-US" sz="1200" kern="1200" baseline="0">
                <a:solidFill>
                  <a:schemeClr val="tx1"/>
                </a:solidFill>
                <a:latin typeface="Arial" charset="0"/>
                <a:ea typeface="ＭＳ Ｐゴシック" pitchFamily="-107" charset="-128"/>
                <a:cs typeface="ＭＳ Ｐゴシック" pitchFamily="-107" charset="-128"/>
              </a:rPr>
              <a:t> </a:t>
            </a:r>
            <a:r>
              <a:rPr lang="en-US" sz="1200" b="1" kern="1200" baseline="0">
                <a:solidFill>
                  <a:schemeClr val="tx1"/>
                </a:solidFill>
                <a:latin typeface="Arial" charset="0"/>
                <a:ea typeface="ＭＳ Ｐゴシック" pitchFamily="-107" charset="-128"/>
                <a:cs typeface="ＭＳ Ｐゴシック" pitchFamily="-107" charset="-128"/>
              </a:rPr>
              <a:t>pad</a:t>
            </a:r>
            <a:r>
              <a:rPr lang="en-US" sz="1200" kern="1200" baseline="0">
                <a:solidFill>
                  <a:schemeClr val="tx1"/>
                </a:solidFill>
                <a:latin typeface="Arial" charset="0"/>
                <a:ea typeface="ＭＳ Ｐゴシック" pitchFamily="-107" charset="-128"/>
                <a:cs typeface="ＭＳ Ｐゴシック" pitchFamily="-107" charset="-128"/>
              </a:rPr>
              <a:t> , is unbreakable. It produces random</a:t>
            </a:r>
          </a:p>
          <a:p>
            <a:r>
              <a:rPr lang="en-US" sz="1200" kern="1200" baseline="0">
                <a:solidFill>
                  <a:schemeClr val="tx1"/>
                </a:solidFill>
                <a:latin typeface="Arial" charset="0"/>
                <a:ea typeface="ＭＳ Ｐゴシック" pitchFamily="-107" charset="-128"/>
                <a:cs typeface="ＭＳ Ｐゴシック" pitchFamily="-107" charset="-128"/>
              </a:rPr>
              <a:t>output that bears no statistical relationship to the plaintext. Because the </a:t>
            </a:r>
            <a:r>
              <a:rPr lang="en-US" sz="1200" kern="1200" baseline="0" err="1">
                <a:solidFill>
                  <a:schemeClr val="tx1"/>
                </a:solidFill>
                <a:latin typeface="Arial" charset="0"/>
                <a:ea typeface="ＭＳ Ｐゴシック" pitchFamily="-107" charset="-128"/>
                <a:cs typeface="ＭＳ Ｐゴシック" pitchFamily="-107" charset="-128"/>
              </a:rPr>
              <a:t>ciphertext</a:t>
            </a:r>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contains no information whatsoever about the plaintext, there is simply no way to</a:t>
            </a:r>
          </a:p>
          <a:p>
            <a:r>
              <a:rPr lang="en-US" sz="1200" kern="1200" baseline="0">
                <a:solidFill>
                  <a:schemeClr val="tx1"/>
                </a:solidFill>
                <a:latin typeface="Arial" charset="0"/>
                <a:ea typeface="ＭＳ Ｐゴシック" pitchFamily="-107" charset="-128"/>
                <a:cs typeface="ＭＳ Ｐゴシック" pitchFamily="-107" charset="-128"/>
              </a:rPr>
              <a:t>break the code.</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 In fact, given any plaintext of equal length to the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there is a key that</a:t>
            </a:r>
          </a:p>
          <a:p>
            <a:r>
              <a:rPr lang="en-US" sz="1200" kern="1200" baseline="0">
                <a:solidFill>
                  <a:schemeClr val="tx1"/>
                </a:solidFill>
                <a:latin typeface="Arial" charset="0"/>
                <a:ea typeface="ＭＳ Ｐゴシック" pitchFamily="-107" charset="-128"/>
                <a:cs typeface="ＭＳ Ｐゴシック" pitchFamily="-107" charset="-128"/>
              </a:rPr>
              <a:t>produces that plaintext. Therefore, if you did an exhaustive search of all possible</a:t>
            </a:r>
          </a:p>
          <a:p>
            <a:r>
              <a:rPr lang="en-US" sz="1200" kern="1200" baseline="0">
                <a:solidFill>
                  <a:schemeClr val="tx1"/>
                </a:solidFill>
                <a:latin typeface="Arial" charset="0"/>
                <a:ea typeface="ＭＳ Ｐゴシック" pitchFamily="-107" charset="-128"/>
                <a:cs typeface="ＭＳ Ｐゴシック" pitchFamily="-107" charset="-128"/>
              </a:rPr>
              <a:t>keys, you would end up with many legible plaintexts, with no way of knowing which</a:t>
            </a:r>
          </a:p>
          <a:p>
            <a:r>
              <a:rPr lang="en-US" sz="1200" kern="1200" baseline="0">
                <a:solidFill>
                  <a:schemeClr val="tx1"/>
                </a:solidFill>
                <a:latin typeface="Arial" charset="0"/>
                <a:ea typeface="ＭＳ Ｐゴシック" pitchFamily="-107" charset="-128"/>
                <a:cs typeface="ＭＳ Ｐゴシック" pitchFamily="-107" charset="-128"/>
              </a:rPr>
              <a:t>was the intended plaintext. Therefore, the code is unbreakable.</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The security of the one-time pad is entirely due to the randomness of</a:t>
            </a:r>
          </a:p>
          <a:p>
            <a:r>
              <a:rPr lang="en-US" sz="1200" kern="1200" baseline="0">
                <a:solidFill>
                  <a:schemeClr val="tx1"/>
                </a:solidFill>
                <a:latin typeface="Arial" charset="0"/>
                <a:ea typeface="ＭＳ Ｐゴシック" pitchFamily="-107" charset="-128"/>
                <a:cs typeface="ＭＳ Ｐゴシック" pitchFamily="-107" charset="-128"/>
              </a:rPr>
              <a:t>the key. If the stream of characters that constitute the key is truly random, then the</a:t>
            </a:r>
          </a:p>
          <a:p>
            <a:r>
              <a:rPr lang="en-US" sz="1200" kern="1200" baseline="0">
                <a:solidFill>
                  <a:schemeClr val="tx1"/>
                </a:solidFill>
                <a:latin typeface="Arial" charset="0"/>
                <a:ea typeface="ＭＳ Ｐゴシック" pitchFamily="-107" charset="-128"/>
                <a:cs typeface="ＭＳ Ｐゴシック" pitchFamily="-107" charset="-128"/>
              </a:rPr>
              <a:t>stream of characters that constitute the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will be truly random. Thus, there</a:t>
            </a:r>
          </a:p>
          <a:p>
            <a:r>
              <a:rPr lang="en-US" sz="1200" kern="1200" baseline="0">
                <a:solidFill>
                  <a:schemeClr val="tx1"/>
                </a:solidFill>
                <a:latin typeface="Arial" charset="0"/>
                <a:ea typeface="ＭＳ Ｐゴシック" pitchFamily="-107" charset="-128"/>
                <a:cs typeface="ＭＳ Ｐゴシック" pitchFamily="-107" charset="-128"/>
              </a:rPr>
              <a:t>are no patterns or regularities that a cryptanalyst can use to attack the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a:t>
            </a:r>
            <a:endParaRPr lang="en-AU">
              <a:latin typeface="Arial" pitchFamily="-1" charset="0"/>
              <a:ea typeface="Arial" pitchFamily="-1" charset="0"/>
              <a:cs typeface="Arial" pitchFamily="-1"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t>47</a:t>
            </a:fld>
            <a:endParaRPr lang="en-US"/>
          </a:p>
        </p:txBody>
      </p:sp>
    </p:spTree>
    <p:extLst>
      <p:ext uri="{BB962C8B-B14F-4D97-AF65-F5344CB8AC3E}">
        <p14:creationId xmlns:p14="http://schemas.microsoft.com/office/powerpoint/2010/main" val="3521938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In theory, we need look no further for a cipher. The one-time pad offers complete</a:t>
            </a:r>
          </a:p>
          <a:p>
            <a:r>
              <a:rPr lang="en-US" sz="1200" kern="1200" baseline="0">
                <a:solidFill>
                  <a:schemeClr val="tx1"/>
                </a:solidFill>
                <a:latin typeface="Arial" charset="0"/>
                <a:ea typeface="ＭＳ Ｐゴシック" pitchFamily="-107" charset="-128"/>
                <a:cs typeface="ＭＳ Ｐゴシック" pitchFamily="-107" charset="-128"/>
              </a:rPr>
              <a:t>security but, in practice, has two fundamental difficulties:</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1.  There is the practical problem of making large quantities of random keys.</a:t>
            </a:r>
          </a:p>
          <a:p>
            <a:r>
              <a:rPr lang="en-US" sz="1200" kern="1200" baseline="0">
                <a:solidFill>
                  <a:schemeClr val="tx1"/>
                </a:solidFill>
                <a:latin typeface="Arial" charset="0"/>
                <a:ea typeface="ＭＳ Ｐゴシック" pitchFamily="-107" charset="-128"/>
                <a:cs typeface="ＭＳ Ｐゴシック" pitchFamily="-107" charset="-128"/>
              </a:rPr>
              <a:t>Any heavily used system might require millions of random characters</a:t>
            </a:r>
          </a:p>
          <a:p>
            <a:r>
              <a:rPr lang="en-US" sz="1200" kern="1200" baseline="0">
                <a:solidFill>
                  <a:schemeClr val="tx1"/>
                </a:solidFill>
                <a:latin typeface="Arial" charset="0"/>
                <a:ea typeface="ＭＳ Ｐゴシック" pitchFamily="-107" charset="-128"/>
                <a:cs typeface="ＭＳ Ｐゴシック" pitchFamily="-107" charset="-128"/>
              </a:rPr>
              <a:t>on a regular basis. Supplying truly random characters in this volume is a</a:t>
            </a:r>
          </a:p>
          <a:p>
            <a:r>
              <a:rPr lang="en-US" sz="1200" kern="1200" baseline="0">
                <a:solidFill>
                  <a:schemeClr val="tx1"/>
                </a:solidFill>
                <a:latin typeface="Arial" charset="0"/>
                <a:ea typeface="ＭＳ Ｐゴシック" pitchFamily="-107" charset="-128"/>
                <a:cs typeface="ＭＳ Ｐゴシック" pitchFamily="-107" charset="-128"/>
              </a:rPr>
              <a:t>significant task.</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2.  Even more daunting is the problem of key distribution and protection. For</a:t>
            </a:r>
          </a:p>
          <a:p>
            <a:r>
              <a:rPr lang="en-US" sz="1200" kern="1200" baseline="0">
                <a:solidFill>
                  <a:schemeClr val="tx1"/>
                </a:solidFill>
                <a:latin typeface="Arial" charset="0"/>
                <a:ea typeface="ＭＳ Ｐゴシック" pitchFamily="-107" charset="-128"/>
                <a:cs typeface="ＭＳ Ｐゴシック" pitchFamily="-107" charset="-128"/>
              </a:rPr>
              <a:t>every message to be sent, a key of equal length is needed by both sender and</a:t>
            </a:r>
          </a:p>
          <a:p>
            <a:r>
              <a:rPr lang="en-US" sz="1200" kern="1200" baseline="0">
                <a:solidFill>
                  <a:schemeClr val="tx1"/>
                </a:solidFill>
                <a:latin typeface="Arial" charset="0"/>
                <a:ea typeface="ＭＳ Ｐゴシック" pitchFamily="-107" charset="-128"/>
                <a:cs typeface="ＭＳ Ｐゴシック" pitchFamily="-107" charset="-128"/>
              </a:rPr>
              <a:t>receiver. Thus, a mammoth key distribution problem exists.</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Because of these difficulties, the one-time pad is of limited utility and is useful</a:t>
            </a:r>
          </a:p>
          <a:p>
            <a:r>
              <a:rPr lang="en-US" sz="1200" kern="1200" baseline="0">
                <a:solidFill>
                  <a:schemeClr val="tx1"/>
                </a:solidFill>
                <a:latin typeface="Arial" charset="0"/>
                <a:ea typeface="ＭＳ Ｐゴシック" pitchFamily="-107" charset="-128"/>
                <a:cs typeface="ＭＳ Ｐゴシック" pitchFamily="-107" charset="-128"/>
              </a:rPr>
              <a:t>primarily for low-bandwidth channels requiring very high security.</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The one-time pad is the only cryptosystem that exhibits what is referred to as</a:t>
            </a:r>
          </a:p>
          <a:p>
            <a:r>
              <a:rPr lang="en-US" sz="1200" i="1" kern="1200" baseline="0">
                <a:solidFill>
                  <a:schemeClr val="tx1"/>
                </a:solidFill>
                <a:latin typeface="Arial" charset="0"/>
                <a:ea typeface="ＭＳ Ｐゴシック" pitchFamily="-107" charset="-128"/>
                <a:cs typeface="ＭＳ Ｐゴシック" pitchFamily="-107" charset="-128"/>
              </a:rPr>
              <a:t>perfect</a:t>
            </a:r>
            <a:r>
              <a:rPr lang="en-US" sz="1200" kern="1200" baseline="0">
                <a:solidFill>
                  <a:schemeClr val="tx1"/>
                </a:solidFill>
                <a:latin typeface="Arial" charset="0"/>
                <a:ea typeface="ＭＳ Ｐゴシック" pitchFamily="-107" charset="-128"/>
                <a:cs typeface="ＭＳ Ｐゴシック" pitchFamily="-107" charset="-128"/>
              </a:rPr>
              <a:t> </a:t>
            </a:r>
            <a:r>
              <a:rPr lang="en-US" sz="1200" i="1" kern="1200" baseline="0">
                <a:solidFill>
                  <a:schemeClr val="tx1"/>
                </a:solidFill>
                <a:latin typeface="Arial" charset="0"/>
                <a:ea typeface="ＭＳ Ｐゴシック" pitchFamily="-107" charset="-128"/>
                <a:cs typeface="ＭＳ Ｐゴシック" pitchFamily="-107" charset="-128"/>
              </a:rPr>
              <a:t>secrecy</a:t>
            </a:r>
            <a:r>
              <a:rPr lang="en-US" sz="1200" kern="1200" baseline="0">
                <a:solidFill>
                  <a:schemeClr val="tx1"/>
                </a:solidFill>
                <a:latin typeface="Arial" charset="0"/>
                <a:ea typeface="ＭＳ Ｐゴシック" pitchFamily="-107" charset="-128"/>
                <a:cs typeface="ＭＳ Ｐゴシック" pitchFamily="-107" charset="-128"/>
              </a:rPr>
              <a:t> . This concept is explored in Appendix B.</a:t>
            </a:r>
          </a:p>
          <a:p>
            <a:endParaRPr 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t>48</a:t>
            </a:fld>
            <a:endParaRPr lang="en-US"/>
          </a:p>
        </p:txBody>
      </p:sp>
    </p:spTree>
    <p:extLst>
      <p:ext uri="{BB962C8B-B14F-4D97-AF65-F5344CB8AC3E}">
        <p14:creationId xmlns:p14="http://schemas.microsoft.com/office/powerpoint/2010/main" val="3521938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All the techniques examined so far involve the substitution of a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symbol</a:t>
            </a:r>
          </a:p>
          <a:p>
            <a:r>
              <a:rPr lang="en-US" sz="1200" kern="1200" baseline="0">
                <a:solidFill>
                  <a:schemeClr val="tx1"/>
                </a:solidFill>
                <a:latin typeface="Arial" charset="0"/>
                <a:ea typeface="ＭＳ Ｐゴシック" pitchFamily="-107" charset="-128"/>
                <a:cs typeface="ＭＳ Ｐゴシック" pitchFamily="-107" charset="-128"/>
              </a:rPr>
              <a:t>for a plaintext symbol. A very different kind of mapping is achieved by performing</a:t>
            </a:r>
          </a:p>
          <a:p>
            <a:r>
              <a:rPr lang="en-US" sz="1200" kern="1200" baseline="0">
                <a:solidFill>
                  <a:schemeClr val="tx1"/>
                </a:solidFill>
                <a:latin typeface="Arial" charset="0"/>
                <a:ea typeface="ＭＳ Ｐゴシック" pitchFamily="-107" charset="-128"/>
                <a:cs typeface="ＭＳ Ｐゴシック" pitchFamily="-107" charset="-128"/>
              </a:rPr>
              <a:t>some sort of permutation on the plaintext letters. This technique is referred to as a</a:t>
            </a:r>
          </a:p>
          <a:p>
            <a:r>
              <a:rPr lang="en-US" sz="1200" b="1" kern="1200" baseline="0">
                <a:solidFill>
                  <a:schemeClr val="tx1"/>
                </a:solidFill>
                <a:latin typeface="Arial" charset="0"/>
                <a:ea typeface="ＭＳ Ｐゴシック" pitchFamily="-107" charset="-128"/>
                <a:cs typeface="ＭＳ Ｐゴシック" pitchFamily="-107" charset="-128"/>
              </a:rPr>
              <a:t>transposition</a:t>
            </a:r>
            <a:r>
              <a:rPr lang="en-US" sz="1200" kern="1200" baseline="0">
                <a:solidFill>
                  <a:schemeClr val="tx1"/>
                </a:solidFill>
                <a:latin typeface="Arial" charset="0"/>
                <a:ea typeface="ＭＳ Ｐゴシック" pitchFamily="-107" charset="-128"/>
                <a:cs typeface="ＭＳ Ｐゴシック" pitchFamily="-107" charset="-128"/>
              </a:rPr>
              <a:t> </a:t>
            </a:r>
            <a:r>
              <a:rPr lang="en-US" sz="1200" b="1" kern="1200" baseline="0">
                <a:solidFill>
                  <a:schemeClr val="tx1"/>
                </a:solidFill>
                <a:latin typeface="Arial" charset="0"/>
                <a:ea typeface="ＭＳ Ｐゴシック" pitchFamily="-107" charset="-128"/>
                <a:cs typeface="ＭＳ Ｐゴシック" pitchFamily="-107" charset="-128"/>
              </a:rPr>
              <a:t>cipher</a:t>
            </a:r>
            <a:r>
              <a:rPr lang="en-US" sz="1200" kern="1200" baseline="0">
                <a:solidFill>
                  <a:schemeClr val="tx1"/>
                </a:solidFill>
                <a:latin typeface="Arial" charset="0"/>
                <a:ea typeface="ＭＳ Ｐゴシック" pitchFamily="-107" charset="-128"/>
                <a:cs typeface="ＭＳ Ｐゴシック" pitchFamily="-107" charset="-128"/>
              </a:rPr>
              <a:t>.</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The simplest such cipher is the </a:t>
            </a:r>
            <a:r>
              <a:rPr lang="en-US" sz="1200" b="1" kern="1200" baseline="0">
                <a:solidFill>
                  <a:schemeClr val="tx1"/>
                </a:solidFill>
                <a:latin typeface="Arial" charset="0"/>
                <a:ea typeface="ＭＳ Ｐゴシック" pitchFamily="-107" charset="-128"/>
                <a:cs typeface="ＭＳ Ｐゴシック" pitchFamily="-107" charset="-128"/>
              </a:rPr>
              <a:t>rail</a:t>
            </a:r>
            <a:r>
              <a:rPr lang="en-US" sz="1200" kern="1200" baseline="0">
                <a:solidFill>
                  <a:schemeClr val="tx1"/>
                </a:solidFill>
                <a:latin typeface="Arial" charset="0"/>
                <a:ea typeface="ＭＳ Ｐゴシック" pitchFamily="-107" charset="-128"/>
                <a:cs typeface="ＭＳ Ｐゴシック" pitchFamily="-107" charset="-128"/>
              </a:rPr>
              <a:t> </a:t>
            </a:r>
            <a:r>
              <a:rPr lang="en-US" sz="1200" b="1" kern="1200" baseline="0">
                <a:solidFill>
                  <a:schemeClr val="tx1"/>
                </a:solidFill>
                <a:latin typeface="Arial" charset="0"/>
                <a:ea typeface="ＭＳ Ｐゴシック" pitchFamily="-107" charset="-128"/>
                <a:cs typeface="ＭＳ Ｐゴシック" pitchFamily="-107" charset="-128"/>
              </a:rPr>
              <a:t>fence</a:t>
            </a:r>
            <a:r>
              <a:rPr lang="en-US" sz="1200" kern="1200" baseline="0">
                <a:solidFill>
                  <a:schemeClr val="tx1"/>
                </a:solidFill>
                <a:latin typeface="Arial" charset="0"/>
                <a:ea typeface="ＭＳ Ｐゴシック" pitchFamily="-107" charset="-128"/>
                <a:cs typeface="ＭＳ Ｐゴシック" pitchFamily="-107" charset="-128"/>
              </a:rPr>
              <a:t>  technique, in which the plaintext is</a:t>
            </a:r>
          </a:p>
          <a:p>
            <a:r>
              <a:rPr lang="en-US" sz="1200" kern="1200" baseline="0">
                <a:solidFill>
                  <a:schemeClr val="tx1"/>
                </a:solidFill>
                <a:latin typeface="Arial" charset="0"/>
                <a:ea typeface="ＭＳ Ｐゴシック" pitchFamily="-107" charset="-128"/>
                <a:cs typeface="ＭＳ Ｐゴシック" pitchFamily="-107" charset="-128"/>
              </a:rPr>
              <a:t>written down as a sequence of diagonals and then read off as a sequence of rows.</a:t>
            </a:r>
          </a:p>
          <a:p>
            <a:r>
              <a:rPr lang="en-US" sz="1200" kern="1200" baseline="0">
                <a:solidFill>
                  <a:schemeClr val="tx1"/>
                </a:solidFill>
                <a:latin typeface="Arial" charset="0"/>
                <a:ea typeface="ＭＳ Ｐゴシック" pitchFamily="-107" charset="-128"/>
                <a:cs typeface="ＭＳ Ｐゴシック" pitchFamily="-107" charset="-128"/>
              </a:rPr>
              <a:t>For example, to encipher the message “meet me after the toga party” with a rail</a:t>
            </a:r>
          </a:p>
          <a:p>
            <a:r>
              <a:rPr lang="en-US" sz="1200" kern="1200" baseline="0">
                <a:solidFill>
                  <a:schemeClr val="tx1"/>
                </a:solidFill>
                <a:latin typeface="Arial" charset="0"/>
                <a:ea typeface="ＭＳ Ｐゴシック" pitchFamily="-107" charset="-128"/>
                <a:cs typeface="ＭＳ Ｐゴシック" pitchFamily="-107" charset="-128"/>
              </a:rPr>
              <a:t>fence of depth 2, we write the following:</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m e m a t r h t g p r y</a:t>
            </a:r>
          </a:p>
          <a:p>
            <a:r>
              <a:rPr lang="en-US" sz="1200" kern="1200" baseline="0">
                <a:solidFill>
                  <a:schemeClr val="tx1"/>
                </a:solidFill>
                <a:latin typeface="Arial" charset="0"/>
                <a:ea typeface="ＭＳ Ｐゴシック" pitchFamily="-107" charset="-128"/>
                <a:cs typeface="ＭＳ Ｐゴシック" pitchFamily="-107" charset="-128"/>
              </a:rPr>
              <a:t>e t e f e t e o a </a:t>
            </a:r>
            <a:r>
              <a:rPr lang="en-US" sz="1200" kern="1200" baseline="0" err="1">
                <a:solidFill>
                  <a:schemeClr val="tx1"/>
                </a:solidFill>
                <a:latin typeface="Arial" charset="0"/>
                <a:ea typeface="ＭＳ Ｐゴシック" pitchFamily="-107" charset="-128"/>
                <a:cs typeface="ＭＳ Ｐゴシック" pitchFamily="-107" charset="-128"/>
              </a:rPr>
              <a:t>a</a:t>
            </a:r>
            <a:r>
              <a:rPr lang="en-US" sz="1200" kern="1200" baseline="0">
                <a:solidFill>
                  <a:schemeClr val="tx1"/>
                </a:solidFill>
                <a:latin typeface="Arial" charset="0"/>
                <a:ea typeface="ＭＳ Ｐゴシック" pitchFamily="-107" charset="-128"/>
                <a:cs typeface="ＭＳ Ｐゴシック" pitchFamily="-107" charset="-128"/>
              </a:rPr>
              <a:t> t</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The encrypted message is</a:t>
            </a:r>
          </a:p>
          <a:p>
            <a:r>
              <a:rPr lang="en-US" sz="1200" kern="1200" baseline="0">
                <a:solidFill>
                  <a:schemeClr val="tx1"/>
                </a:solidFill>
                <a:latin typeface="Arial" charset="0"/>
                <a:ea typeface="ＭＳ Ｐゴシック" pitchFamily="-107" charset="-128"/>
                <a:cs typeface="ＭＳ Ｐゴシック" pitchFamily="-107" charset="-128"/>
              </a:rPr>
              <a:t>MEMATRHTGPRYETEFETEOAAT</a:t>
            </a:r>
            <a:endParaRPr lang="en-AU">
              <a:latin typeface="Arial" pitchFamily="-1" charset="0"/>
              <a:ea typeface="Arial" pitchFamily="-1" charset="0"/>
              <a:cs typeface="Arial" pitchFamily="-1"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t>49</a:t>
            </a:fld>
            <a:endParaRPr lang="en-US"/>
          </a:p>
        </p:txBody>
      </p:sp>
    </p:spTree>
    <p:extLst>
      <p:ext uri="{BB962C8B-B14F-4D97-AF65-F5344CB8AC3E}">
        <p14:creationId xmlns:p14="http://schemas.microsoft.com/office/powerpoint/2010/main" val="20455748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All the techniques examined so far involve the substitution of a </a:t>
            </a:r>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symbol</a:t>
            </a:r>
          </a:p>
          <a:p>
            <a:r>
              <a:rPr lang="en-US" sz="1200" kern="1200" baseline="0">
                <a:solidFill>
                  <a:schemeClr val="tx1"/>
                </a:solidFill>
                <a:latin typeface="Arial" charset="0"/>
                <a:ea typeface="ＭＳ Ｐゴシック" pitchFamily="-107" charset="-128"/>
                <a:cs typeface="ＭＳ Ｐゴシック" pitchFamily="-107" charset="-128"/>
              </a:rPr>
              <a:t>for a plaintext symbol. A very different kind of mapping is achieved by performing</a:t>
            </a:r>
          </a:p>
          <a:p>
            <a:r>
              <a:rPr lang="en-US" sz="1200" kern="1200" baseline="0">
                <a:solidFill>
                  <a:schemeClr val="tx1"/>
                </a:solidFill>
                <a:latin typeface="Arial" charset="0"/>
                <a:ea typeface="ＭＳ Ｐゴシック" pitchFamily="-107" charset="-128"/>
                <a:cs typeface="ＭＳ Ｐゴシック" pitchFamily="-107" charset="-128"/>
              </a:rPr>
              <a:t>some sort of permutation on the plaintext letters. This technique is referred to as a</a:t>
            </a:r>
          </a:p>
          <a:p>
            <a:r>
              <a:rPr lang="en-US" sz="1200" b="1" kern="1200" baseline="0">
                <a:solidFill>
                  <a:schemeClr val="tx1"/>
                </a:solidFill>
                <a:latin typeface="Arial" charset="0"/>
                <a:ea typeface="ＭＳ Ｐゴシック" pitchFamily="-107" charset="-128"/>
                <a:cs typeface="ＭＳ Ｐゴシック" pitchFamily="-107" charset="-128"/>
              </a:rPr>
              <a:t>transposition</a:t>
            </a:r>
            <a:r>
              <a:rPr lang="en-US" sz="1200" kern="1200" baseline="0">
                <a:solidFill>
                  <a:schemeClr val="tx1"/>
                </a:solidFill>
                <a:latin typeface="Arial" charset="0"/>
                <a:ea typeface="ＭＳ Ｐゴシック" pitchFamily="-107" charset="-128"/>
                <a:cs typeface="ＭＳ Ｐゴシック" pitchFamily="-107" charset="-128"/>
              </a:rPr>
              <a:t> </a:t>
            </a:r>
            <a:r>
              <a:rPr lang="en-US" sz="1200" b="1" kern="1200" baseline="0">
                <a:solidFill>
                  <a:schemeClr val="tx1"/>
                </a:solidFill>
                <a:latin typeface="Arial" charset="0"/>
                <a:ea typeface="ＭＳ Ｐゴシック" pitchFamily="-107" charset="-128"/>
                <a:cs typeface="ＭＳ Ｐゴシック" pitchFamily="-107" charset="-128"/>
              </a:rPr>
              <a:t>cipher</a:t>
            </a:r>
            <a:r>
              <a:rPr lang="en-US" sz="1200" kern="1200" baseline="0">
                <a:solidFill>
                  <a:schemeClr val="tx1"/>
                </a:solidFill>
                <a:latin typeface="Arial" charset="0"/>
                <a:ea typeface="ＭＳ Ｐゴシック" pitchFamily="-107" charset="-128"/>
                <a:cs typeface="ＭＳ Ｐゴシック" pitchFamily="-107" charset="-128"/>
              </a:rPr>
              <a:t>.</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The simplest such cipher is the </a:t>
            </a:r>
            <a:r>
              <a:rPr lang="en-US" sz="1200" b="1" kern="1200" baseline="0">
                <a:solidFill>
                  <a:schemeClr val="tx1"/>
                </a:solidFill>
                <a:latin typeface="Arial" charset="0"/>
                <a:ea typeface="ＭＳ Ｐゴシック" pitchFamily="-107" charset="-128"/>
                <a:cs typeface="ＭＳ Ｐゴシック" pitchFamily="-107" charset="-128"/>
              </a:rPr>
              <a:t>rail</a:t>
            </a:r>
            <a:r>
              <a:rPr lang="en-US" sz="1200" kern="1200" baseline="0">
                <a:solidFill>
                  <a:schemeClr val="tx1"/>
                </a:solidFill>
                <a:latin typeface="Arial" charset="0"/>
                <a:ea typeface="ＭＳ Ｐゴシック" pitchFamily="-107" charset="-128"/>
                <a:cs typeface="ＭＳ Ｐゴシック" pitchFamily="-107" charset="-128"/>
              </a:rPr>
              <a:t> </a:t>
            </a:r>
            <a:r>
              <a:rPr lang="en-US" sz="1200" b="1" kern="1200" baseline="0">
                <a:solidFill>
                  <a:schemeClr val="tx1"/>
                </a:solidFill>
                <a:latin typeface="Arial" charset="0"/>
                <a:ea typeface="ＭＳ Ｐゴシック" pitchFamily="-107" charset="-128"/>
                <a:cs typeface="ＭＳ Ｐゴシック" pitchFamily="-107" charset="-128"/>
              </a:rPr>
              <a:t>fence</a:t>
            </a:r>
            <a:r>
              <a:rPr lang="en-US" sz="1200" kern="1200" baseline="0">
                <a:solidFill>
                  <a:schemeClr val="tx1"/>
                </a:solidFill>
                <a:latin typeface="Arial" charset="0"/>
                <a:ea typeface="ＭＳ Ｐゴシック" pitchFamily="-107" charset="-128"/>
                <a:cs typeface="ＭＳ Ｐゴシック" pitchFamily="-107" charset="-128"/>
              </a:rPr>
              <a:t>  technique, in which the plaintext is</a:t>
            </a:r>
          </a:p>
          <a:p>
            <a:r>
              <a:rPr lang="en-US" sz="1200" kern="1200" baseline="0">
                <a:solidFill>
                  <a:schemeClr val="tx1"/>
                </a:solidFill>
                <a:latin typeface="Arial" charset="0"/>
                <a:ea typeface="ＭＳ Ｐゴシック" pitchFamily="-107" charset="-128"/>
                <a:cs typeface="ＭＳ Ｐゴシック" pitchFamily="-107" charset="-128"/>
              </a:rPr>
              <a:t>written down as a sequence of diagonals and then read off as a sequence of rows.</a:t>
            </a:r>
          </a:p>
          <a:p>
            <a:r>
              <a:rPr lang="en-US" sz="1200" kern="1200" baseline="0">
                <a:solidFill>
                  <a:schemeClr val="tx1"/>
                </a:solidFill>
                <a:latin typeface="Arial" charset="0"/>
                <a:ea typeface="ＭＳ Ｐゴシック" pitchFamily="-107" charset="-128"/>
                <a:cs typeface="ＭＳ Ｐゴシック" pitchFamily="-107" charset="-128"/>
              </a:rPr>
              <a:t>For example, to encipher the message “meet me after the toga party” with a rail</a:t>
            </a:r>
          </a:p>
          <a:p>
            <a:r>
              <a:rPr lang="en-US" sz="1200" kern="1200" baseline="0">
                <a:solidFill>
                  <a:schemeClr val="tx1"/>
                </a:solidFill>
                <a:latin typeface="Arial" charset="0"/>
                <a:ea typeface="ＭＳ Ｐゴシック" pitchFamily="-107" charset="-128"/>
                <a:cs typeface="ＭＳ Ｐゴシック" pitchFamily="-107" charset="-128"/>
              </a:rPr>
              <a:t>fence of depth 2, we write the following:</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m e m a t r h t g p r y</a:t>
            </a:r>
          </a:p>
          <a:p>
            <a:r>
              <a:rPr lang="en-US" sz="1200" kern="1200" baseline="0">
                <a:solidFill>
                  <a:schemeClr val="tx1"/>
                </a:solidFill>
                <a:latin typeface="Arial" charset="0"/>
                <a:ea typeface="ＭＳ Ｐゴシック" pitchFamily="-107" charset="-128"/>
                <a:cs typeface="ＭＳ Ｐゴシック" pitchFamily="-107" charset="-128"/>
              </a:rPr>
              <a:t>e t e f e t e o a </a:t>
            </a:r>
            <a:r>
              <a:rPr lang="en-US" sz="1200" kern="1200" baseline="0" err="1">
                <a:solidFill>
                  <a:schemeClr val="tx1"/>
                </a:solidFill>
                <a:latin typeface="Arial" charset="0"/>
                <a:ea typeface="ＭＳ Ｐゴシック" pitchFamily="-107" charset="-128"/>
                <a:cs typeface="ＭＳ Ｐゴシック" pitchFamily="-107" charset="-128"/>
              </a:rPr>
              <a:t>a</a:t>
            </a:r>
            <a:r>
              <a:rPr lang="en-US" sz="1200" kern="1200" baseline="0">
                <a:solidFill>
                  <a:schemeClr val="tx1"/>
                </a:solidFill>
                <a:latin typeface="Arial" charset="0"/>
                <a:ea typeface="ＭＳ Ｐゴシック" pitchFamily="-107" charset="-128"/>
                <a:cs typeface="ＭＳ Ｐゴシック" pitchFamily="-107" charset="-128"/>
              </a:rPr>
              <a:t> t</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The encrypted message is</a:t>
            </a:r>
          </a:p>
          <a:p>
            <a:r>
              <a:rPr lang="en-US" sz="1200" kern="1200" baseline="0">
                <a:solidFill>
                  <a:schemeClr val="tx1"/>
                </a:solidFill>
                <a:latin typeface="Arial" charset="0"/>
                <a:ea typeface="ＭＳ Ｐゴシック" pitchFamily="-107" charset="-128"/>
                <a:cs typeface="ＭＳ Ｐゴシック" pitchFamily="-107" charset="-128"/>
              </a:rPr>
              <a:t>MEMATRHTGPRYETEFETEOAAT</a:t>
            </a:r>
            <a:endParaRPr lang="en-AU">
              <a:latin typeface="Arial" pitchFamily="-1" charset="0"/>
              <a:ea typeface="Arial" pitchFamily="-1" charset="0"/>
              <a:cs typeface="Arial" pitchFamily="-1"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t>50</a:t>
            </a:fld>
            <a:endParaRPr lang="en-US"/>
          </a:p>
        </p:txBody>
      </p:sp>
    </p:spTree>
    <p:extLst>
      <p:ext uri="{BB962C8B-B14F-4D97-AF65-F5344CB8AC3E}">
        <p14:creationId xmlns:p14="http://schemas.microsoft.com/office/powerpoint/2010/main" val="25705670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r>
              <a:rPr lang="en-US" sz="1200" kern="1200" baseline="0">
                <a:solidFill>
                  <a:schemeClr val="tx1"/>
                </a:solidFill>
                <a:latin typeface="Arial" charset="0"/>
                <a:ea typeface="ＭＳ Ｐゴシック" pitchFamily="-107" charset="-128"/>
                <a:cs typeface="ＭＳ Ｐゴシック" pitchFamily="-107" charset="-128"/>
              </a:rPr>
              <a:t> A more complex scheme is</a:t>
            </a:r>
          </a:p>
          <a:p>
            <a:r>
              <a:rPr lang="en-US" sz="1200" kern="1200" baseline="0">
                <a:solidFill>
                  <a:schemeClr val="tx1"/>
                </a:solidFill>
                <a:latin typeface="Arial" charset="0"/>
                <a:ea typeface="ＭＳ Ｐゴシック" pitchFamily="-107" charset="-128"/>
                <a:cs typeface="ＭＳ Ｐゴシック" pitchFamily="-107" charset="-128"/>
              </a:rPr>
              <a:t>to write the message in a rectangle, row by row, and read the message off, column</a:t>
            </a:r>
          </a:p>
          <a:p>
            <a:r>
              <a:rPr lang="en-US" sz="1200" kern="1200" baseline="0">
                <a:solidFill>
                  <a:schemeClr val="tx1"/>
                </a:solidFill>
                <a:latin typeface="Arial" charset="0"/>
                <a:ea typeface="ＭＳ Ｐゴシック" pitchFamily="-107" charset="-128"/>
                <a:cs typeface="ＭＳ Ｐゴシック" pitchFamily="-107" charset="-128"/>
              </a:rPr>
              <a:t>by column, but permute the order of the columns. The order of the columns then</a:t>
            </a:r>
          </a:p>
          <a:p>
            <a:r>
              <a:rPr lang="en-US" sz="1200" kern="1200" baseline="0">
                <a:solidFill>
                  <a:schemeClr val="tx1"/>
                </a:solidFill>
                <a:latin typeface="Arial" charset="0"/>
                <a:ea typeface="ＭＳ Ｐゴシック" pitchFamily="-107" charset="-128"/>
                <a:cs typeface="ＭＳ Ｐゴシック" pitchFamily="-107" charset="-128"/>
              </a:rPr>
              <a:t>becomes the key to the algorithm. For example,</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Key: 	4 3 1 2 5 6 7</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Plaintext: 	a t </a:t>
            </a:r>
            <a:r>
              <a:rPr lang="en-US" sz="1200" kern="1200" baseline="0" err="1">
                <a:solidFill>
                  <a:schemeClr val="tx1"/>
                </a:solidFill>
                <a:latin typeface="Arial" charset="0"/>
                <a:ea typeface="ＭＳ Ｐゴシック" pitchFamily="-107" charset="-128"/>
                <a:cs typeface="ＭＳ Ｐゴシック" pitchFamily="-107" charset="-128"/>
              </a:rPr>
              <a:t>t</a:t>
            </a:r>
            <a:r>
              <a:rPr lang="en-US" sz="1200" kern="1200" baseline="0">
                <a:solidFill>
                  <a:schemeClr val="tx1"/>
                </a:solidFill>
                <a:latin typeface="Arial" charset="0"/>
                <a:ea typeface="ＭＳ Ｐゴシック" pitchFamily="-107" charset="-128"/>
                <a:cs typeface="ＭＳ Ｐゴシック" pitchFamily="-107" charset="-128"/>
              </a:rPr>
              <a:t> a c k p</a:t>
            </a:r>
          </a:p>
          <a:p>
            <a:r>
              <a:rPr lang="en-US" sz="1200" kern="1200" baseline="0">
                <a:solidFill>
                  <a:schemeClr val="tx1"/>
                </a:solidFill>
                <a:latin typeface="Arial" charset="0"/>
                <a:ea typeface="ＭＳ Ｐゴシック" pitchFamily="-107" charset="-128"/>
                <a:cs typeface="ＭＳ Ｐゴシック" pitchFamily="-107" charset="-128"/>
              </a:rPr>
              <a:t>	o s t p o n e</a:t>
            </a:r>
          </a:p>
          <a:p>
            <a:r>
              <a:rPr lang="en-US" sz="1200" kern="1200" baseline="0">
                <a:solidFill>
                  <a:schemeClr val="tx1"/>
                </a:solidFill>
                <a:latin typeface="Arial" charset="0"/>
                <a:ea typeface="ＭＳ Ｐゴシック" pitchFamily="-107" charset="-128"/>
                <a:cs typeface="ＭＳ Ｐゴシック" pitchFamily="-107" charset="-128"/>
              </a:rPr>
              <a:t>	d u n t </a:t>
            </a:r>
            <a:r>
              <a:rPr lang="en-US" sz="1200" kern="1200" baseline="0" err="1">
                <a:solidFill>
                  <a:schemeClr val="tx1"/>
                </a:solidFill>
                <a:latin typeface="Arial" charset="0"/>
                <a:ea typeface="ＭＳ Ｐゴシック" pitchFamily="-107" charset="-128"/>
                <a:cs typeface="ＭＳ Ｐゴシック" pitchFamily="-107" charset="-128"/>
              </a:rPr>
              <a:t>i</a:t>
            </a:r>
            <a:r>
              <a:rPr lang="en-US" sz="1200" kern="1200" baseline="0">
                <a:solidFill>
                  <a:schemeClr val="tx1"/>
                </a:solidFill>
                <a:latin typeface="Arial" charset="0"/>
                <a:ea typeface="ＭＳ Ｐゴシック" pitchFamily="-107" charset="-128"/>
                <a:cs typeface="ＭＳ Ｐゴシック" pitchFamily="-107" charset="-128"/>
              </a:rPr>
              <a:t> l t</a:t>
            </a:r>
          </a:p>
          <a:p>
            <a:r>
              <a:rPr lang="en-US" sz="1200" kern="1200" baseline="0">
                <a:solidFill>
                  <a:schemeClr val="tx1"/>
                </a:solidFill>
                <a:latin typeface="Arial" charset="0"/>
                <a:ea typeface="ＭＳ Ｐゴシック" pitchFamily="-107" charset="-128"/>
                <a:cs typeface="ＭＳ Ｐゴシック" pitchFamily="-107" charset="-128"/>
              </a:rPr>
              <a:t>	w o a m x y z</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err="1">
                <a:solidFill>
                  <a:schemeClr val="tx1"/>
                </a:solidFill>
                <a:latin typeface="Arial" charset="0"/>
                <a:ea typeface="ＭＳ Ｐゴシック" pitchFamily="-107" charset="-128"/>
                <a:cs typeface="ＭＳ Ｐゴシック" pitchFamily="-107" charset="-128"/>
              </a:rPr>
              <a:t>Ciphertext</a:t>
            </a:r>
            <a:r>
              <a:rPr lang="en-US" sz="1200" kern="1200" baseline="0">
                <a:solidFill>
                  <a:schemeClr val="tx1"/>
                </a:solidFill>
                <a:latin typeface="Arial" charset="0"/>
                <a:ea typeface="ＭＳ Ｐゴシック" pitchFamily="-107" charset="-128"/>
                <a:cs typeface="ＭＳ Ｐゴシック" pitchFamily="-107" charset="-128"/>
              </a:rPr>
              <a:t>:	 TTNAAPTMTSUOAODWCOIXKNLYPETZ</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 Thus, in this example, the key is 4312567. To encrypt, start with the column</a:t>
            </a:r>
          </a:p>
          <a:p>
            <a:r>
              <a:rPr lang="en-US" sz="1200" kern="1200" baseline="0">
                <a:solidFill>
                  <a:schemeClr val="tx1"/>
                </a:solidFill>
                <a:latin typeface="Arial" charset="0"/>
                <a:ea typeface="ＭＳ Ｐゴシック" pitchFamily="-107" charset="-128"/>
                <a:cs typeface="ＭＳ Ｐゴシック" pitchFamily="-107" charset="-128"/>
              </a:rPr>
              <a:t>that is labeled 1, in this case column 3. Write down all the letters in that column.</a:t>
            </a:r>
          </a:p>
          <a:p>
            <a:r>
              <a:rPr lang="en-US" sz="1200" kern="1200" baseline="0">
                <a:solidFill>
                  <a:schemeClr val="tx1"/>
                </a:solidFill>
                <a:latin typeface="Arial" charset="0"/>
                <a:ea typeface="ＭＳ Ｐゴシック" pitchFamily="-107" charset="-128"/>
                <a:cs typeface="ＭＳ Ｐゴシック" pitchFamily="-107" charset="-128"/>
              </a:rPr>
              <a:t>Proceed to column 4, which is labeled 2, then column 2, then column 1, then</a:t>
            </a:r>
          </a:p>
          <a:p>
            <a:r>
              <a:rPr lang="en-US" sz="1200" kern="1200" baseline="0">
                <a:solidFill>
                  <a:schemeClr val="tx1"/>
                </a:solidFill>
                <a:latin typeface="Arial" charset="0"/>
                <a:ea typeface="ＭＳ Ｐゴシック" pitchFamily="-107" charset="-128"/>
                <a:cs typeface="ＭＳ Ｐゴシック" pitchFamily="-107" charset="-128"/>
              </a:rPr>
              <a:t>columns 5, 6, and 7.</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A pure transposition cipher is easily recognized because it has the same letter</a:t>
            </a:r>
          </a:p>
          <a:p>
            <a:r>
              <a:rPr lang="en-US" sz="1200" kern="1200" baseline="0">
                <a:solidFill>
                  <a:schemeClr val="tx1"/>
                </a:solidFill>
                <a:latin typeface="Arial" charset="0"/>
                <a:ea typeface="ＭＳ Ｐゴシック" pitchFamily="-107" charset="-128"/>
                <a:cs typeface="ＭＳ Ｐゴシック" pitchFamily="-107" charset="-128"/>
              </a:rPr>
              <a:t>frequencies as the original plaintext. For the type of columnar transposition just</a:t>
            </a:r>
          </a:p>
          <a:p>
            <a:r>
              <a:rPr lang="en-US" sz="1200" kern="1200" baseline="0">
                <a:solidFill>
                  <a:schemeClr val="tx1"/>
                </a:solidFill>
                <a:latin typeface="Arial" charset="0"/>
                <a:ea typeface="ＭＳ Ｐゴシック" pitchFamily="-107" charset="-128"/>
                <a:cs typeface="ＭＳ Ｐゴシック" pitchFamily="-107" charset="-128"/>
              </a:rPr>
              <a:t>shown, cryptanalysis is fairly straightforward and involves laying out the </a:t>
            </a:r>
            <a:r>
              <a:rPr lang="en-US" sz="1200" kern="1200" baseline="0" err="1">
                <a:solidFill>
                  <a:schemeClr val="tx1"/>
                </a:solidFill>
                <a:latin typeface="Arial" charset="0"/>
                <a:ea typeface="ＭＳ Ｐゴシック" pitchFamily="-107" charset="-128"/>
                <a:cs typeface="ＭＳ Ｐゴシック" pitchFamily="-107" charset="-128"/>
              </a:rPr>
              <a:t>ciphertext</a:t>
            </a:r>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in a matrix and playing around with column positions. </a:t>
            </a:r>
            <a:r>
              <a:rPr lang="en-US" sz="1200" kern="1200" baseline="0" err="1">
                <a:solidFill>
                  <a:schemeClr val="tx1"/>
                </a:solidFill>
                <a:latin typeface="Arial" charset="0"/>
                <a:ea typeface="ＭＳ Ｐゴシック" pitchFamily="-107" charset="-128"/>
                <a:cs typeface="ＭＳ Ｐゴシック" pitchFamily="-107" charset="-128"/>
              </a:rPr>
              <a:t>Digram</a:t>
            </a:r>
            <a:r>
              <a:rPr lang="en-US" sz="1200" kern="1200" baseline="0">
                <a:solidFill>
                  <a:schemeClr val="tx1"/>
                </a:solidFill>
                <a:latin typeface="Arial" charset="0"/>
                <a:ea typeface="ＭＳ Ｐゴシック" pitchFamily="-107" charset="-128"/>
                <a:cs typeface="ＭＳ Ｐゴシック" pitchFamily="-107" charset="-128"/>
              </a:rPr>
              <a:t> and trigram</a:t>
            </a:r>
          </a:p>
          <a:p>
            <a:r>
              <a:rPr lang="en-US" sz="1200" kern="1200" baseline="0">
                <a:solidFill>
                  <a:schemeClr val="tx1"/>
                </a:solidFill>
                <a:latin typeface="Arial" charset="0"/>
                <a:ea typeface="ＭＳ Ｐゴシック" pitchFamily="-107" charset="-128"/>
                <a:cs typeface="ＭＳ Ｐゴシック" pitchFamily="-107" charset="-128"/>
              </a:rPr>
              <a:t>frequency tables can be useful.</a:t>
            </a:r>
          </a:p>
          <a:p>
            <a:endParaRPr lang="en-US" sz="1200" kern="1200" baseline="0">
              <a:solidFill>
                <a:schemeClr val="tx1"/>
              </a:solidFill>
              <a:latin typeface="Arial" charset="0"/>
              <a:ea typeface="ＭＳ Ｐゴシック" pitchFamily="-107" charset="-128"/>
              <a:cs typeface="ＭＳ Ｐゴシック" pitchFamily="-107" charset="-128"/>
            </a:endParaRPr>
          </a:p>
          <a:p>
            <a:r>
              <a:rPr lang="en-US" sz="1200" kern="1200" baseline="0">
                <a:solidFill>
                  <a:schemeClr val="tx1"/>
                </a:solidFill>
                <a:latin typeface="Arial" charset="0"/>
                <a:ea typeface="ＭＳ Ｐゴシック" pitchFamily="-107" charset="-128"/>
                <a:cs typeface="ＭＳ Ｐゴシック" pitchFamily="-107" charset="-128"/>
              </a:rPr>
              <a:t>The transposition cipher can be made significantly more secure by performing</a:t>
            </a:r>
          </a:p>
          <a:p>
            <a:r>
              <a:rPr lang="en-US" sz="1200" kern="1200" baseline="0">
                <a:solidFill>
                  <a:schemeClr val="tx1"/>
                </a:solidFill>
                <a:latin typeface="Arial" charset="0"/>
                <a:ea typeface="ＭＳ Ｐゴシック" pitchFamily="-107" charset="-128"/>
                <a:cs typeface="ＭＳ Ｐゴシック" pitchFamily="-107" charset="-128"/>
              </a:rPr>
              <a:t>more than one stage of transposition. The result is a more complex permutation</a:t>
            </a:r>
          </a:p>
          <a:p>
            <a:r>
              <a:rPr lang="en-US" sz="1200" kern="1200" baseline="0">
                <a:solidFill>
                  <a:schemeClr val="tx1"/>
                </a:solidFill>
                <a:latin typeface="Arial" charset="0"/>
                <a:ea typeface="ＭＳ Ｐゴシック" pitchFamily="-107" charset="-128"/>
                <a:cs typeface="ＭＳ Ｐゴシック" pitchFamily="-107" charset="-128"/>
              </a:rPr>
              <a:t>that is not easily reconstructed.</a:t>
            </a:r>
            <a:endParaRPr lang="en-US">
              <a:latin typeface="Arial" pitchFamily="-1" charset="0"/>
              <a:ea typeface="Arial" pitchFamily="-1" charset="0"/>
              <a:cs typeface="Arial" pitchFamily="-1"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t>51</a:t>
            </a:fld>
            <a:endParaRPr lang="en-US"/>
          </a:p>
        </p:txBody>
      </p:sp>
    </p:spTree>
    <p:extLst>
      <p:ext uri="{BB962C8B-B14F-4D97-AF65-F5344CB8AC3E}">
        <p14:creationId xmlns:p14="http://schemas.microsoft.com/office/powerpoint/2010/main" val="3521938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70125" y="533400"/>
            <a:ext cx="4603750" cy="25908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atin typeface="Arial" pitchFamily="-1" charset="0"/>
                <a:ea typeface="ＭＳ Ｐゴシック" pitchFamily="-1" charset="-128"/>
                <a:cs typeface="ＭＳ Ｐゴシック" pitchFamily="-1" charset="-128"/>
              </a:rPr>
              <a:t>Chapter 3 summary.</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t>52</a:t>
            </a:fld>
            <a:endParaRPr lang="en-US"/>
          </a:p>
        </p:txBody>
      </p:sp>
    </p:spTree>
    <p:extLst>
      <p:ext uri="{BB962C8B-B14F-4D97-AF65-F5344CB8AC3E}">
        <p14:creationId xmlns:p14="http://schemas.microsoft.com/office/powerpoint/2010/main" val="3521938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3323065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9509" y="260574"/>
            <a:ext cx="9793088" cy="792163"/>
          </a:xfrm>
        </p:spPr>
        <p:txBody>
          <a:bodyPr/>
          <a:lstStyle>
            <a:lvl1pPr>
              <a:defRPr sz="4000"/>
            </a:lvl1p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955984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21364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79510" y="265297"/>
            <a:ext cx="9121013" cy="792163"/>
          </a:xfrm>
        </p:spPr>
        <p:txBody>
          <a:bodyPr/>
          <a:lstStyle>
            <a:lvl1pPr>
              <a:defRPr sz="4000"/>
            </a:lvl1pPr>
          </a:lstStyle>
          <a:p>
            <a:r>
              <a:rPr lang="en-US"/>
              <a:t>Click to edit Master title style</a:t>
            </a:r>
            <a:endParaRPr lang="en-GB"/>
          </a:p>
        </p:txBody>
      </p:sp>
      <p:sp>
        <p:nvSpPr>
          <p:cNvPr id="3" name="Content Placeholder 2"/>
          <p:cNvSpPr>
            <a:spLocks noGrp="1"/>
          </p:cNvSpPr>
          <p:nvPr>
            <p:ph sz="half" idx="1"/>
          </p:nvPr>
        </p:nvSpPr>
        <p:spPr>
          <a:xfrm>
            <a:off x="914400" y="1341439"/>
            <a:ext cx="50800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341439"/>
            <a:ext cx="50800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869105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83499" y="140494"/>
            <a:ext cx="8832981" cy="1143000"/>
          </a:xfrm>
        </p:spPr>
        <p:txBody>
          <a:bodyPr/>
          <a:lstStyle>
            <a:lvl1pPr>
              <a:defRPr sz="4000"/>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71448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9510" y="265113"/>
            <a:ext cx="8928039" cy="792163"/>
          </a:xfrm>
        </p:spPr>
        <p:txBody>
          <a:bodyPr/>
          <a:lstStyle>
            <a:lvl1pPr>
              <a:defRPr sz="4000"/>
            </a:lvl1pPr>
          </a:lstStyle>
          <a:p>
            <a:r>
              <a:rPr lang="en-US"/>
              <a:t>Click to edit Master title style</a:t>
            </a:r>
            <a:endParaRPr lang="en-GB"/>
          </a:p>
        </p:txBody>
      </p:sp>
    </p:spTree>
    <p:extLst>
      <p:ext uri="{BB962C8B-B14F-4D97-AF65-F5344CB8AC3E}">
        <p14:creationId xmlns:p14="http://schemas.microsoft.com/office/powerpoint/2010/main" val="1879110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965802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975300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815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775520" y="281885"/>
            <a:ext cx="9313035" cy="792163"/>
          </a:xfrm>
        </p:spPr>
        <p:txBody>
          <a:bodyPr/>
          <a:lstStyle>
            <a:lvl1pPr>
              <a:defRPr sz="4000"/>
            </a:lvl1p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94779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260351"/>
            <a:ext cx="2590800" cy="604837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914400" y="260351"/>
            <a:ext cx="7569200" cy="60483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469117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775520" y="260649"/>
            <a:ext cx="8928992" cy="792163"/>
          </a:xfrm>
        </p:spPr>
        <p:txBody>
          <a:bodyPr/>
          <a:lstStyle>
            <a:lvl1pPr>
              <a:defRPr sz="4000"/>
            </a:lvl1pPr>
          </a:lstStyle>
          <a:p>
            <a:r>
              <a:rPr lang="en-US"/>
              <a:t>Click to edit Master title style</a:t>
            </a:r>
            <a:endParaRPr lang="en-GB"/>
          </a:p>
        </p:txBody>
      </p:sp>
      <p:sp>
        <p:nvSpPr>
          <p:cNvPr id="3" name="Text Placeholder 2"/>
          <p:cNvSpPr>
            <a:spLocks noGrp="1"/>
          </p:cNvSpPr>
          <p:nvPr>
            <p:ph type="body" sz="half" idx="1"/>
          </p:nvPr>
        </p:nvSpPr>
        <p:spPr>
          <a:xfrm>
            <a:off x="914400" y="1341439"/>
            <a:ext cx="5080000" cy="49672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6197600" y="1341438"/>
            <a:ext cx="5080000" cy="2406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6197600" y="3900489"/>
            <a:ext cx="5080000" cy="2408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9721767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679510" y="253047"/>
            <a:ext cx="9002429" cy="799411"/>
          </a:xfrm>
        </p:spPr>
        <p:txBody>
          <a:bodyPr/>
          <a:lstStyle/>
          <a:p>
            <a:r>
              <a:rPr lang="en-US"/>
              <a:t>Click to edit Master title style</a:t>
            </a:r>
          </a:p>
        </p:txBody>
      </p:sp>
      <p:sp>
        <p:nvSpPr>
          <p:cNvPr id="3" name="Content Placeholder 2"/>
          <p:cNvSpPr>
            <a:spLocks noGrp="1"/>
          </p:cNvSpPr>
          <p:nvPr>
            <p:ph idx="1"/>
          </p:nvPr>
        </p:nvSpPr>
        <p:spPr>
          <a:xfrm>
            <a:off x="609600" y="1600201"/>
            <a:ext cx="109728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p:cNvSpPr>
            <a:spLocks noGrp="1"/>
          </p:cNvSpPr>
          <p:nvPr>
            <p:ph idx="13"/>
          </p:nvPr>
        </p:nvSpPr>
        <p:spPr>
          <a:xfrm>
            <a:off x="609600" y="3962401"/>
            <a:ext cx="109728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p:cNvSpPr>
            <a:spLocks noGrp="1"/>
          </p:cNvSpPr>
          <p:nvPr>
            <p:ph type="ftr" sz="quarter" idx="11"/>
          </p:nvPr>
        </p:nvSpPr>
        <p:spPr>
          <a:xfrm>
            <a:off x="101600" y="6172201"/>
            <a:ext cx="11460480" cy="235463"/>
          </a:xfrm>
        </p:spPr>
        <p:txBody>
          <a:bodyPr/>
          <a:lstStyle/>
          <a:p>
            <a:endParaRPr lang="en-US"/>
          </a:p>
        </p:txBody>
      </p:sp>
      <p:sp>
        <p:nvSpPr>
          <p:cNvPr id="4" name="Date Placeholder 3"/>
          <p:cNvSpPr>
            <a:spLocks noGrp="1"/>
          </p:cNvSpPr>
          <p:nvPr>
            <p:ph type="dt" sz="half" idx="10"/>
          </p:nvPr>
        </p:nvSpPr>
        <p:spPr/>
        <p:txBody>
          <a:bodyPr/>
          <a:lstStyle/>
          <a:p>
            <a:fld id="{A9DF6EFB-3F44-496C-A842-1E0B3D3B975A}" type="datetimeFigureOut">
              <a:rPr lang="en-US" smtClean="0"/>
              <a:t>3/1/2026</a:t>
            </a:fld>
            <a:endParaRPr lang="en-US"/>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a:p>
        </p:txBody>
      </p:sp>
    </p:spTree>
    <p:extLst>
      <p:ext uri="{BB962C8B-B14F-4D97-AF65-F5344CB8AC3E}">
        <p14:creationId xmlns:p14="http://schemas.microsoft.com/office/powerpoint/2010/main" val="21992238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3-Pictur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Click to edit Master title style</a:t>
            </a:r>
          </a:p>
        </p:txBody>
      </p:sp>
      <p:sp>
        <p:nvSpPr>
          <p:cNvPr id="9" name="Footer Placeholder 3"/>
          <p:cNvSpPr>
            <a:spLocks noGrp="1"/>
          </p:cNvSpPr>
          <p:nvPr>
            <p:ph type="ftr" sz="quarter" idx="11"/>
          </p:nvPr>
        </p:nvSpPr>
        <p:spPr>
          <a:xfrm>
            <a:off x="125292" y="6172201"/>
            <a:ext cx="11460480" cy="235463"/>
          </a:xfrm>
        </p:spPr>
        <p:txBody>
          <a:bodyPr/>
          <a:lstStyle/>
          <a:p>
            <a:endParaRPr lang="en-US"/>
          </a:p>
        </p:txBody>
      </p:sp>
      <p:sp>
        <p:nvSpPr>
          <p:cNvPr id="3" name="Date Placeholder 2"/>
          <p:cNvSpPr>
            <a:spLocks noGrp="1"/>
          </p:cNvSpPr>
          <p:nvPr>
            <p:ph type="dt" sz="half" idx="10"/>
          </p:nvPr>
        </p:nvSpPr>
        <p:spPr/>
        <p:txBody>
          <a:bodyPr/>
          <a:lstStyle/>
          <a:p>
            <a:fld id="{A9DF6EFB-3F44-496C-A842-1E0B3D3B975A}" type="datetimeFigureOut">
              <a:rPr lang="en-US" smtClean="0"/>
              <a:t>3/1/2026</a:t>
            </a:fld>
            <a:endParaRPr lang="en-US"/>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a:p>
        </p:txBody>
      </p:sp>
      <p:sp>
        <p:nvSpPr>
          <p:cNvPr id="4" name="Picture Placeholder 3"/>
          <p:cNvSpPr>
            <a:spLocks noGrp="1"/>
          </p:cNvSpPr>
          <p:nvPr>
            <p:ph type="pic" sz="quarter" idx="13"/>
          </p:nvPr>
        </p:nvSpPr>
        <p:spPr>
          <a:xfrm>
            <a:off x="609600" y="1600200"/>
            <a:ext cx="10972800" cy="1066800"/>
          </a:xfrm>
        </p:spPr>
        <p:txBody>
          <a:bodyPr/>
          <a:lstStyle/>
          <a:p>
            <a:endParaRPr lang="en-IN"/>
          </a:p>
        </p:txBody>
      </p:sp>
      <p:sp>
        <p:nvSpPr>
          <p:cNvPr id="8" name="Picture Placeholder 7"/>
          <p:cNvSpPr>
            <a:spLocks noGrp="1"/>
          </p:cNvSpPr>
          <p:nvPr>
            <p:ph type="pic" sz="quarter" idx="14"/>
          </p:nvPr>
        </p:nvSpPr>
        <p:spPr>
          <a:xfrm>
            <a:off x="609600" y="2895600"/>
            <a:ext cx="10972800" cy="1524000"/>
          </a:xfrm>
        </p:spPr>
        <p:txBody>
          <a:bodyPr/>
          <a:lstStyle/>
          <a:p>
            <a:endParaRPr lang="en-IN"/>
          </a:p>
        </p:txBody>
      </p:sp>
      <p:sp>
        <p:nvSpPr>
          <p:cNvPr id="11" name="Picture Placeholder 10"/>
          <p:cNvSpPr>
            <a:spLocks noGrp="1"/>
          </p:cNvSpPr>
          <p:nvPr>
            <p:ph type="pic" sz="quarter" idx="15"/>
          </p:nvPr>
        </p:nvSpPr>
        <p:spPr>
          <a:xfrm>
            <a:off x="609600" y="4724400"/>
            <a:ext cx="10972800" cy="914400"/>
          </a:xfrm>
        </p:spPr>
        <p:txBody>
          <a:bodyPr/>
          <a:lstStyle/>
          <a:p>
            <a:endParaRPr lang="en-IN"/>
          </a:p>
        </p:txBody>
      </p:sp>
    </p:spTree>
    <p:extLst>
      <p:ext uri="{BB962C8B-B14F-4D97-AF65-F5344CB8AC3E}">
        <p14:creationId xmlns:p14="http://schemas.microsoft.com/office/powerpoint/2010/main" val="27899157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3-content 1 picture">
    <p:spTree>
      <p:nvGrpSpPr>
        <p:cNvPr id="1" name=""/>
        <p:cNvGrpSpPr/>
        <p:nvPr/>
      </p:nvGrpSpPr>
      <p:grpSpPr>
        <a:xfrm>
          <a:off x="0" y="0"/>
          <a:ext cx="0" cy="0"/>
          <a:chOff x="0" y="0"/>
          <a:chExt cx="0" cy="0"/>
        </a:xfrm>
      </p:grpSpPr>
      <p:sp>
        <p:nvSpPr>
          <p:cNvPr id="8" name="Title 7"/>
          <p:cNvSpPr>
            <a:spLocks noGrp="1"/>
          </p:cNvSpPr>
          <p:nvPr>
            <p:ph type="title"/>
          </p:nvPr>
        </p:nvSpPr>
        <p:spPr>
          <a:xfrm>
            <a:off x="1679510" y="253047"/>
            <a:ext cx="9002429" cy="799411"/>
          </a:xfrm>
        </p:spPr>
        <p:txBody>
          <a:bodyPr/>
          <a:lstStyle/>
          <a:p>
            <a:r>
              <a:rPr lang="en-US"/>
              <a:t>Click to edit Master title style</a:t>
            </a:r>
          </a:p>
        </p:txBody>
      </p:sp>
      <p:sp>
        <p:nvSpPr>
          <p:cNvPr id="3" name="Content Placeholder 2"/>
          <p:cNvSpPr>
            <a:spLocks noGrp="1"/>
          </p:cNvSpPr>
          <p:nvPr>
            <p:ph idx="1"/>
          </p:nvPr>
        </p:nvSpPr>
        <p:spPr>
          <a:xfrm>
            <a:off x="609600" y="1600201"/>
            <a:ext cx="10972800" cy="7620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p:cNvSpPr>
            <a:spLocks noGrp="1"/>
          </p:cNvSpPr>
          <p:nvPr>
            <p:ph idx="13"/>
          </p:nvPr>
        </p:nvSpPr>
        <p:spPr>
          <a:xfrm>
            <a:off x="609600" y="3962401"/>
            <a:ext cx="10972800" cy="12954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p:cNvSpPr>
            <a:spLocks noGrp="1"/>
          </p:cNvSpPr>
          <p:nvPr>
            <p:ph type="ftr" sz="quarter" idx="11"/>
          </p:nvPr>
        </p:nvSpPr>
        <p:spPr>
          <a:xfrm>
            <a:off x="125292" y="6172201"/>
            <a:ext cx="11460480" cy="235463"/>
          </a:xfrm>
        </p:spPr>
        <p:txBody>
          <a:bodyPr/>
          <a:lstStyle/>
          <a:p>
            <a:endParaRPr lang="en-US"/>
          </a:p>
        </p:txBody>
      </p:sp>
      <p:sp>
        <p:nvSpPr>
          <p:cNvPr id="4" name="Date Placeholder 3"/>
          <p:cNvSpPr>
            <a:spLocks noGrp="1"/>
          </p:cNvSpPr>
          <p:nvPr>
            <p:ph type="dt" sz="half" idx="10"/>
          </p:nvPr>
        </p:nvSpPr>
        <p:spPr/>
        <p:txBody>
          <a:bodyPr/>
          <a:lstStyle/>
          <a:p>
            <a:fld id="{A9DF6EFB-3F44-496C-A842-1E0B3D3B975A}" type="datetimeFigureOut">
              <a:rPr lang="en-US" smtClean="0"/>
              <a:t>3/1/2026</a:t>
            </a:fld>
            <a:endParaRPr lang="en-US"/>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a:p>
        </p:txBody>
      </p:sp>
      <p:sp>
        <p:nvSpPr>
          <p:cNvPr id="9" name="Content Placeholder 2"/>
          <p:cNvSpPr>
            <a:spLocks noGrp="1"/>
          </p:cNvSpPr>
          <p:nvPr>
            <p:ph idx="14"/>
          </p:nvPr>
        </p:nvSpPr>
        <p:spPr>
          <a:xfrm>
            <a:off x="812800" y="5562601"/>
            <a:ext cx="10972800" cy="7159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4"/>
          <p:cNvSpPr>
            <a:spLocks noGrp="1"/>
          </p:cNvSpPr>
          <p:nvPr>
            <p:ph type="pic" sz="quarter" idx="15"/>
          </p:nvPr>
        </p:nvSpPr>
        <p:spPr>
          <a:xfrm>
            <a:off x="609600" y="2895600"/>
            <a:ext cx="10972800" cy="685800"/>
          </a:xfrm>
        </p:spPr>
        <p:txBody>
          <a:bodyPr/>
          <a:lstStyle/>
          <a:p>
            <a:endParaRPr lang="en-IN"/>
          </a:p>
        </p:txBody>
      </p:sp>
    </p:spTree>
    <p:extLst>
      <p:ext uri="{BB962C8B-B14F-4D97-AF65-F5344CB8AC3E}">
        <p14:creationId xmlns:p14="http://schemas.microsoft.com/office/powerpoint/2010/main" val="17681053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Title and 1 content 3-Picture">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Click to edit Master title style</a:t>
            </a:r>
          </a:p>
        </p:txBody>
      </p:sp>
      <p:sp>
        <p:nvSpPr>
          <p:cNvPr id="9" name="Footer Placeholder 3"/>
          <p:cNvSpPr>
            <a:spLocks noGrp="1"/>
          </p:cNvSpPr>
          <p:nvPr>
            <p:ph type="ftr" sz="quarter" idx="11"/>
          </p:nvPr>
        </p:nvSpPr>
        <p:spPr>
          <a:xfrm>
            <a:off x="125292" y="6172201"/>
            <a:ext cx="11460480" cy="235463"/>
          </a:xfrm>
        </p:spPr>
        <p:txBody>
          <a:bodyPr/>
          <a:lstStyle/>
          <a:p>
            <a:endParaRPr lang="en-US"/>
          </a:p>
        </p:txBody>
      </p:sp>
      <p:sp>
        <p:nvSpPr>
          <p:cNvPr id="3" name="Date Placeholder 2"/>
          <p:cNvSpPr>
            <a:spLocks noGrp="1"/>
          </p:cNvSpPr>
          <p:nvPr>
            <p:ph type="dt" sz="half" idx="10"/>
          </p:nvPr>
        </p:nvSpPr>
        <p:spPr/>
        <p:txBody>
          <a:bodyPr/>
          <a:lstStyle/>
          <a:p>
            <a:endParaRPr lang="en-US"/>
          </a:p>
        </p:txBody>
      </p:sp>
      <p:sp>
        <p:nvSpPr>
          <p:cNvPr id="5" name="Slide Number Placeholder 4"/>
          <p:cNvSpPr>
            <a:spLocks noGrp="1"/>
          </p:cNvSpPr>
          <p:nvPr>
            <p:ph type="sldNum" sz="quarter" idx="12"/>
          </p:nvPr>
        </p:nvSpPr>
        <p:spPr/>
        <p:txBody>
          <a:bodyPr/>
          <a:lstStyle/>
          <a:p>
            <a:fld id="{200B2350-5261-4F5C-9DF5-EF0D264FC8D2}" type="slidenum">
              <a:rPr lang="en-US" smtClean="0"/>
              <a:t>‹#›</a:t>
            </a:fld>
            <a:endParaRPr lang="en-US"/>
          </a:p>
        </p:txBody>
      </p:sp>
      <p:sp>
        <p:nvSpPr>
          <p:cNvPr id="4" name="Picture Placeholder 3"/>
          <p:cNvSpPr>
            <a:spLocks noGrp="1"/>
          </p:cNvSpPr>
          <p:nvPr>
            <p:ph type="pic" sz="quarter" idx="13"/>
          </p:nvPr>
        </p:nvSpPr>
        <p:spPr>
          <a:xfrm>
            <a:off x="609600" y="2590800"/>
            <a:ext cx="10972800" cy="1066800"/>
          </a:xfrm>
        </p:spPr>
        <p:txBody>
          <a:bodyPr/>
          <a:lstStyle/>
          <a:p>
            <a:endParaRPr lang="en-IN"/>
          </a:p>
        </p:txBody>
      </p:sp>
      <p:sp>
        <p:nvSpPr>
          <p:cNvPr id="8" name="Picture Placeholder 7"/>
          <p:cNvSpPr>
            <a:spLocks noGrp="1"/>
          </p:cNvSpPr>
          <p:nvPr>
            <p:ph type="pic" sz="quarter" idx="14"/>
          </p:nvPr>
        </p:nvSpPr>
        <p:spPr>
          <a:xfrm>
            <a:off x="609600" y="3657600"/>
            <a:ext cx="10972800" cy="609600"/>
          </a:xfrm>
        </p:spPr>
        <p:txBody>
          <a:bodyPr/>
          <a:lstStyle/>
          <a:p>
            <a:endParaRPr lang="en-IN"/>
          </a:p>
        </p:txBody>
      </p:sp>
      <p:sp>
        <p:nvSpPr>
          <p:cNvPr id="11" name="Picture Placeholder 10"/>
          <p:cNvSpPr>
            <a:spLocks noGrp="1"/>
          </p:cNvSpPr>
          <p:nvPr>
            <p:ph type="pic" sz="quarter" idx="15"/>
          </p:nvPr>
        </p:nvSpPr>
        <p:spPr>
          <a:xfrm>
            <a:off x="609600" y="4343400"/>
            <a:ext cx="10972800" cy="457200"/>
          </a:xfrm>
        </p:spPr>
        <p:txBody>
          <a:bodyPr/>
          <a:lstStyle/>
          <a:p>
            <a:endParaRPr lang="en-IN"/>
          </a:p>
        </p:txBody>
      </p:sp>
      <p:sp>
        <p:nvSpPr>
          <p:cNvPr id="6" name="Content Placeholder 5"/>
          <p:cNvSpPr>
            <a:spLocks noGrp="1"/>
          </p:cNvSpPr>
          <p:nvPr>
            <p:ph sz="quarter" idx="16"/>
          </p:nvPr>
        </p:nvSpPr>
        <p:spPr>
          <a:xfrm>
            <a:off x="631568" y="1447800"/>
            <a:ext cx="109728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 name="Picture Placeholder 9"/>
          <p:cNvSpPr>
            <a:spLocks noGrp="1"/>
          </p:cNvSpPr>
          <p:nvPr>
            <p:ph type="pic" sz="quarter" idx="17"/>
          </p:nvPr>
        </p:nvSpPr>
        <p:spPr>
          <a:xfrm>
            <a:off x="609600" y="5638800"/>
            <a:ext cx="10972800" cy="457200"/>
          </a:xfrm>
        </p:spPr>
        <p:txBody>
          <a:bodyPr/>
          <a:lstStyle/>
          <a:p>
            <a:endParaRPr lang="en-IN"/>
          </a:p>
        </p:txBody>
      </p:sp>
      <p:sp>
        <p:nvSpPr>
          <p:cNvPr id="13" name="Picture Placeholder 12"/>
          <p:cNvSpPr>
            <a:spLocks noGrp="1"/>
          </p:cNvSpPr>
          <p:nvPr>
            <p:ph type="pic" sz="quarter" idx="18"/>
          </p:nvPr>
        </p:nvSpPr>
        <p:spPr>
          <a:xfrm>
            <a:off x="617837" y="4953000"/>
            <a:ext cx="10964563" cy="609600"/>
          </a:xfrm>
        </p:spPr>
        <p:txBody>
          <a:bodyPr/>
          <a:lstStyle/>
          <a:p>
            <a:endParaRPr lang="en-IN"/>
          </a:p>
        </p:txBody>
      </p:sp>
    </p:spTree>
    <p:extLst>
      <p:ext uri="{BB962C8B-B14F-4D97-AF65-F5344CB8AC3E}">
        <p14:creationId xmlns:p14="http://schemas.microsoft.com/office/powerpoint/2010/main" val="32770551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and Two Content 1 picture">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600201"/>
            <a:ext cx="10972800" cy="1066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p:cNvSpPr>
            <a:spLocks noGrp="1"/>
          </p:cNvSpPr>
          <p:nvPr>
            <p:ph idx="13"/>
          </p:nvPr>
        </p:nvSpPr>
        <p:spPr>
          <a:xfrm>
            <a:off x="609600" y="4724401"/>
            <a:ext cx="10972800" cy="1401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p:cNvSpPr>
            <a:spLocks noGrp="1"/>
          </p:cNvSpPr>
          <p:nvPr>
            <p:ph type="ftr" sz="quarter" idx="11"/>
          </p:nvPr>
        </p:nvSpPr>
        <p:spPr>
          <a:xfrm>
            <a:off x="101600" y="6172201"/>
            <a:ext cx="11460480" cy="235463"/>
          </a:xfrm>
        </p:spPr>
        <p:txBody>
          <a:bodyPr/>
          <a:lstStyle/>
          <a:p>
            <a:endParaRPr lang="en-US"/>
          </a:p>
        </p:txBody>
      </p:sp>
      <p:sp>
        <p:nvSpPr>
          <p:cNvPr id="4" name="Date Placeholder 3"/>
          <p:cNvSpPr>
            <a:spLocks noGrp="1"/>
          </p:cNvSpPr>
          <p:nvPr>
            <p:ph type="dt" sz="half" idx="10"/>
          </p:nvPr>
        </p:nvSpPr>
        <p:spPr/>
        <p:txBody>
          <a:bodyPr/>
          <a:lstStyle/>
          <a:p>
            <a:endParaRPr lang="en-US"/>
          </a:p>
        </p:txBody>
      </p:sp>
      <p:sp>
        <p:nvSpPr>
          <p:cNvPr id="6" name="Slide Number Placeholder 5"/>
          <p:cNvSpPr>
            <a:spLocks noGrp="1"/>
          </p:cNvSpPr>
          <p:nvPr>
            <p:ph type="sldNum" sz="quarter" idx="12"/>
          </p:nvPr>
        </p:nvSpPr>
        <p:spPr/>
        <p:txBody>
          <a:bodyPr/>
          <a:lstStyle/>
          <a:p>
            <a:fld id="{200B2350-5261-4F5C-9DF5-EF0D264FC8D2}" type="slidenum">
              <a:rPr lang="en-US" smtClean="0"/>
              <a:t>‹#›</a:t>
            </a:fld>
            <a:endParaRPr lang="en-US"/>
          </a:p>
        </p:txBody>
      </p:sp>
      <p:sp>
        <p:nvSpPr>
          <p:cNvPr id="5" name="Picture Placeholder 4"/>
          <p:cNvSpPr>
            <a:spLocks noGrp="1"/>
          </p:cNvSpPr>
          <p:nvPr>
            <p:ph type="pic" sz="quarter" idx="14"/>
          </p:nvPr>
        </p:nvSpPr>
        <p:spPr>
          <a:xfrm>
            <a:off x="609600" y="3276600"/>
            <a:ext cx="10972800" cy="1143000"/>
          </a:xfrm>
        </p:spPr>
        <p:txBody>
          <a:bodyPr/>
          <a:lstStyle/>
          <a:p>
            <a:endParaRPr lang="en-IN"/>
          </a:p>
        </p:txBody>
      </p:sp>
    </p:spTree>
    <p:extLst>
      <p:ext uri="{BB962C8B-B14F-4D97-AF65-F5344CB8AC3E}">
        <p14:creationId xmlns:p14="http://schemas.microsoft.com/office/powerpoint/2010/main" val="112458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835A416-0BA9-4264-8A01-EEB3FFAC9EE0}"/>
              </a:ext>
            </a:extLst>
          </p:cNvPr>
          <p:cNvSpPr>
            <a:spLocks noGrp="1" noChangeArrowheads="1"/>
          </p:cNvSpPr>
          <p:nvPr>
            <p:ph type="title"/>
          </p:nvPr>
        </p:nvSpPr>
        <p:spPr bwMode="auto">
          <a:xfrm>
            <a:off x="1239813" y="70454"/>
            <a:ext cx="8860927" cy="783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ctr" anchorCtr="0" compatLnSpc="1">
            <a:prstTxWarp prst="textNoShape">
              <a:avLst/>
            </a:prstTxWarp>
          </a:bodyPr>
          <a:lstStyle/>
          <a:p>
            <a:pPr lvl="0"/>
            <a:r>
              <a:rPr lang="de-DE" altLang="en-US"/>
              <a:t>Click to edit Master title style</a:t>
            </a:r>
          </a:p>
        </p:txBody>
      </p:sp>
      <p:sp>
        <p:nvSpPr>
          <p:cNvPr id="1027" name="Rectangle 3">
            <a:extLst>
              <a:ext uri="{FF2B5EF4-FFF2-40B4-BE49-F238E27FC236}">
                <a16:creationId xmlns:a16="http://schemas.microsoft.com/office/drawing/2014/main" id="{0B2CA537-2676-4E51-AAC8-F0C3E5F1A56F}"/>
              </a:ext>
            </a:extLst>
          </p:cNvPr>
          <p:cNvSpPr>
            <a:spLocks noGrp="1" noChangeArrowheads="1"/>
          </p:cNvSpPr>
          <p:nvPr>
            <p:ph type="body" idx="1"/>
          </p:nvPr>
        </p:nvSpPr>
        <p:spPr bwMode="auto">
          <a:xfrm>
            <a:off x="431800" y="980728"/>
            <a:ext cx="10776768" cy="5258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t" anchorCtr="0" compatLnSpc="1">
            <a:prstTxWarp prst="textNoShape">
              <a:avLst/>
            </a:prstTxWarp>
          </a:bodyPr>
          <a:lstStyle/>
          <a:p>
            <a:pPr lvl="0"/>
            <a:r>
              <a:rPr lang="de-DE" altLang="en-US"/>
              <a:t>Click to edit Master text styles</a:t>
            </a:r>
          </a:p>
          <a:p>
            <a:pPr lvl="1"/>
            <a:r>
              <a:rPr lang="de-DE" altLang="en-US"/>
              <a:t>Second level</a:t>
            </a:r>
          </a:p>
          <a:p>
            <a:pPr lvl="2"/>
            <a:r>
              <a:rPr lang="de-DE" altLang="en-US"/>
              <a:t>Third level</a:t>
            </a:r>
          </a:p>
          <a:p>
            <a:pPr lvl="3"/>
            <a:r>
              <a:rPr lang="de-DE" altLang="en-US"/>
              <a:t>Fourth level</a:t>
            </a:r>
          </a:p>
          <a:p>
            <a:pPr lvl="4"/>
            <a:r>
              <a:rPr lang="de-DE" altLang="en-US"/>
              <a:t>Fifth level</a:t>
            </a:r>
          </a:p>
        </p:txBody>
      </p:sp>
      <p:sp>
        <p:nvSpPr>
          <p:cNvPr id="1028" name="Line 4">
            <a:extLst>
              <a:ext uri="{FF2B5EF4-FFF2-40B4-BE49-F238E27FC236}">
                <a16:creationId xmlns:a16="http://schemas.microsoft.com/office/drawing/2014/main" id="{411683D1-7B74-4FD6-AA23-0A865C918354}"/>
              </a:ext>
            </a:extLst>
          </p:cNvPr>
          <p:cNvSpPr>
            <a:spLocks noChangeShapeType="1"/>
          </p:cNvSpPr>
          <p:nvPr userDrawn="1"/>
        </p:nvSpPr>
        <p:spPr bwMode="auto">
          <a:xfrm>
            <a:off x="431800" y="869864"/>
            <a:ext cx="11155680" cy="0"/>
          </a:xfrm>
          <a:prstGeom prst="line">
            <a:avLst/>
          </a:prstGeom>
          <a:ln w="28575">
            <a:headEnd/>
            <a:tailEnd/>
          </a:ln>
          <a:extLst>
            <a:ext uri="{909E8E84-426E-40DD-AFC4-6F175D3DCCD1}">
              <a14:hiddenFill xmlns:a14="http://schemas.microsoft.com/office/drawing/2010/main">
                <a:noFill/>
              </a14:hiddenFill>
            </a:ext>
          </a:extLst>
        </p:spPr>
        <p:style>
          <a:lnRef idx="1">
            <a:schemeClr val="accent2"/>
          </a:lnRef>
          <a:fillRef idx="0">
            <a:schemeClr val="accent2"/>
          </a:fillRef>
          <a:effectRef idx="0">
            <a:schemeClr val="accent2"/>
          </a:effectRef>
          <a:fontRef idx="minor">
            <a:schemeClr val="tx1"/>
          </a:fontRef>
        </p:style>
        <p:txBody>
          <a:bodyPr wrap="none" anchor="ctr"/>
          <a:lstStyle/>
          <a:p>
            <a:endParaRPr lang="en-US" sz="2800"/>
          </a:p>
        </p:txBody>
      </p:sp>
      <p:sp>
        <p:nvSpPr>
          <p:cNvPr id="345093" name="Text Box 5">
            <a:extLst>
              <a:ext uri="{FF2B5EF4-FFF2-40B4-BE49-F238E27FC236}">
                <a16:creationId xmlns:a16="http://schemas.microsoft.com/office/drawing/2014/main" id="{BB2D38F9-5A3D-4000-83B0-1B26F0433CDD}"/>
              </a:ext>
            </a:extLst>
          </p:cNvPr>
          <p:cNvSpPr txBox="1">
            <a:spLocks noChangeArrowheads="1"/>
          </p:cNvSpPr>
          <p:nvPr userDrawn="1"/>
        </p:nvSpPr>
        <p:spPr bwMode="auto">
          <a:xfrm>
            <a:off x="8976785" y="6508750"/>
            <a:ext cx="2688167" cy="336550"/>
          </a:xfrm>
          <a:prstGeom prst="rect">
            <a:avLst/>
          </a:prstGeom>
          <a:noFill/>
          <a:ln w="9525">
            <a:noFill/>
            <a:miter lim="800000"/>
            <a:headEnd/>
            <a:tailEnd/>
          </a:ln>
          <a:effectLst/>
        </p:spPr>
        <p:txBody>
          <a:bodyPr>
            <a:spAutoFit/>
          </a:bodyPr>
          <a:lstStyle>
            <a:lvl1pPr>
              <a:defRPr sz="2800">
                <a:solidFill>
                  <a:schemeClr val="tx1"/>
                </a:solidFill>
                <a:latin typeface="Times" panose="02020603050405020304" pitchFamily="18" charset="0"/>
              </a:defRPr>
            </a:lvl1pPr>
            <a:lvl2pPr marL="742950" indent="-285750">
              <a:defRPr sz="2800">
                <a:solidFill>
                  <a:schemeClr val="tx1"/>
                </a:solidFill>
                <a:latin typeface="Times" panose="02020603050405020304" pitchFamily="18" charset="0"/>
              </a:defRPr>
            </a:lvl2pPr>
            <a:lvl3pPr marL="1143000" indent="-228600">
              <a:defRPr sz="2800">
                <a:solidFill>
                  <a:schemeClr val="tx1"/>
                </a:solidFill>
                <a:latin typeface="Times" panose="02020603050405020304" pitchFamily="18" charset="0"/>
              </a:defRPr>
            </a:lvl3pPr>
            <a:lvl4pPr marL="1600200" indent="-228600">
              <a:defRPr sz="2800">
                <a:solidFill>
                  <a:schemeClr val="tx1"/>
                </a:solidFill>
                <a:latin typeface="Times" panose="02020603050405020304" pitchFamily="18" charset="0"/>
              </a:defRPr>
            </a:lvl4pPr>
            <a:lvl5pPr marL="2057400" indent="-228600">
              <a:defRPr sz="2800">
                <a:solidFill>
                  <a:schemeClr val="tx1"/>
                </a:solidFill>
                <a:latin typeface="Times" panose="02020603050405020304" pitchFamily="18" charset="0"/>
              </a:defRPr>
            </a:lvl5pPr>
            <a:lvl6pPr marL="2514600" indent="-228600" eaLnBrk="0" fontAlgn="base" hangingPunct="0">
              <a:spcBef>
                <a:spcPct val="0"/>
              </a:spcBef>
              <a:spcAft>
                <a:spcPct val="0"/>
              </a:spcAft>
              <a:defRPr sz="2800">
                <a:solidFill>
                  <a:schemeClr val="tx1"/>
                </a:solidFill>
                <a:latin typeface="Times" panose="02020603050405020304" pitchFamily="18" charset="0"/>
              </a:defRPr>
            </a:lvl6pPr>
            <a:lvl7pPr marL="2971800" indent="-228600" eaLnBrk="0" fontAlgn="base" hangingPunct="0">
              <a:spcBef>
                <a:spcPct val="0"/>
              </a:spcBef>
              <a:spcAft>
                <a:spcPct val="0"/>
              </a:spcAft>
              <a:defRPr sz="2800">
                <a:solidFill>
                  <a:schemeClr val="tx1"/>
                </a:solidFill>
                <a:latin typeface="Times" panose="02020603050405020304" pitchFamily="18" charset="0"/>
              </a:defRPr>
            </a:lvl7pPr>
            <a:lvl8pPr marL="3429000" indent="-228600" eaLnBrk="0" fontAlgn="base" hangingPunct="0">
              <a:spcBef>
                <a:spcPct val="0"/>
              </a:spcBef>
              <a:spcAft>
                <a:spcPct val="0"/>
              </a:spcAft>
              <a:defRPr sz="2800">
                <a:solidFill>
                  <a:schemeClr val="tx1"/>
                </a:solidFill>
                <a:latin typeface="Times" panose="02020603050405020304" pitchFamily="18" charset="0"/>
              </a:defRPr>
            </a:lvl8pPr>
            <a:lvl9pPr marL="3886200" indent="-228600" eaLnBrk="0" fontAlgn="base" hangingPunct="0">
              <a:spcBef>
                <a:spcPct val="0"/>
              </a:spcBef>
              <a:spcAft>
                <a:spcPct val="0"/>
              </a:spcAft>
              <a:defRPr sz="2800">
                <a:solidFill>
                  <a:schemeClr val="tx1"/>
                </a:solidFill>
                <a:latin typeface="Times" panose="02020603050405020304" pitchFamily="18" charset="0"/>
              </a:defRPr>
            </a:lvl9pPr>
          </a:lstStyle>
          <a:p>
            <a:pPr algn="r">
              <a:defRPr/>
            </a:pPr>
            <a:r>
              <a:rPr lang="en-US" altLang="en-US" sz="1600">
                <a:latin typeface="Arial" panose="020B0604020202020204" pitchFamily="34" charset="0"/>
              </a:rPr>
              <a:t>Week</a:t>
            </a:r>
            <a:r>
              <a:rPr lang="en-GB" altLang="en-US" sz="1600">
                <a:latin typeface="Arial" panose="020B0604020202020204" pitchFamily="34" charset="0"/>
              </a:rPr>
              <a:t> 2: </a:t>
            </a:r>
            <a:fld id="{F82382A3-3314-49A0-B193-00795800CFEF}" type="slidenum">
              <a:rPr lang="de-DE" altLang="en-US" sz="1600" smtClean="0">
                <a:latin typeface="Arial" panose="020B0604020202020204" pitchFamily="34" charset="0"/>
              </a:rPr>
              <a:pPr algn="r">
                <a:defRPr/>
              </a:pPr>
              <a:t>‹#›</a:t>
            </a:fld>
            <a:r>
              <a:rPr lang="en-GB" altLang="en-US" sz="1600">
                <a:latin typeface="Arial" panose="020B0604020202020204" pitchFamily="34" charset="0"/>
              </a:rPr>
              <a:t> </a:t>
            </a:r>
          </a:p>
        </p:txBody>
      </p:sp>
      <p:sp>
        <p:nvSpPr>
          <p:cNvPr id="1030" name="Line 6">
            <a:extLst>
              <a:ext uri="{FF2B5EF4-FFF2-40B4-BE49-F238E27FC236}">
                <a16:creationId xmlns:a16="http://schemas.microsoft.com/office/drawing/2014/main" id="{48E10BD9-0495-4989-B7AE-19AEDC4AB44D}"/>
              </a:ext>
            </a:extLst>
          </p:cNvPr>
          <p:cNvSpPr>
            <a:spLocks noChangeShapeType="1"/>
          </p:cNvSpPr>
          <p:nvPr userDrawn="1"/>
        </p:nvSpPr>
        <p:spPr bwMode="auto">
          <a:xfrm>
            <a:off x="431800" y="6453188"/>
            <a:ext cx="11176000" cy="0"/>
          </a:xfrm>
          <a:prstGeom prst="line">
            <a:avLst/>
          </a:prstGeom>
          <a:noFill/>
          <a:ln w="38100">
            <a:solidFill>
              <a:srgbClr val="16AFC2"/>
            </a:solidFill>
            <a:round/>
            <a:headEnd/>
            <a:tailEnd/>
          </a:ln>
          <a:extLst>
            <a:ext uri="{909E8E84-426E-40DD-AFC4-6F175D3DCCD1}">
              <a14:hiddenFill xmlns:a14="http://schemas.microsoft.com/office/drawing/2010/main">
                <a:noFill/>
              </a14:hiddenFill>
            </a:ext>
          </a:extLst>
        </p:spPr>
        <p:txBody>
          <a:bodyPr wrap="none" anchor="ctr"/>
          <a:lstStyle/>
          <a:p>
            <a:endParaRPr lang="en-US" sz="2800"/>
          </a:p>
        </p:txBody>
      </p:sp>
      <p:sp>
        <p:nvSpPr>
          <p:cNvPr id="9" name="TextBox 8">
            <a:extLst>
              <a:ext uri="{FF2B5EF4-FFF2-40B4-BE49-F238E27FC236}">
                <a16:creationId xmlns:a16="http://schemas.microsoft.com/office/drawing/2014/main" id="{BE4C2190-5B25-4748-9C0B-4D7F6AD21C27}"/>
              </a:ext>
            </a:extLst>
          </p:cNvPr>
          <p:cNvSpPr txBox="1"/>
          <p:nvPr userDrawn="1"/>
        </p:nvSpPr>
        <p:spPr>
          <a:xfrm>
            <a:off x="406400" y="6503214"/>
            <a:ext cx="1625600" cy="338554"/>
          </a:xfrm>
          <a:prstGeom prst="rect">
            <a:avLst/>
          </a:prstGeom>
          <a:noFill/>
        </p:spPr>
        <p:txBody>
          <a:bodyPr wrap="square" rtlCol="0">
            <a:spAutoFit/>
          </a:bodyPr>
          <a:lstStyle/>
          <a:p>
            <a:r>
              <a:rPr lang="en-US" sz="1600" b="1"/>
              <a:t>10-2024</a:t>
            </a:r>
          </a:p>
        </p:txBody>
      </p:sp>
      <p:sp>
        <p:nvSpPr>
          <p:cNvPr id="10" name="TextBox 9">
            <a:extLst>
              <a:ext uri="{FF2B5EF4-FFF2-40B4-BE49-F238E27FC236}">
                <a16:creationId xmlns:a16="http://schemas.microsoft.com/office/drawing/2014/main" id="{EE611547-FA0D-412F-B507-C266383B699E}"/>
              </a:ext>
            </a:extLst>
          </p:cNvPr>
          <p:cNvSpPr txBox="1"/>
          <p:nvPr userDrawn="1"/>
        </p:nvSpPr>
        <p:spPr>
          <a:xfrm>
            <a:off x="4559830" y="6503214"/>
            <a:ext cx="4416953" cy="338554"/>
          </a:xfrm>
          <a:prstGeom prst="rect">
            <a:avLst/>
          </a:prstGeom>
          <a:noFill/>
        </p:spPr>
        <p:txBody>
          <a:bodyPr wrap="square" rtlCol="0">
            <a:spAutoFit/>
          </a:bodyPr>
          <a:lstStyle/>
          <a:p>
            <a:r>
              <a:rPr lang="en-US" sz="1600" b="1" kern="1200">
                <a:solidFill>
                  <a:schemeClr val="tx1"/>
                </a:solidFill>
                <a:effectLst/>
                <a:latin typeface="+mn-lt"/>
                <a:ea typeface="+mn-ea"/>
                <a:cs typeface="+mn-cs"/>
              </a:rPr>
              <a:t>NT219–Cryptography</a:t>
            </a:r>
            <a:endParaRPr lang="en-US" sz="1600" b="1">
              <a:latin typeface="+mn-lt"/>
            </a:endParaRPr>
          </a:p>
        </p:txBody>
      </p:sp>
      <p:pic>
        <p:nvPicPr>
          <p:cNvPr id="11" name="Picture 10">
            <a:extLst>
              <a:ext uri="{FF2B5EF4-FFF2-40B4-BE49-F238E27FC236}">
                <a16:creationId xmlns:a16="http://schemas.microsoft.com/office/drawing/2014/main" id="{BFFDA27E-0E4C-4070-8A6B-A96E3375685D}"/>
              </a:ext>
            </a:extLst>
          </p:cNvPr>
          <p:cNvPicPr>
            <a:picLocks noChangeAspect="1"/>
          </p:cNvPicPr>
          <p:nvPr userDrawn="1"/>
        </p:nvPicPr>
        <p:blipFill>
          <a:blip r:embed="rId19"/>
          <a:stretch>
            <a:fillRect/>
          </a:stretch>
        </p:blipFill>
        <p:spPr>
          <a:xfrm>
            <a:off x="2" y="-21506"/>
            <a:ext cx="1343468" cy="825793"/>
          </a:xfrm>
          <a:prstGeom prst="rect">
            <a:avLst/>
          </a:prstGeom>
        </p:spPr>
      </p:pic>
    </p:spTree>
    <p:extLst>
      <p:ext uri="{BB962C8B-B14F-4D97-AF65-F5344CB8AC3E}">
        <p14:creationId xmlns:p14="http://schemas.microsoft.com/office/powerpoint/2010/main" val="201159440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 id="2147483694" r:id="rId17"/>
  </p:sldLayoutIdLst>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charset="0"/>
        </a:defRPr>
      </a:lvl2pPr>
      <a:lvl3pPr algn="l" rtl="0" eaLnBrk="0" fontAlgn="base" hangingPunct="0">
        <a:spcBef>
          <a:spcPct val="0"/>
        </a:spcBef>
        <a:spcAft>
          <a:spcPct val="0"/>
        </a:spcAft>
        <a:defRPr sz="4400">
          <a:solidFill>
            <a:schemeClr val="tx2"/>
          </a:solidFill>
          <a:latin typeface="Arial" charset="0"/>
        </a:defRPr>
      </a:lvl3pPr>
      <a:lvl4pPr algn="l" rtl="0" eaLnBrk="0" fontAlgn="base" hangingPunct="0">
        <a:spcBef>
          <a:spcPct val="0"/>
        </a:spcBef>
        <a:spcAft>
          <a:spcPct val="0"/>
        </a:spcAft>
        <a:defRPr sz="4400">
          <a:solidFill>
            <a:schemeClr val="tx2"/>
          </a:solidFill>
          <a:latin typeface="Arial" charset="0"/>
        </a:defRPr>
      </a:lvl4pPr>
      <a:lvl5pPr algn="l" rtl="0" eaLnBrk="0" fontAlgn="base" hangingPunct="0">
        <a:spcBef>
          <a:spcPct val="0"/>
        </a:spcBef>
        <a:spcAft>
          <a:spcPct val="0"/>
        </a:spcAft>
        <a:defRPr sz="4400">
          <a:solidFill>
            <a:schemeClr val="tx2"/>
          </a:solidFill>
          <a:latin typeface="Arial" charset="0"/>
        </a:defRPr>
      </a:lvl5pPr>
      <a:lvl6pPr marL="457200" algn="l" rtl="0" fontAlgn="base">
        <a:spcBef>
          <a:spcPct val="0"/>
        </a:spcBef>
        <a:spcAft>
          <a:spcPct val="0"/>
        </a:spcAft>
        <a:defRPr sz="4400">
          <a:solidFill>
            <a:schemeClr val="tx2"/>
          </a:solidFill>
          <a:latin typeface="Arial" charset="0"/>
        </a:defRPr>
      </a:lvl6pPr>
      <a:lvl7pPr marL="914400" algn="l" rtl="0" fontAlgn="base">
        <a:spcBef>
          <a:spcPct val="0"/>
        </a:spcBef>
        <a:spcAft>
          <a:spcPct val="0"/>
        </a:spcAft>
        <a:defRPr sz="4400">
          <a:solidFill>
            <a:schemeClr val="tx2"/>
          </a:solidFill>
          <a:latin typeface="Arial" charset="0"/>
        </a:defRPr>
      </a:lvl7pPr>
      <a:lvl8pPr marL="1371600" algn="l" rtl="0" fontAlgn="base">
        <a:spcBef>
          <a:spcPct val="0"/>
        </a:spcBef>
        <a:spcAft>
          <a:spcPct val="0"/>
        </a:spcAft>
        <a:defRPr sz="4400">
          <a:solidFill>
            <a:schemeClr val="tx2"/>
          </a:solidFill>
          <a:latin typeface="Arial" charset="0"/>
        </a:defRPr>
      </a:lvl8pPr>
      <a:lvl9pPr marL="1828800" algn="l"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lr>
          <a:srgbClr val="16AFC2"/>
        </a:buClr>
        <a:buSzPct val="125000"/>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339966"/>
        </a:buClr>
        <a:buSzPct val="85000"/>
        <a:buFont typeface="Wingdings" panose="05000000000000000000" pitchFamily="2" charset="2"/>
        <a:buChar char="Ø"/>
        <a:defRPr sz="2800">
          <a:solidFill>
            <a:schemeClr val="tx1"/>
          </a:solidFill>
          <a:latin typeface="+mn-lt"/>
        </a:defRPr>
      </a:lvl2pPr>
      <a:lvl3pPr marL="1143000" indent="-228600" algn="l" rtl="0" eaLnBrk="0" fontAlgn="base" hangingPunct="0">
        <a:spcBef>
          <a:spcPct val="20000"/>
        </a:spcBef>
        <a:spcAft>
          <a:spcPct val="0"/>
        </a:spcAft>
        <a:buSzPct val="150000"/>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tunn@uit.edu.vn"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devglan.com/online-tools/aes-encryption-decryption"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emn178.github.io/online-tools/sha3_512.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4.xml"/><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3.xml"/><Relationship Id="rId1" Type="http://schemas.openxmlformats.org/officeDocument/2006/relationships/slideLayout" Target="../slideLayouts/slideLayout16.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4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13.xml"/><Relationship Id="rId6" Type="http://schemas.openxmlformats.org/officeDocument/2006/relationships/image" Target="../media/image22.wmf"/><Relationship Id="rId5" Type="http://schemas.openxmlformats.org/officeDocument/2006/relationships/oleObject" Target="../embeddings/oleObject2.bin"/><Relationship Id="rId4" Type="http://schemas.openxmlformats.org/officeDocument/2006/relationships/image" Target="../media/image21.wmf"/></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0.xml"/><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41.xml"/><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4.xml"/><Relationship Id="rId1" Type="http://schemas.openxmlformats.org/officeDocument/2006/relationships/slideLayout" Target="../slideLayouts/slideLayout17.xml"/><Relationship Id="rId4" Type="http://schemas.openxmlformats.org/officeDocument/2006/relationships/image" Target="../media/image29.png"/></Relationships>
</file>

<file path=ppt/slides/_rels/slide5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6.xml"/><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1D9A1DF2-0093-44AD-812A-6950BE79B825}"/>
              </a:ext>
            </a:extLst>
          </p:cNvPr>
          <p:cNvSpPr>
            <a:spLocks noGrp="1" noChangeArrowheads="1"/>
          </p:cNvSpPr>
          <p:nvPr>
            <p:ph type="title"/>
          </p:nvPr>
        </p:nvSpPr>
        <p:spPr>
          <a:xfrm>
            <a:off x="2603612" y="71846"/>
            <a:ext cx="6984775" cy="792162"/>
          </a:xfrm>
        </p:spPr>
        <p:txBody>
          <a:bodyPr/>
          <a:lstStyle/>
          <a:p>
            <a:pPr algn="ctr"/>
            <a:br>
              <a:rPr lang="en-US"/>
            </a:br>
            <a:r>
              <a:rPr lang="en-US"/>
              <a:t> NT219- Cryptography  	</a:t>
            </a:r>
            <a:br>
              <a:rPr lang="en-US"/>
            </a:br>
            <a:endParaRPr lang="en-GB" altLang="en-US"/>
          </a:p>
        </p:txBody>
      </p:sp>
      <p:sp>
        <p:nvSpPr>
          <p:cNvPr id="13315" name="Content Placeholder 2">
            <a:extLst>
              <a:ext uri="{FF2B5EF4-FFF2-40B4-BE49-F238E27FC236}">
                <a16:creationId xmlns:a16="http://schemas.microsoft.com/office/drawing/2014/main" id="{40C80A85-8428-4F04-9DC5-1372080F8C60}"/>
              </a:ext>
            </a:extLst>
          </p:cNvPr>
          <p:cNvSpPr>
            <a:spLocks noGrp="1" noChangeArrowheads="1"/>
          </p:cNvSpPr>
          <p:nvPr>
            <p:ph idx="1"/>
          </p:nvPr>
        </p:nvSpPr>
        <p:spPr>
          <a:xfrm>
            <a:off x="1703513" y="2276775"/>
            <a:ext cx="8496513" cy="1783655"/>
          </a:xfrm>
        </p:spPr>
        <p:txBody>
          <a:bodyPr/>
          <a:lstStyle/>
          <a:p>
            <a:pPr algn="ctr" eaLnBrk="1" hangingPunct="1">
              <a:buNone/>
            </a:pPr>
            <a:r>
              <a:rPr lang="en-GB" altLang="en-US"/>
              <a:t>PhD. Ngoc-Tu Nguyen</a:t>
            </a:r>
          </a:p>
          <a:p>
            <a:pPr algn="ctr" eaLnBrk="1" hangingPunct="1">
              <a:buNone/>
            </a:pPr>
            <a:r>
              <a:rPr lang="en-GB" altLang="en-US" sz="2200">
                <a:solidFill>
                  <a:srgbClr val="FF0000"/>
                </a:solidFill>
                <a:hlinkClick r:id="rId2">
                  <a:extLst>
                    <a:ext uri="{A12FA001-AC4F-418D-AE19-62706E023703}">
                      <ahyp:hlinkClr xmlns:ahyp="http://schemas.microsoft.com/office/drawing/2018/hyperlinkcolor" val="tx"/>
                    </a:ext>
                  </a:extLst>
                </a:hlinkClick>
              </a:rPr>
              <a:t>tunn@uit.edu.vn</a:t>
            </a:r>
            <a:endParaRPr lang="en-GB" altLang="en-US" sz="2200">
              <a:solidFill>
                <a:srgbClr val="FF0000"/>
              </a:solidFill>
            </a:endParaRPr>
          </a:p>
        </p:txBody>
      </p:sp>
      <p:sp>
        <p:nvSpPr>
          <p:cNvPr id="5" name="Rectangle 2">
            <a:extLst>
              <a:ext uri="{FF2B5EF4-FFF2-40B4-BE49-F238E27FC236}">
                <a16:creationId xmlns:a16="http://schemas.microsoft.com/office/drawing/2014/main" id="{0E2076DD-4A36-4D39-8891-1036AB868E2E}"/>
              </a:ext>
            </a:extLst>
          </p:cNvPr>
          <p:cNvSpPr txBox="1">
            <a:spLocks noChangeArrowheads="1"/>
          </p:cNvSpPr>
          <p:nvPr/>
        </p:nvSpPr>
        <p:spPr bwMode="auto">
          <a:xfrm>
            <a:off x="1199457" y="764705"/>
            <a:ext cx="9705880" cy="153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ctr" anchorCtr="0" compatLnSpc="1">
            <a:prstTxWarp prst="textNoShape">
              <a:avLst/>
            </a:prstTxWarp>
          </a:bodyP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charset="0"/>
              </a:defRPr>
            </a:lvl2pPr>
            <a:lvl3pPr algn="l" rtl="0" eaLnBrk="0" fontAlgn="base" hangingPunct="0">
              <a:spcBef>
                <a:spcPct val="0"/>
              </a:spcBef>
              <a:spcAft>
                <a:spcPct val="0"/>
              </a:spcAft>
              <a:defRPr sz="4400">
                <a:solidFill>
                  <a:schemeClr val="tx2"/>
                </a:solidFill>
                <a:latin typeface="Arial" charset="0"/>
              </a:defRPr>
            </a:lvl3pPr>
            <a:lvl4pPr algn="l" rtl="0" eaLnBrk="0" fontAlgn="base" hangingPunct="0">
              <a:spcBef>
                <a:spcPct val="0"/>
              </a:spcBef>
              <a:spcAft>
                <a:spcPct val="0"/>
              </a:spcAft>
              <a:defRPr sz="4400">
                <a:solidFill>
                  <a:schemeClr val="tx2"/>
                </a:solidFill>
                <a:latin typeface="Arial" charset="0"/>
              </a:defRPr>
            </a:lvl4pPr>
            <a:lvl5pPr algn="l" rtl="0" eaLnBrk="0" fontAlgn="base" hangingPunct="0">
              <a:spcBef>
                <a:spcPct val="0"/>
              </a:spcBef>
              <a:spcAft>
                <a:spcPct val="0"/>
              </a:spcAft>
              <a:defRPr sz="4400">
                <a:solidFill>
                  <a:schemeClr val="tx2"/>
                </a:solidFill>
                <a:latin typeface="Arial" charset="0"/>
              </a:defRPr>
            </a:lvl5pPr>
            <a:lvl6pPr marL="457200" algn="l" rtl="0" fontAlgn="base">
              <a:spcBef>
                <a:spcPct val="0"/>
              </a:spcBef>
              <a:spcAft>
                <a:spcPct val="0"/>
              </a:spcAft>
              <a:defRPr sz="4400">
                <a:solidFill>
                  <a:schemeClr val="tx2"/>
                </a:solidFill>
                <a:latin typeface="Arial" charset="0"/>
              </a:defRPr>
            </a:lvl6pPr>
            <a:lvl7pPr marL="914400" algn="l" rtl="0" fontAlgn="base">
              <a:spcBef>
                <a:spcPct val="0"/>
              </a:spcBef>
              <a:spcAft>
                <a:spcPct val="0"/>
              </a:spcAft>
              <a:defRPr sz="4400">
                <a:solidFill>
                  <a:schemeClr val="tx2"/>
                </a:solidFill>
                <a:latin typeface="Arial" charset="0"/>
              </a:defRPr>
            </a:lvl7pPr>
            <a:lvl8pPr marL="1371600" algn="l" rtl="0" fontAlgn="base">
              <a:spcBef>
                <a:spcPct val="0"/>
              </a:spcBef>
              <a:spcAft>
                <a:spcPct val="0"/>
              </a:spcAft>
              <a:defRPr sz="4400">
                <a:solidFill>
                  <a:schemeClr val="tx2"/>
                </a:solidFill>
                <a:latin typeface="Arial" charset="0"/>
              </a:defRPr>
            </a:lvl8pPr>
            <a:lvl9pPr marL="1828800" algn="l" rtl="0" fontAlgn="base">
              <a:spcBef>
                <a:spcPct val="0"/>
              </a:spcBef>
              <a:spcAft>
                <a:spcPct val="0"/>
              </a:spcAft>
              <a:defRPr sz="4400">
                <a:solidFill>
                  <a:schemeClr val="tx2"/>
                </a:solidFill>
                <a:latin typeface="Arial" charset="0"/>
              </a:defRPr>
            </a:lvl9pPr>
          </a:lstStyle>
          <a:p>
            <a:pPr eaLnBrk="1" hangingPunct="1"/>
            <a:r>
              <a:rPr lang="en-US" altLang="en-US" sz="3600" kern="0"/>
              <a:t>Week2</a:t>
            </a:r>
            <a:r>
              <a:rPr lang="en-GB" altLang="en-US" sz="3600" kern="0"/>
              <a:t>: </a:t>
            </a:r>
            <a:r>
              <a:rPr lang="en-US" sz="3600"/>
              <a:t>Cryptanalysis classical cipher systems</a:t>
            </a:r>
            <a:endParaRPr lang="de-DE" altLang="en-US" sz="3600" kern="0"/>
          </a:p>
        </p:txBody>
      </p:sp>
      <p:cxnSp>
        <p:nvCxnSpPr>
          <p:cNvPr id="3" name="Straight Connector 2">
            <a:extLst>
              <a:ext uri="{FF2B5EF4-FFF2-40B4-BE49-F238E27FC236}">
                <a16:creationId xmlns:a16="http://schemas.microsoft.com/office/drawing/2014/main" id="{88B172C3-4A19-44D7-839F-950EA8B42720}"/>
              </a:ext>
            </a:extLst>
          </p:cNvPr>
          <p:cNvCxnSpPr>
            <a:cxnSpLocks/>
          </p:cNvCxnSpPr>
          <p:nvPr/>
        </p:nvCxnSpPr>
        <p:spPr bwMode="auto">
          <a:xfrm>
            <a:off x="3575721" y="2132856"/>
            <a:ext cx="440768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8BB0513-844B-49B2-BEF9-7DE6E9262912}"/>
              </a:ext>
            </a:extLst>
          </p:cNvPr>
          <p:cNvSpPr>
            <a:spLocks noGrp="1" noChangeArrowheads="1"/>
          </p:cNvSpPr>
          <p:nvPr>
            <p:ph type="title"/>
          </p:nvPr>
        </p:nvSpPr>
        <p:spPr>
          <a:xfrm>
            <a:off x="1481676" y="100013"/>
            <a:ext cx="9793088" cy="792163"/>
          </a:xfrm>
        </p:spPr>
        <p:txBody>
          <a:bodyPr/>
          <a:lstStyle/>
          <a:p>
            <a:pPr eaLnBrk="1" hangingPunct="1"/>
            <a:r>
              <a:rPr lang="en-GB" altLang="en-US"/>
              <a:t>Outline</a:t>
            </a:r>
          </a:p>
        </p:txBody>
      </p:sp>
      <p:sp>
        <p:nvSpPr>
          <p:cNvPr id="9219" name="Rectangle 3">
            <a:extLst>
              <a:ext uri="{FF2B5EF4-FFF2-40B4-BE49-F238E27FC236}">
                <a16:creationId xmlns:a16="http://schemas.microsoft.com/office/drawing/2014/main" id="{7ECBA633-F0F9-4B37-8675-A34CE05642B9}"/>
              </a:ext>
            </a:extLst>
          </p:cNvPr>
          <p:cNvSpPr>
            <a:spLocks noGrp="1" noChangeArrowheads="1"/>
          </p:cNvSpPr>
          <p:nvPr>
            <p:ph idx="1"/>
          </p:nvPr>
        </p:nvSpPr>
        <p:spPr>
          <a:xfrm>
            <a:off x="695400" y="1052736"/>
            <a:ext cx="8278688" cy="4967287"/>
          </a:xfrm>
        </p:spPr>
        <p:txBody>
          <a:bodyPr/>
          <a:lstStyle/>
          <a:p>
            <a:pPr eaLnBrk="1" hangingPunct="1">
              <a:spcBef>
                <a:spcPct val="25000"/>
              </a:spcBef>
            </a:pPr>
            <a:r>
              <a:rPr lang="en-GB" altLang="en-US"/>
              <a:t> What is cryptograph?</a:t>
            </a:r>
          </a:p>
          <a:p>
            <a:pPr marL="857250" lvl="1" indent="-457200" eaLnBrk="1" hangingPunct="1">
              <a:spcBef>
                <a:spcPct val="25000"/>
              </a:spcBef>
            </a:pPr>
            <a:r>
              <a:rPr lang="en-GB" altLang="en-US"/>
              <a:t>Algorithms</a:t>
            </a:r>
          </a:p>
          <a:p>
            <a:pPr marL="857250" lvl="1" indent="-457200" eaLnBrk="1" hangingPunct="1">
              <a:spcBef>
                <a:spcPct val="25000"/>
              </a:spcBef>
            </a:pPr>
            <a:r>
              <a:rPr lang="en-GB" altLang="en-US"/>
              <a:t>Terminologies</a:t>
            </a:r>
          </a:p>
          <a:p>
            <a:pPr marL="857250" lvl="1" indent="-457200" eaLnBrk="1" hangingPunct="1">
              <a:spcBef>
                <a:spcPct val="25000"/>
              </a:spcBef>
            </a:pPr>
            <a:r>
              <a:rPr lang="en-GB" altLang="en-US"/>
              <a:t>Application areas</a:t>
            </a:r>
          </a:p>
          <a:p>
            <a:pPr eaLnBrk="1" hangingPunct="1">
              <a:spcBef>
                <a:spcPct val="25000"/>
              </a:spcBef>
            </a:pPr>
            <a:r>
              <a:rPr lang="en-GB" altLang="en-US"/>
              <a:t>Cryptanalysis classical cipher systems </a:t>
            </a:r>
          </a:p>
          <a:p>
            <a:pPr lvl="1" eaLnBrk="1" hangingPunct="1">
              <a:spcBef>
                <a:spcPct val="25000"/>
              </a:spcBef>
            </a:pPr>
            <a:r>
              <a:rPr lang="en-GB" altLang="en-US"/>
              <a:t> Algorithms</a:t>
            </a:r>
          </a:p>
          <a:p>
            <a:pPr lvl="2" eaLnBrk="1" hangingPunct="1">
              <a:spcBef>
                <a:spcPct val="25000"/>
              </a:spcBef>
            </a:pPr>
            <a:r>
              <a:rPr lang="en-GB" altLang="en-US"/>
              <a:t>Substitution ciphers</a:t>
            </a:r>
          </a:p>
          <a:p>
            <a:pPr lvl="2" eaLnBrk="1" hangingPunct="1">
              <a:spcBef>
                <a:spcPct val="25000"/>
              </a:spcBef>
            </a:pPr>
            <a:r>
              <a:rPr lang="en-GB" altLang="en-US"/>
              <a:t>Transposition ciphers</a:t>
            </a:r>
          </a:p>
          <a:p>
            <a:pPr lvl="1" eaLnBrk="1" hangingPunct="1">
              <a:spcBef>
                <a:spcPct val="25000"/>
              </a:spcBef>
            </a:pPr>
            <a:r>
              <a:rPr lang="en-GB" altLang="en-US">
                <a:solidFill>
                  <a:srgbClr val="FF0000"/>
                </a:solidFill>
              </a:rPr>
              <a:t>Cryptanalysis (CTF + tools) ---&gt; assignment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8BB0513-844B-49B2-BEF9-7DE6E9262912}"/>
              </a:ext>
            </a:extLst>
          </p:cNvPr>
          <p:cNvSpPr>
            <a:spLocks noGrp="1" noChangeArrowheads="1"/>
          </p:cNvSpPr>
          <p:nvPr>
            <p:ph type="title"/>
          </p:nvPr>
        </p:nvSpPr>
        <p:spPr>
          <a:xfrm>
            <a:off x="1450976" y="102678"/>
            <a:ext cx="6661248" cy="792163"/>
          </a:xfrm>
        </p:spPr>
        <p:txBody>
          <a:bodyPr/>
          <a:lstStyle/>
          <a:p>
            <a:pPr eaLnBrk="1" hangingPunct="1"/>
            <a:r>
              <a:rPr lang="en-US" altLang="en-US"/>
              <a:t>Textbooks and References</a:t>
            </a:r>
            <a:endParaRPr lang="en-GB" altLang="en-US"/>
          </a:p>
        </p:txBody>
      </p:sp>
      <p:sp>
        <p:nvSpPr>
          <p:cNvPr id="9219" name="Rectangle 3">
            <a:extLst>
              <a:ext uri="{FF2B5EF4-FFF2-40B4-BE49-F238E27FC236}">
                <a16:creationId xmlns:a16="http://schemas.microsoft.com/office/drawing/2014/main" id="{7ECBA633-F0F9-4B37-8675-A34CE05642B9}"/>
              </a:ext>
            </a:extLst>
          </p:cNvPr>
          <p:cNvSpPr>
            <a:spLocks noGrp="1" noChangeArrowheads="1"/>
          </p:cNvSpPr>
          <p:nvPr>
            <p:ph idx="1"/>
          </p:nvPr>
        </p:nvSpPr>
        <p:spPr>
          <a:xfrm>
            <a:off x="1992660" y="1160346"/>
            <a:ext cx="6119564" cy="576064"/>
          </a:xfrm>
        </p:spPr>
        <p:txBody>
          <a:bodyPr/>
          <a:lstStyle/>
          <a:p>
            <a:pPr eaLnBrk="1" hangingPunct="1">
              <a:spcBef>
                <a:spcPct val="25000"/>
              </a:spcBef>
            </a:pPr>
            <a:r>
              <a:rPr lang="en-US" altLang="en-US"/>
              <a:t>Text books</a:t>
            </a:r>
          </a:p>
          <a:p>
            <a:pPr marL="0" indent="0" eaLnBrk="1" hangingPunct="1">
              <a:spcBef>
                <a:spcPct val="25000"/>
              </a:spcBef>
              <a:buNone/>
            </a:pPr>
            <a:endParaRPr lang="en-US" altLang="en-US"/>
          </a:p>
          <a:p>
            <a:pPr marL="0" indent="0" eaLnBrk="1" hangingPunct="1">
              <a:spcBef>
                <a:spcPct val="25000"/>
              </a:spcBef>
              <a:buNone/>
            </a:pPr>
            <a:endParaRPr lang="en-GB" altLang="en-US"/>
          </a:p>
        </p:txBody>
      </p:sp>
      <p:sp>
        <p:nvSpPr>
          <p:cNvPr id="2" name="Rectangle 1">
            <a:extLst>
              <a:ext uri="{FF2B5EF4-FFF2-40B4-BE49-F238E27FC236}">
                <a16:creationId xmlns:a16="http://schemas.microsoft.com/office/drawing/2014/main" id="{2EC6BF2E-3E4F-4B44-9AB7-7782F5E6277D}"/>
              </a:ext>
            </a:extLst>
          </p:cNvPr>
          <p:cNvSpPr/>
          <p:nvPr/>
        </p:nvSpPr>
        <p:spPr>
          <a:xfrm>
            <a:off x="2260110" y="5297543"/>
            <a:ext cx="3089518" cy="400110"/>
          </a:xfrm>
          <a:prstGeom prst="rect">
            <a:avLst/>
          </a:prstGeom>
        </p:spPr>
        <p:txBody>
          <a:bodyPr wrap="square">
            <a:spAutoFit/>
          </a:bodyPr>
          <a:lstStyle/>
          <a:p>
            <a:r>
              <a:rPr lang="en-US" sz="2000">
                <a:latin typeface="Times New Roman" panose="02020603050405020304" pitchFamily="18" charset="0"/>
                <a:ea typeface="Times New Roman" panose="02020603050405020304" pitchFamily="18" charset="0"/>
              </a:rPr>
              <a:t>[1] Chapter 1,3</a:t>
            </a:r>
            <a:endParaRPr lang="en-US" sz="2000"/>
          </a:p>
        </p:txBody>
      </p:sp>
      <p:sp>
        <p:nvSpPr>
          <p:cNvPr id="3" name="Rectangle 2">
            <a:extLst>
              <a:ext uri="{FF2B5EF4-FFF2-40B4-BE49-F238E27FC236}">
                <a16:creationId xmlns:a16="http://schemas.microsoft.com/office/drawing/2014/main" id="{564AF6BE-42FE-4845-BDF7-2FD8337A5BF2}"/>
              </a:ext>
            </a:extLst>
          </p:cNvPr>
          <p:cNvSpPr/>
          <p:nvPr/>
        </p:nvSpPr>
        <p:spPr>
          <a:xfrm>
            <a:off x="6429164" y="5297543"/>
            <a:ext cx="3366120" cy="400110"/>
          </a:xfrm>
          <a:prstGeom prst="rect">
            <a:avLst/>
          </a:prstGeom>
        </p:spPr>
        <p:txBody>
          <a:bodyPr wrap="square">
            <a:spAutoFit/>
          </a:bodyPr>
          <a:lstStyle/>
          <a:p>
            <a:pPr marL="457200">
              <a:spcAft>
                <a:spcPts val="0"/>
              </a:spcAft>
            </a:pPr>
            <a:r>
              <a:rPr lang="en-US" sz="2000">
                <a:latin typeface="Calibri" panose="020F0502020204030204" pitchFamily="34" charset="0"/>
                <a:ea typeface="Calibri" panose="020F0502020204030204" pitchFamily="34" charset="0"/>
              </a:rPr>
              <a:t>[2] Chapter 1, 4</a:t>
            </a:r>
            <a:endParaRPr lang="en-US" sz="2000">
              <a:latin typeface="Times New Roman" panose="02020603050405020304" pitchFamily="18" charset="0"/>
              <a:ea typeface="Times New Roman" panose="02020603050405020304" pitchFamily="18" charset="0"/>
            </a:endParaRPr>
          </a:p>
        </p:txBody>
      </p:sp>
      <p:pic>
        <p:nvPicPr>
          <p:cNvPr id="1026" name="Picture 2" descr="Cryptography and Network Security: Principles and Practice, 8th Edition">
            <a:extLst>
              <a:ext uri="{FF2B5EF4-FFF2-40B4-BE49-F238E27FC236}">
                <a16:creationId xmlns:a16="http://schemas.microsoft.com/office/drawing/2014/main" id="{3254D2E9-76A3-4B06-8D21-629FA2C005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7569" y="1691355"/>
            <a:ext cx="2665463" cy="347529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ver">
            <a:extLst>
              <a:ext uri="{FF2B5EF4-FFF2-40B4-BE49-F238E27FC236}">
                <a16:creationId xmlns:a16="http://schemas.microsoft.com/office/drawing/2014/main" id="{162A0D64-5183-4357-9EAA-C88BF9B688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6736" y="1629625"/>
            <a:ext cx="2322918" cy="3491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9627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259AD-8E65-327F-93BA-FF515528A58F}"/>
            </a:ext>
          </a:extLst>
        </p:cNvPr>
        <p:cNvGrpSpPr/>
        <p:nvPr/>
      </p:nvGrpSpPr>
      <p:grpSpPr>
        <a:xfrm>
          <a:off x="0" y="0"/>
          <a:ext cx="0" cy="0"/>
          <a:chOff x="0" y="0"/>
          <a:chExt cx="0" cy="0"/>
        </a:xfrm>
      </p:grpSpPr>
      <p:sp>
        <p:nvSpPr>
          <p:cNvPr id="6147" name="Rectangle 2">
            <a:extLst>
              <a:ext uri="{FF2B5EF4-FFF2-40B4-BE49-F238E27FC236}">
                <a16:creationId xmlns:a16="http://schemas.microsoft.com/office/drawing/2014/main" id="{74631431-43F5-EBBD-0164-665B9B2316E9}"/>
              </a:ext>
            </a:extLst>
          </p:cNvPr>
          <p:cNvSpPr>
            <a:spLocks noGrp="1" noRot="1" noChangeArrowheads="1"/>
          </p:cNvSpPr>
          <p:nvPr>
            <p:ph type="title" idx="4294967295"/>
          </p:nvPr>
        </p:nvSpPr>
        <p:spPr>
          <a:xfrm>
            <a:off x="1415480" y="-19455"/>
            <a:ext cx="5657850" cy="971550"/>
          </a:xfrm>
        </p:spPr>
        <p:txBody>
          <a:bodyPr anchor="ctr"/>
          <a:lstStyle/>
          <a:p>
            <a:r>
              <a:rPr lang="en-US" b="1">
                <a:latin typeface="Times New Roman" panose="02020603050405020304" pitchFamily="18" charset="0"/>
                <a:cs typeface="Times New Roman" panose="02020603050405020304" pitchFamily="18" charset="0"/>
              </a:rPr>
              <a:t>Motivations</a:t>
            </a:r>
          </a:p>
        </p:txBody>
      </p:sp>
      <p:sp>
        <p:nvSpPr>
          <p:cNvPr id="3" name="Rectangle 2">
            <a:extLst>
              <a:ext uri="{FF2B5EF4-FFF2-40B4-BE49-F238E27FC236}">
                <a16:creationId xmlns:a16="http://schemas.microsoft.com/office/drawing/2014/main" id="{60662728-F93A-B749-64F8-8D2066A3116B}"/>
              </a:ext>
            </a:extLst>
          </p:cNvPr>
          <p:cNvSpPr/>
          <p:nvPr/>
        </p:nvSpPr>
        <p:spPr>
          <a:xfrm>
            <a:off x="299356" y="952095"/>
            <a:ext cx="2232248" cy="1200329"/>
          </a:xfrm>
          <a:prstGeom prst="rect">
            <a:avLst/>
          </a:prstGeom>
        </p:spPr>
        <p:txBody>
          <a:bodyPr wrap="square">
            <a:spAutoFit/>
          </a:bodyPr>
          <a:lstStyle/>
          <a:p>
            <a:r>
              <a:rPr lang="en-US" sz="3600" b="1"/>
              <a:t>Defense in depth:</a:t>
            </a:r>
          </a:p>
        </p:txBody>
      </p:sp>
      <p:pic>
        <p:nvPicPr>
          <p:cNvPr id="1026" name="Picture 2">
            <a:extLst>
              <a:ext uri="{FF2B5EF4-FFF2-40B4-BE49-F238E27FC236}">
                <a16:creationId xmlns:a16="http://schemas.microsoft.com/office/drawing/2014/main" id="{A1EF8486-FDF6-305E-69DE-48A957B31E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1704" y="836712"/>
            <a:ext cx="7968952" cy="569210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6AAFBAC-00EC-94F2-EA1E-0D9B9E7AF5D6}"/>
              </a:ext>
            </a:extLst>
          </p:cNvPr>
          <p:cNvSpPr txBox="1"/>
          <p:nvPr/>
        </p:nvSpPr>
        <p:spPr>
          <a:xfrm>
            <a:off x="6906264" y="3421156"/>
            <a:ext cx="1019831" cy="523220"/>
          </a:xfrm>
          <a:prstGeom prst="rect">
            <a:avLst/>
          </a:prstGeom>
          <a:noFill/>
        </p:spPr>
        <p:txBody>
          <a:bodyPr wrap="none" rtlCol="0">
            <a:spAutoFit/>
          </a:bodyPr>
          <a:lstStyle/>
          <a:p>
            <a:r>
              <a:rPr lang="en-US"/>
              <a:t>assets</a:t>
            </a:r>
          </a:p>
        </p:txBody>
      </p:sp>
    </p:spTree>
    <p:extLst>
      <p:ext uri="{BB962C8B-B14F-4D97-AF65-F5344CB8AC3E}">
        <p14:creationId xmlns:p14="http://schemas.microsoft.com/office/powerpoint/2010/main" val="3027386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a:extLst>
              <a:ext uri="{FF2B5EF4-FFF2-40B4-BE49-F238E27FC236}">
                <a16:creationId xmlns:a16="http://schemas.microsoft.com/office/drawing/2014/main" id="{7D2CED5C-BD13-4672-BB46-8D21BA6ACFB8}"/>
              </a:ext>
            </a:extLst>
          </p:cNvPr>
          <p:cNvSpPr>
            <a:spLocks noGrp="1" noRot="1" noChangeArrowheads="1"/>
          </p:cNvSpPr>
          <p:nvPr>
            <p:ph type="title" idx="4294967295"/>
          </p:nvPr>
        </p:nvSpPr>
        <p:spPr>
          <a:xfrm>
            <a:off x="1415480" y="-19455"/>
            <a:ext cx="5657850" cy="971550"/>
          </a:xfrm>
        </p:spPr>
        <p:txBody>
          <a:bodyPr anchor="ctr"/>
          <a:lstStyle/>
          <a:p>
            <a:r>
              <a:rPr lang="en-US" b="1">
                <a:latin typeface="Times New Roman" panose="02020603050405020304" pitchFamily="18" charset="0"/>
                <a:cs typeface="Times New Roman" panose="02020603050405020304" pitchFamily="18" charset="0"/>
              </a:rPr>
              <a:t>Motivations</a:t>
            </a:r>
          </a:p>
        </p:txBody>
      </p:sp>
      <p:pic>
        <p:nvPicPr>
          <p:cNvPr id="2050" name="Picture 2" descr="Lightbox">
            <a:extLst>
              <a:ext uri="{FF2B5EF4-FFF2-40B4-BE49-F238E27FC236}">
                <a16:creationId xmlns:a16="http://schemas.microsoft.com/office/drawing/2014/main" id="{DDBA0ECD-8BFB-484A-9E98-847CE82A0C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3763" y="122873"/>
            <a:ext cx="7758840" cy="598376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8F96B8BD-8395-48BE-99D2-671677D7F70B}"/>
              </a:ext>
            </a:extLst>
          </p:cNvPr>
          <p:cNvSpPr/>
          <p:nvPr/>
        </p:nvSpPr>
        <p:spPr>
          <a:xfrm>
            <a:off x="285391" y="1899364"/>
            <a:ext cx="3647152" cy="646331"/>
          </a:xfrm>
          <a:prstGeom prst="rect">
            <a:avLst/>
          </a:prstGeom>
        </p:spPr>
        <p:txBody>
          <a:bodyPr wrap="none">
            <a:spAutoFit/>
          </a:bodyPr>
          <a:lstStyle/>
          <a:p>
            <a:r>
              <a:rPr lang="en-US" sz="3600" b="1"/>
              <a:t>Defense in depth:</a:t>
            </a:r>
          </a:p>
        </p:txBody>
      </p:sp>
      <p:sp>
        <p:nvSpPr>
          <p:cNvPr id="4" name="TextBox 3">
            <a:extLst>
              <a:ext uri="{FF2B5EF4-FFF2-40B4-BE49-F238E27FC236}">
                <a16:creationId xmlns:a16="http://schemas.microsoft.com/office/drawing/2014/main" id="{F5406054-6B08-4AEC-B658-0D99F8477B98}"/>
              </a:ext>
            </a:extLst>
          </p:cNvPr>
          <p:cNvSpPr txBox="1"/>
          <p:nvPr/>
        </p:nvSpPr>
        <p:spPr>
          <a:xfrm>
            <a:off x="1496430" y="2515588"/>
            <a:ext cx="3748142" cy="707886"/>
          </a:xfrm>
          <a:prstGeom prst="rect">
            <a:avLst/>
          </a:prstGeom>
          <a:noFill/>
        </p:spPr>
        <p:txBody>
          <a:bodyPr wrap="none" rtlCol="0">
            <a:spAutoFit/>
          </a:bodyPr>
          <a:lstStyle/>
          <a:p>
            <a:r>
              <a:rPr lang="en-US" sz="4000">
                <a:solidFill>
                  <a:srgbClr val="FF0000"/>
                </a:solidFill>
              </a:rPr>
              <a:t>Host or network?</a:t>
            </a:r>
          </a:p>
        </p:txBody>
      </p:sp>
      <p:sp>
        <p:nvSpPr>
          <p:cNvPr id="8" name="TextBox 7">
            <a:extLst>
              <a:ext uri="{FF2B5EF4-FFF2-40B4-BE49-F238E27FC236}">
                <a16:creationId xmlns:a16="http://schemas.microsoft.com/office/drawing/2014/main" id="{E24DF81A-AC2D-4F11-A834-DAFD9FCB1402}"/>
              </a:ext>
            </a:extLst>
          </p:cNvPr>
          <p:cNvSpPr txBox="1"/>
          <p:nvPr/>
        </p:nvSpPr>
        <p:spPr>
          <a:xfrm>
            <a:off x="285391" y="1102564"/>
            <a:ext cx="5281246" cy="646331"/>
          </a:xfrm>
          <a:prstGeom prst="rect">
            <a:avLst/>
          </a:prstGeom>
          <a:noFill/>
        </p:spPr>
        <p:txBody>
          <a:bodyPr wrap="square" rtlCol="0">
            <a:spAutoFit/>
          </a:bodyPr>
          <a:lstStyle/>
          <a:p>
            <a:r>
              <a:rPr lang="en-US" sz="3600" b="1">
                <a:latin typeface="Times New Roman" panose="02020603050405020304" pitchFamily="18" charset="0"/>
                <a:cs typeface="Times New Roman" panose="02020603050405020304" pitchFamily="18" charset="0"/>
              </a:rPr>
              <a:t>Technical solutions</a:t>
            </a:r>
          </a:p>
        </p:txBody>
      </p:sp>
      <p:sp>
        <p:nvSpPr>
          <p:cNvPr id="7" name="Arrow: Right 6">
            <a:extLst>
              <a:ext uri="{FF2B5EF4-FFF2-40B4-BE49-F238E27FC236}">
                <a16:creationId xmlns:a16="http://schemas.microsoft.com/office/drawing/2014/main" id="{AA8BB501-CA46-4D9C-BF17-6100A8FC8BBB}"/>
              </a:ext>
            </a:extLst>
          </p:cNvPr>
          <p:cNvSpPr/>
          <p:nvPr/>
        </p:nvSpPr>
        <p:spPr bwMode="auto">
          <a:xfrm rot="10800000">
            <a:off x="4289556" y="4884201"/>
            <a:ext cx="978408" cy="196600"/>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imes" pitchFamily="18" charset="0"/>
            </a:endParaRPr>
          </a:p>
        </p:txBody>
      </p:sp>
      <p:sp>
        <p:nvSpPr>
          <p:cNvPr id="9" name="TextBox 8">
            <a:extLst>
              <a:ext uri="{FF2B5EF4-FFF2-40B4-BE49-F238E27FC236}">
                <a16:creationId xmlns:a16="http://schemas.microsoft.com/office/drawing/2014/main" id="{34C515B6-A275-4DB0-AD72-CF55D1D5D1EB}"/>
              </a:ext>
            </a:extLst>
          </p:cNvPr>
          <p:cNvSpPr txBox="1"/>
          <p:nvPr/>
        </p:nvSpPr>
        <p:spPr>
          <a:xfrm>
            <a:off x="1466588" y="4914439"/>
            <a:ext cx="2906565" cy="1384995"/>
          </a:xfrm>
          <a:prstGeom prst="rect">
            <a:avLst/>
          </a:prstGeom>
          <a:noFill/>
        </p:spPr>
        <p:txBody>
          <a:bodyPr wrap="none" rtlCol="0">
            <a:spAutoFit/>
          </a:bodyPr>
          <a:lstStyle/>
          <a:p>
            <a:pPr marL="457200" indent="-457200">
              <a:buFont typeface="Arial" panose="020B0604020202020204" pitchFamily="34" charset="0"/>
              <a:buChar char="•"/>
            </a:pPr>
            <a:r>
              <a:rPr lang="en-US"/>
              <a:t>Internal threats</a:t>
            </a:r>
          </a:p>
          <a:p>
            <a:pPr marL="457200" indent="-457200">
              <a:buFont typeface="Arial" panose="020B0604020202020204" pitchFamily="34" charset="0"/>
              <a:buChar char="•"/>
            </a:pPr>
            <a:r>
              <a:rPr lang="en-US"/>
              <a:t>External threats</a:t>
            </a:r>
          </a:p>
          <a:p>
            <a:pPr marL="457200" indent="-457200">
              <a:buFont typeface="Arial" panose="020B0604020202020204" pitchFamily="34" charset="0"/>
              <a:buChar char="•"/>
            </a:pPr>
            <a:r>
              <a:rPr lang="en-US"/>
              <a:t>Partners</a:t>
            </a:r>
          </a:p>
        </p:txBody>
      </p:sp>
      <p:sp>
        <p:nvSpPr>
          <p:cNvPr id="2" name="TextBox 1">
            <a:extLst>
              <a:ext uri="{FF2B5EF4-FFF2-40B4-BE49-F238E27FC236}">
                <a16:creationId xmlns:a16="http://schemas.microsoft.com/office/drawing/2014/main" id="{0ACD0E37-6C25-4BA0-ACE4-EA44D67C1290}"/>
              </a:ext>
            </a:extLst>
          </p:cNvPr>
          <p:cNvSpPr txBox="1"/>
          <p:nvPr/>
        </p:nvSpPr>
        <p:spPr>
          <a:xfrm>
            <a:off x="5201705" y="5920260"/>
            <a:ext cx="1579278" cy="523220"/>
          </a:xfrm>
          <a:prstGeom prst="rect">
            <a:avLst/>
          </a:prstGeom>
          <a:noFill/>
        </p:spPr>
        <p:txBody>
          <a:bodyPr wrap="none" rtlCol="0">
            <a:spAutoFit/>
          </a:bodyPr>
          <a:lstStyle/>
          <a:p>
            <a:r>
              <a:rPr lang="en-US"/>
              <a:t>adversary</a:t>
            </a:r>
          </a:p>
        </p:txBody>
      </p:sp>
      <p:sp>
        <p:nvSpPr>
          <p:cNvPr id="5" name="Rectangle 4">
            <a:extLst>
              <a:ext uri="{FF2B5EF4-FFF2-40B4-BE49-F238E27FC236}">
                <a16:creationId xmlns:a16="http://schemas.microsoft.com/office/drawing/2014/main" id="{BC682EC5-66AB-415B-ADC0-8847AB21DE8A}"/>
              </a:ext>
            </a:extLst>
          </p:cNvPr>
          <p:cNvSpPr/>
          <p:nvPr/>
        </p:nvSpPr>
        <p:spPr>
          <a:xfrm>
            <a:off x="8143620" y="5772932"/>
            <a:ext cx="2988319" cy="523220"/>
          </a:xfrm>
          <a:prstGeom prst="rect">
            <a:avLst/>
          </a:prstGeom>
        </p:spPr>
        <p:txBody>
          <a:bodyPr wrap="none">
            <a:spAutoFit/>
          </a:bodyPr>
          <a:lstStyle/>
          <a:p>
            <a:r>
              <a:rPr lang="en-US" b="1">
                <a:latin typeface="Times New Roman" panose="02020603050405020304" pitchFamily="18" charset="0"/>
                <a:cs typeface="Times New Roman" panose="02020603050405020304" pitchFamily="18" charset="0"/>
              </a:rPr>
              <a:t>Example solutions</a:t>
            </a:r>
          </a:p>
        </p:txBody>
      </p:sp>
      <p:sp>
        <p:nvSpPr>
          <p:cNvPr id="6" name="Left Brace 5">
            <a:extLst>
              <a:ext uri="{FF2B5EF4-FFF2-40B4-BE49-F238E27FC236}">
                <a16:creationId xmlns:a16="http://schemas.microsoft.com/office/drawing/2014/main" id="{A96FC38D-3DCA-E421-EB1C-8C6C01CD6B48}"/>
              </a:ext>
            </a:extLst>
          </p:cNvPr>
          <p:cNvSpPr/>
          <p:nvPr/>
        </p:nvSpPr>
        <p:spPr bwMode="auto">
          <a:xfrm>
            <a:off x="1122496" y="4884201"/>
            <a:ext cx="373934" cy="1499000"/>
          </a:xfrm>
          <a:prstGeom prst="leftBrac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imes" pitchFamily="18" charset="0"/>
            </a:endParaRPr>
          </a:p>
        </p:txBody>
      </p:sp>
      <p:sp>
        <p:nvSpPr>
          <p:cNvPr id="11" name="TextBox 10">
            <a:extLst>
              <a:ext uri="{FF2B5EF4-FFF2-40B4-BE49-F238E27FC236}">
                <a16:creationId xmlns:a16="http://schemas.microsoft.com/office/drawing/2014/main" id="{4999F179-67A2-A5E4-81BC-BAF2818ABBEA}"/>
              </a:ext>
            </a:extLst>
          </p:cNvPr>
          <p:cNvSpPr txBox="1"/>
          <p:nvPr/>
        </p:nvSpPr>
        <p:spPr>
          <a:xfrm>
            <a:off x="260591" y="3335148"/>
            <a:ext cx="6283410" cy="523220"/>
          </a:xfrm>
          <a:prstGeom prst="rect">
            <a:avLst/>
          </a:prstGeom>
          <a:noFill/>
        </p:spPr>
        <p:txBody>
          <a:bodyPr wrap="square">
            <a:spAutoFit/>
          </a:bodyPr>
          <a:lstStyle/>
          <a:p>
            <a:r>
              <a:rPr lang="en-US">
                <a:sym typeface="Wingdings" panose="05000000000000000000" pitchFamily="2" charset="2"/>
              </a:rPr>
              <a:t> </a:t>
            </a:r>
            <a:r>
              <a:rPr lang="en-US"/>
              <a:t>https://owasp.org/www-project-top-ten/</a:t>
            </a:r>
          </a:p>
        </p:txBody>
      </p:sp>
    </p:spTree>
    <p:extLst>
      <p:ext uri="{BB962C8B-B14F-4D97-AF65-F5344CB8AC3E}">
        <p14:creationId xmlns:p14="http://schemas.microsoft.com/office/powerpoint/2010/main" val="1852502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8BB0513-844B-49B2-BEF9-7DE6E9262912}"/>
              </a:ext>
            </a:extLst>
          </p:cNvPr>
          <p:cNvSpPr>
            <a:spLocks noGrp="1" noChangeArrowheads="1"/>
          </p:cNvSpPr>
          <p:nvPr>
            <p:ph type="title"/>
          </p:nvPr>
        </p:nvSpPr>
        <p:spPr>
          <a:xfrm>
            <a:off x="1343472" y="104429"/>
            <a:ext cx="6661248" cy="792163"/>
          </a:xfrm>
        </p:spPr>
        <p:txBody>
          <a:bodyPr/>
          <a:lstStyle/>
          <a:p>
            <a:pPr eaLnBrk="1" hangingPunct="1"/>
            <a:r>
              <a:rPr lang="en-GB" altLang="en-US"/>
              <a:t>What is cryptograph</a:t>
            </a:r>
            <a:r>
              <a:rPr lang="en-US" altLang="en-US"/>
              <a:t>?</a:t>
            </a:r>
            <a:endParaRPr lang="en-GB" altLang="en-US"/>
          </a:p>
        </p:txBody>
      </p:sp>
      <p:sp>
        <p:nvSpPr>
          <p:cNvPr id="9219" name="Rectangle 3">
            <a:extLst>
              <a:ext uri="{FF2B5EF4-FFF2-40B4-BE49-F238E27FC236}">
                <a16:creationId xmlns:a16="http://schemas.microsoft.com/office/drawing/2014/main" id="{7ECBA633-F0F9-4B37-8675-A34CE05642B9}"/>
              </a:ext>
            </a:extLst>
          </p:cNvPr>
          <p:cNvSpPr>
            <a:spLocks noGrp="1" noChangeArrowheads="1"/>
          </p:cNvSpPr>
          <p:nvPr>
            <p:ph idx="1"/>
          </p:nvPr>
        </p:nvSpPr>
        <p:spPr>
          <a:xfrm>
            <a:off x="1343472" y="1035162"/>
            <a:ext cx="8206680" cy="4967287"/>
          </a:xfrm>
        </p:spPr>
        <p:txBody>
          <a:bodyPr/>
          <a:lstStyle/>
          <a:p>
            <a:pPr eaLnBrk="1" hangingPunct="1">
              <a:spcBef>
                <a:spcPct val="25000"/>
              </a:spcBef>
            </a:pPr>
            <a:r>
              <a:rPr lang="en-US" altLang="en-US"/>
              <a:t>Cryptology= Cryptography + Cryptanalysis</a:t>
            </a:r>
            <a:endParaRPr lang="en-GB" altLang="en-US"/>
          </a:p>
        </p:txBody>
      </p:sp>
      <p:cxnSp>
        <p:nvCxnSpPr>
          <p:cNvPr id="6" name="Straight Arrow Connector 5">
            <a:extLst>
              <a:ext uri="{FF2B5EF4-FFF2-40B4-BE49-F238E27FC236}">
                <a16:creationId xmlns:a16="http://schemas.microsoft.com/office/drawing/2014/main" id="{81AB3803-ED4C-4E1E-97CE-5BBF2B7FF106}"/>
              </a:ext>
            </a:extLst>
          </p:cNvPr>
          <p:cNvCxnSpPr>
            <a:cxnSpLocks/>
          </p:cNvCxnSpPr>
          <p:nvPr/>
        </p:nvCxnSpPr>
        <p:spPr bwMode="auto">
          <a:xfrm>
            <a:off x="5860618" y="1507927"/>
            <a:ext cx="1532396" cy="454689"/>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8" name="Rectangle 7">
            <a:extLst>
              <a:ext uri="{FF2B5EF4-FFF2-40B4-BE49-F238E27FC236}">
                <a16:creationId xmlns:a16="http://schemas.microsoft.com/office/drawing/2014/main" id="{58D3E79E-1E54-474B-9B0B-8529F6CD010A}"/>
              </a:ext>
            </a:extLst>
          </p:cNvPr>
          <p:cNvSpPr/>
          <p:nvPr/>
        </p:nvSpPr>
        <p:spPr>
          <a:xfrm>
            <a:off x="855419" y="2208767"/>
            <a:ext cx="2906565" cy="523220"/>
          </a:xfrm>
          <a:prstGeom prst="rect">
            <a:avLst/>
          </a:prstGeom>
        </p:spPr>
        <p:txBody>
          <a:bodyPr wrap="none">
            <a:spAutoFit/>
          </a:bodyPr>
          <a:lstStyle/>
          <a:p>
            <a:pPr marL="457200" indent="-457200">
              <a:buFont typeface="Wingdings" panose="05000000000000000000" pitchFamily="2" charset="2"/>
              <a:buChar char="§"/>
            </a:pPr>
            <a:r>
              <a:rPr lang="en-US">
                <a:solidFill>
                  <a:srgbClr val="000000"/>
                </a:solidFill>
                <a:latin typeface="arial" panose="020B0604020202020204" pitchFamily="34" charset="0"/>
              </a:rPr>
              <a:t>Confidentiality</a:t>
            </a:r>
            <a:endParaRPr lang="en-US"/>
          </a:p>
        </p:txBody>
      </p:sp>
      <p:sp>
        <p:nvSpPr>
          <p:cNvPr id="10" name="Rectangle 9">
            <a:extLst>
              <a:ext uri="{FF2B5EF4-FFF2-40B4-BE49-F238E27FC236}">
                <a16:creationId xmlns:a16="http://schemas.microsoft.com/office/drawing/2014/main" id="{395ED866-991E-4FBB-A0E8-1616834BB8E1}"/>
              </a:ext>
            </a:extLst>
          </p:cNvPr>
          <p:cNvSpPr/>
          <p:nvPr/>
        </p:nvSpPr>
        <p:spPr>
          <a:xfrm>
            <a:off x="941240" y="4370466"/>
            <a:ext cx="2925801" cy="523220"/>
          </a:xfrm>
          <a:prstGeom prst="rect">
            <a:avLst/>
          </a:prstGeom>
        </p:spPr>
        <p:txBody>
          <a:bodyPr wrap="none">
            <a:spAutoFit/>
          </a:bodyPr>
          <a:lstStyle/>
          <a:p>
            <a:pPr marL="457200" indent="-457200">
              <a:buFont typeface="Wingdings" panose="05000000000000000000" pitchFamily="2" charset="2"/>
              <a:buChar char="§"/>
            </a:pPr>
            <a:r>
              <a:rPr lang="en-US">
                <a:solidFill>
                  <a:srgbClr val="000000"/>
                </a:solidFill>
                <a:latin typeface="arial" panose="020B0604020202020204" pitchFamily="34" charset="0"/>
              </a:rPr>
              <a:t>Authentication</a:t>
            </a:r>
            <a:endParaRPr lang="en-US"/>
          </a:p>
        </p:txBody>
      </p:sp>
      <p:sp>
        <p:nvSpPr>
          <p:cNvPr id="11" name="Rectangle 10">
            <a:extLst>
              <a:ext uri="{FF2B5EF4-FFF2-40B4-BE49-F238E27FC236}">
                <a16:creationId xmlns:a16="http://schemas.microsoft.com/office/drawing/2014/main" id="{67AEF098-5D07-4512-8A64-E78E53453818}"/>
              </a:ext>
            </a:extLst>
          </p:cNvPr>
          <p:cNvSpPr/>
          <p:nvPr/>
        </p:nvSpPr>
        <p:spPr>
          <a:xfrm>
            <a:off x="926822" y="3697868"/>
            <a:ext cx="1925527" cy="523220"/>
          </a:xfrm>
          <a:prstGeom prst="rect">
            <a:avLst/>
          </a:prstGeom>
        </p:spPr>
        <p:txBody>
          <a:bodyPr wrap="none">
            <a:spAutoFit/>
          </a:bodyPr>
          <a:lstStyle/>
          <a:p>
            <a:pPr marL="457200" indent="-457200">
              <a:buFont typeface="Wingdings" panose="05000000000000000000" pitchFamily="2" charset="2"/>
              <a:buChar char="§"/>
            </a:pPr>
            <a:r>
              <a:rPr lang="en-US">
                <a:solidFill>
                  <a:srgbClr val="000000"/>
                </a:solidFill>
                <a:latin typeface="arial" panose="020B0604020202020204" pitchFamily="34" charset="0"/>
              </a:rPr>
              <a:t>Integrity</a:t>
            </a:r>
            <a:endParaRPr lang="en-US"/>
          </a:p>
        </p:txBody>
      </p:sp>
      <p:sp>
        <p:nvSpPr>
          <p:cNvPr id="13" name="Rectangle 12">
            <a:extLst>
              <a:ext uri="{FF2B5EF4-FFF2-40B4-BE49-F238E27FC236}">
                <a16:creationId xmlns:a16="http://schemas.microsoft.com/office/drawing/2014/main" id="{F3509AA8-0CA5-48E7-8478-5CE6A5572C69}"/>
              </a:ext>
            </a:extLst>
          </p:cNvPr>
          <p:cNvSpPr/>
          <p:nvPr/>
        </p:nvSpPr>
        <p:spPr>
          <a:xfrm>
            <a:off x="868814" y="5156215"/>
            <a:ext cx="5788764" cy="523220"/>
          </a:xfrm>
          <a:prstGeom prst="rect">
            <a:avLst/>
          </a:prstGeom>
        </p:spPr>
        <p:txBody>
          <a:bodyPr wrap="none">
            <a:spAutoFit/>
          </a:bodyPr>
          <a:lstStyle/>
          <a:p>
            <a:pPr marL="457200" indent="-457200">
              <a:buFont typeface="Wingdings" panose="05000000000000000000" pitchFamily="2" charset="2"/>
              <a:buChar char="§"/>
            </a:pPr>
            <a:r>
              <a:rPr lang="en-US">
                <a:solidFill>
                  <a:srgbClr val="000000"/>
                </a:solidFill>
                <a:latin typeface="arial" panose="020B0604020202020204" pitchFamily="34" charset="0"/>
              </a:rPr>
              <a:t>Non-repudiation (Accountability)</a:t>
            </a:r>
            <a:endParaRPr lang="en-US"/>
          </a:p>
        </p:txBody>
      </p:sp>
      <p:sp>
        <p:nvSpPr>
          <p:cNvPr id="17" name="Rectangle 16">
            <a:extLst>
              <a:ext uri="{FF2B5EF4-FFF2-40B4-BE49-F238E27FC236}">
                <a16:creationId xmlns:a16="http://schemas.microsoft.com/office/drawing/2014/main" id="{69464221-2D12-402A-9BB2-5CC167591CE2}"/>
              </a:ext>
            </a:extLst>
          </p:cNvPr>
          <p:cNvSpPr/>
          <p:nvPr/>
        </p:nvSpPr>
        <p:spPr>
          <a:xfrm>
            <a:off x="941240" y="5874530"/>
            <a:ext cx="2339038" cy="523220"/>
          </a:xfrm>
          <a:prstGeom prst="rect">
            <a:avLst/>
          </a:prstGeom>
        </p:spPr>
        <p:txBody>
          <a:bodyPr wrap="none">
            <a:spAutoFit/>
          </a:bodyPr>
          <a:lstStyle/>
          <a:p>
            <a:pPr marL="457200" indent="-457200">
              <a:buFont typeface="Wingdings" panose="05000000000000000000" pitchFamily="2" charset="2"/>
              <a:buChar char="§"/>
            </a:pPr>
            <a:r>
              <a:rPr lang="en-US">
                <a:solidFill>
                  <a:srgbClr val="000000"/>
                </a:solidFill>
                <a:latin typeface="arial" panose="020B0604020202020204" pitchFamily="34" charset="0"/>
              </a:rPr>
              <a:t>Availability</a:t>
            </a:r>
            <a:endParaRPr lang="en-US"/>
          </a:p>
        </p:txBody>
      </p:sp>
      <p:sp>
        <p:nvSpPr>
          <p:cNvPr id="18" name="Rectangle 17">
            <a:extLst>
              <a:ext uri="{FF2B5EF4-FFF2-40B4-BE49-F238E27FC236}">
                <a16:creationId xmlns:a16="http://schemas.microsoft.com/office/drawing/2014/main" id="{9BB79019-F4EA-429D-A8FD-4425949F1F96}"/>
              </a:ext>
            </a:extLst>
          </p:cNvPr>
          <p:cNvSpPr/>
          <p:nvPr/>
        </p:nvSpPr>
        <p:spPr>
          <a:xfrm>
            <a:off x="868814" y="2870557"/>
            <a:ext cx="1824538" cy="523220"/>
          </a:xfrm>
          <a:prstGeom prst="rect">
            <a:avLst/>
          </a:prstGeom>
        </p:spPr>
        <p:txBody>
          <a:bodyPr wrap="none">
            <a:spAutoFit/>
          </a:bodyPr>
          <a:lstStyle/>
          <a:p>
            <a:pPr marL="457200" indent="-457200">
              <a:buFont typeface="Wingdings" panose="05000000000000000000" pitchFamily="2" charset="2"/>
              <a:buChar char="§"/>
            </a:pPr>
            <a:r>
              <a:rPr lang="en-US">
                <a:solidFill>
                  <a:srgbClr val="000000"/>
                </a:solidFill>
                <a:latin typeface="arial" panose="020B0604020202020204" pitchFamily="34" charset="0"/>
              </a:rPr>
              <a:t>Privacy</a:t>
            </a:r>
            <a:endParaRPr lang="en-US"/>
          </a:p>
        </p:txBody>
      </p:sp>
      <p:sp>
        <p:nvSpPr>
          <p:cNvPr id="21" name="TextBox 20">
            <a:extLst>
              <a:ext uri="{FF2B5EF4-FFF2-40B4-BE49-F238E27FC236}">
                <a16:creationId xmlns:a16="http://schemas.microsoft.com/office/drawing/2014/main" id="{A9450067-7C88-4CD5-AD2C-13AE90EDFB1B}"/>
              </a:ext>
            </a:extLst>
          </p:cNvPr>
          <p:cNvSpPr txBox="1"/>
          <p:nvPr/>
        </p:nvSpPr>
        <p:spPr>
          <a:xfrm>
            <a:off x="1447220" y="1617683"/>
            <a:ext cx="1188146" cy="584775"/>
          </a:xfrm>
          <a:prstGeom prst="rect">
            <a:avLst/>
          </a:prstGeom>
          <a:noFill/>
        </p:spPr>
        <p:txBody>
          <a:bodyPr wrap="none" rtlCol="0">
            <a:spAutoFit/>
          </a:bodyPr>
          <a:lstStyle/>
          <a:p>
            <a:r>
              <a:rPr lang="en-US" sz="3200" b="1" u="sng"/>
              <a:t>Goals</a:t>
            </a:r>
          </a:p>
        </p:txBody>
      </p:sp>
      <p:sp>
        <p:nvSpPr>
          <p:cNvPr id="19" name="TextBox 18">
            <a:extLst>
              <a:ext uri="{FF2B5EF4-FFF2-40B4-BE49-F238E27FC236}">
                <a16:creationId xmlns:a16="http://schemas.microsoft.com/office/drawing/2014/main" id="{29B02A3E-5BF7-49E2-B316-01B3196F0894}"/>
              </a:ext>
            </a:extLst>
          </p:cNvPr>
          <p:cNvSpPr txBox="1"/>
          <p:nvPr/>
        </p:nvSpPr>
        <p:spPr>
          <a:xfrm>
            <a:off x="6666870" y="1962616"/>
            <a:ext cx="5440913" cy="1815882"/>
          </a:xfrm>
          <a:prstGeom prst="rect">
            <a:avLst/>
          </a:prstGeom>
          <a:noFill/>
        </p:spPr>
        <p:txBody>
          <a:bodyPr wrap="square" rtlCol="0">
            <a:spAutoFit/>
          </a:bodyPr>
          <a:lstStyle/>
          <a:p>
            <a:r>
              <a:rPr lang="en-US" b="1"/>
              <a:t>Cipher systems</a:t>
            </a:r>
          </a:p>
          <a:p>
            <a:pPr lvl="1"/>
            <a:r>
              <a:rPr lang="en-US"/>
              <a:t>- Sysmmetric (AES)</a:t>
            </a:r>
          </a:p>
          <a:p>
            <a:pPr lvl="1"/>
            <a:r>
              <a:rPr lang="en-US"/>
              <a:t>- Asymmetric (RSA, ECC, CRYSTALS-KYBER)</a:t>
            </a:r>
          </a:p>
        </p:txBody>
      </p:sp>
      <p:sp>
        <p:nvSpPr>
          <p:cNvPr id="7" name="Arrow: Down 6">
            <a:extLst>
              <a:ext uri="{FF2B5EF4-FFF2-40B4-BE49-F238E27FC236}">
                <a16:creationId xmlns:a16="http://schemas.microsoft.com/office/drawing/2014/main" id="{E047D41A-855E-42CF-87CF-9427AB1E5E96}"/>
              </a:ext>
            </a:extLst>
          </p:cNvPr>
          <p:cNvSpPr/>
          <p:nvPr/>
        </p:nvSpPr>
        <p:spPr bwMode="auto">
          <a:xfrm rot="5400000">
            <a:off x="5874611" y="2661350"/>
            <a:ext cx="442776" cy="768945"/>
          </a:xfrm>
          <a:prstGeom prst="downArrow">
            <a:avLst>
              <a:gd name="adj1" fmla="val 50000"/>
              <a:gd name="adj2" fmla="val 50000"/>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imes" pitchFamily="18" charset="0"/>
            </a:endParaRPr>
          </a:p>
        </p:txBody>
      </p:sp>
      <p:cxnSp>
        <p:nvCxnSpPr>
          <p:cNvPr id="12" name="Straight Connector 11">
            <a:extLst>
              <a:ext uri="{FF2B5EF4-FFF2-40B4-BE49-F238E27FC236}">
                <a16:creationId xmlns:a16="http://schemas.microsoft.com/office/drawing/2014/main" id="{E565FA75-E241-43CE-A253-43C984C3B8BD}"/>
              </a:ext>
            </a:extLst>
          </p:cNvPr>
          <p:cNvCxnSpPr>
            <a:cxnSpLocks/>
          </p:cNvCxnSpPr>
          <p:nvPr/>
        </p:nvCxnSpPr>
        <p:spPr bwMode="auto">
          <a:xfrm>
            <a:off x="941240" y="3722324"/>
            <a:ext cx="1032393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5" name="Straight Connector 24">
            <a:extLst>
              <a:ext uri="{FF2B5EF4-FFF2-40B4-BE49-F238E27FC236}">
                <a16:creationId xmlns:a16="http://schemas.microsoft.com/office/drawing/2014/main" id="{B59BED67-D942-4C52-B01A-F026B76D8866}"/>
              </a:ext>
            </a:extLst>
          </p:cNvPr>
          <p:cNvCxnSpPr>
            <a:cxnSpLocks/>
          </p:cNvCxnSpPr>
          <p:nvPr/>
        </p:nvCxnSpPr>
        <p:spPr bwMode="auto">
          <a:xfrm>
            <a:off x="911424" y="5679435"/>
            <a:ext cx="10323938"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22" name="TextBox 21">
            <a:extLst>
              <a:ext uri="{FF2B5EF4-FFF2-40B4-BE49-F238E27FC236}">
                <a16:creationId xmlns:a16="http://schemas.microsoft.com/office/drawing/2014/main" id="{3C0D91C8-2F67-46F2-9407-5E1BDEA2A676}"/>
              </a:ext>
            </a:extLst>
          </p:cNvPr>
          <p:cNvSpPr txBox="1"/>
          <p:nvPr/>
        </p:nvSpPr>
        <p:spPr>
          <a:xfrm>
            <a:off x="6594681" y="3901106"/>
            <a:ext cx="5788764" cy="1384995"/>
          </a:xfrm>
          <a:prstGeom prst="rect">
            <a:avLst/>
          </a:prstGeom>
          <a:noFill/>
        </p:spPr>
        <p:txBody>
          <a:bodyPr wrap="square" rtlCol="0">
            <a:spAutoFit/>
          </a:bodyPr>
          <a:lstStyle/>
          <a:p>
            <a:r>
              <a:rPr lang="en-US"/>
              <a:t>Hash functions</a:t>
            </a:r>
          </a:p>
          <a:p>
            <a:r>
              <a:rPr lang="en-US"/>
              <a:t>Message authentication code (MAC)</a:t>
            </a:r>
          </a:p>
          <a:p>
            <a:r>
              <a:rPr lang="en-US"/>
              <a:t>Digital signature (digital certificate)</a:t>
            </a:r>
          </a:p>
        </p:txBody>
      </p:sp>
      <p:sp>
        <p:nvSpPr>
          <p:cNvPr id="28" name="Arrow: Down 27">
            <a:extLst>
              <a:ext uri="{FF2B5EF4-FFF2-40B4-BE49-F238E27FC236}">
                <a16:creationId xmlns:a16="http://schemas.microsoft.com/office/drawing/2014/main" id="{00A880F4-1F07-46C6-8759-D02C15F31F10}"/>
              </a:ext>
            </a:extLst>
          </p:cNvPr>
          <p:cNvSpPr/>
          <p:nvPr/>
        </p:nvSpPr>
        <p:spPr bwMode="auto">
          <a:xfrm rot="5400000">
            <a:off x="5852003" y="4227341"/>
            <a:ext cx="442778" cy="768945"/>
          </a:xfrm>
          <a:prstGeom prst="downArrow">
            <a:avLst>
              <a:gd name="adj1" fmla="val 50000"/>
              <a:gd name="adj2" fmla="val 50000"/>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imes" pitchFamily="18" charset="0"/>
            </a:endParaRPr>
          </a:p>
        </p:txBody>
      </p:sp>
      <p:sp>
        <p:nvSpPr>
          <p:cNvPr id="23" name="TextBox 22">
            <a:extLst>
              <a:ext uri="{FF2B5EF4-FFF2-40B4-BE49-F238E27FC236}">
                <a16:creationId xmlns:a16="http://schemas.microsoft.com/office/drawing/2014/main" id="{ECA299A4-3503-4AB1-A5EF-113F763FA59B}"/>
              </a:ext>
            </a:extLst>
          </p:cNvPr>
          <p:cNvSpPr txBox="1"/>
          <p:nvPr/>
        </p:nvSpPr>
        <p:spPr>
          <a:xfrm>
            <a:off x="7393014" y="1536584"/>
            <a:ext cx="1223412" cy="523220"/>
          </a:xfrm>
          <a:prstGeom prst="rect">
            <a:avLst/>
          </a:prstGeom>
          <a:noFill/>
        </p:spPr>
        <p:txBody>
          <a:bodyPr wrap="none" rtlCol="0">
            <a:spAutoFit/>
          </a:bodyPr>
          <a:lstStyle/>
          <a:p>
            <a:r>
              <a:rPr lang="en-US" b="1">
                <a:solidFill>
                  <a:srgbClr val="FF0000"/>
                </a:solidFill>
              </a:rPr>
              <a:t>What?</a:t>
            </a:r>
          </a:p>
        </p:txBody>
      </p:sp>
    </p:spTree>
    <p:extLst>
      <p:ext uri="{BB962C8B-B14F-4D97-AF65-F5344CB8AC3E}">
        <p14:creationId xmlns:p14="http://schemas.microsoft.com/office/powerpoint/2010/main" val="20277992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8BB0513-844B-49B2-BEF9-7DE6E9262912}"/>
              </a:ext>
            </a:extLst>
          </p:cNvPr>
          <p:cNvSpPr>
            <a:spLocks noGrp="1" noChangeArrowheads="1"/>
          </p:cNvSpPr>
          <p:nvPr>
            <p:ph type="title"/>
          </p:nvPr>
        </p:nvSpPr>
        <p:spPr>
          <a:xfrm>
            <a:off x="1258782" y="107362"/>
            <a:ext cx="6661248" cy="792163"/>
          </a:xfrm>
        </p:spPr>
        <p:txBody>
          <a:bodyPr/>
          <a:lstStyle/>
          <a:p>
            <a:pPr eaLnBrk="1" hangingPunct="1"/>
            <a:r>
              <a:rPr lang="en-GB" altLang="en-US"/>
              <a:t>H</a:t>
            </a:r>
            <a:r>
              <a:rPr lang="en-US" altLang="en-US"/>
              <a:t>ow </a:t>
            </a:r>
            <a:r>
              <a:rPr lang="en-GB" altLang="en-US"/>
              <a:t>cryptograph </a:t>
            </a:r>
            <a:r>
              <a:rPr lang="en-US" altLang="en-US"/>
              <a:t>works?</a:t>
            </a:r>
            <a:endParaRPr lang="en-GB" altLang="en-US"/>
          </a:p>
        </p:txBody>
      </p:sp>
      <p:sp>
        <p:nvSpPr>
          <p:cNvPr id="2" name="Rectangle 1">
            <a:extLst>
              <a:ext uri="{FF2B5EF4-FFF2-40B4-BE49-F238E27FC236}">
                <a16:creationId xmlns:a16="http://schemas.microsoft.com/office/drawing/2014/main" id="{4E2277A9-29C8-427E-BBD2-AFE18E2CE9EA}"/>
              </a:ext>
            </a:extLst>
          </p:cNvPr>
          <p:cNvSpPr/>
          <p:nvPr/>
        </p:nvSpPr>
        <p:spPr>
          <a:xfrm>
            <a:off x="695400" y="1016124"/>
            <a:ext cx="5670376" cy="523220"/>
          </a:xfrm>
          <a:prstGeom prst="rect">
            <a:avLst/>
          </a:prstGeom>
        </p:spPr>
        <p:txBody>
          <a:bodyPr wrap="square">
            <a:spAutoFit/>
          </a:bodyPr>
          <a:lstStyle/>
          <a:p>
            <a:r>
              <a:rPr lang="en-US" b="1"/>
              <a:t>1. Cipher systems</a:t>
            </a:r>
          </a:p>
        </p:txBody>
      </p:sp>
      <p:sp>
        <p:nvSpPr>
          <p:cNvPr id="5" name="TextBox 4">
            <a:extLst>
              <a:ext uri="{FF2B5EF4-FFF2-40B4-BE49-F238E27FC236}">
                <a16:creationId xmlns:a16="http://schemas.microsoft.com/office/drawing/2014/main" id="{3A159177-3460-4F4E-B44C-35288D69FC51}"/>
              </a:ext>
            </a:extLst>
          </p:cNvPr>
          <p:cNvSpPr txBox="1"/>
          <p:nvPr/>
        </p:nvSpPr>
        <p:spPr>
          <a:xfrm>
            <a:off x="551384" y="1851468"/>
            <a:ext cx="2520242" cy="523220"/>
          </a:xfrm>
          <a:prstGeom prst="rect">
            <a:avLst/>
          </a:prstGeom>
          <a:noFill/>
          <a:ln w="19050">
            <a:solidFill>
              <a:schemeClr val="tx1"/>
            </a:solidFill>
          </a:ln>
        </p:spPr>
        <p:txBody>
          <a:bodyPr wrap="none" rtlCol="0">
            <a:spAutoFit/>
          </a:bodyPr>
          <a:lstStyle/>
          <a:p>
            <a:r>
              <a:rPr lang="en-US">
                <a:solidFill>
                  <a:schemeClr val="accent2"/>
                </a:solidFill>
              </a:rPr>
              <a:t>“Readable data”</a:t>
            </a:r>
          </a:p>
        </p:txBody>
      </p:sp>
      <p:sp>
        <p:nvSpPr>
          <p:cNvPr id="6" name="TextBox 5">
            <a:extLst>
              <a:ext uri="{FF2B5EF4-FFF2-40B4-BE49-F238E27FC236}">
                <a16:creationId xmlns:a16="http://schemas.microsoft.com/office/drawing/2014/main" id="{9C0F943A-BB98-4426-BB25-D3C61B29E489}"/>
              </a:ext>
            </a:extLst>
          </p:cNvPr>
          <p:cNvSpPr txBox="1"/>
          <p:nvPr/>
        </p:nvSpPr>
        <p:spPr>
          <a:xfrm>
            <a:off x="6177497" y="1863343"/>
            <a:ext cx="2828018" cy="523220"/>
          </a:xfrm>
          <a:prstGeom prst="rect">
            <a:avLst/>
          </a:prstGeom>
          <a:noFill/>
          <a:ln w="19050">
            <a:solidFill>
              <a:schemeClr val="tx1"/>
            </a:solidFill>
          </a:ln>
        </p:spPr>
        <p:txBody>
          <a:bodyPr wrap="none" rtlCol="0">
            <a:spAutoFit/>
          </a:bodyPr>
          <a:lstStyle/>
          <a:p>
            <a:r>
              <a:rPr lang="en-US">
                <a:solidFill>
                  <a:srgbClr val="FF0000"/>
                </a:solidFill>
              </a:rPr>
              <a:t>“Unreadable data”</a:t>
            </a:r>
          </a:p>
        </p:txBody>
      </p:sp>
      <p:sp>
        <p:nvSpPr>
          <p:cNvPr id="7" name="TextBox 6">
            <a:extLst>
              <a:ext uri="{FF2B5EF4-FFF2-40B4-BE49-F238E27FC236}">
                <a16:creationId xmlns:a16="http://schemas.microsoft.com/office/drawing/2014/main" id="{EC5445D2-4398-409D-A549-573ACB36383A}"/>
              </a:ext>
            </a:extLst>
          </p:cNvPr>
          <p:cNvSpPr txBox="1"/>
          <p:nvPr/>
        </p:nvSpPr>
        <p:spPr>
          <a:xfrm>
            <a:off x="781181" y="2444603"/>
            <a:ext cx="1459054" cy="523220"/>
          </a:xfrm>
          <a:prstGeom prst="rect">
            <a:avLst/>
          </a:prstGeom>
          <a:noFill/>
        </p:spPr>
        <p:txBody>
          <a:bodyPr wrap="none" rtlCol="0">
            <a:spAutoFit/>
          </a:bodyPr>
          <a:lstStyle/>
          <a:p>
            <a:r>
              <a:rPr lang="en-US"/>
              <a:t>Plaintext</a:t>
            </a:r>
          </a:p>
        </p:txBody>
      </p:sp>
      <p:cxnSp>
        <p:nvCxnSpPr>
          <p:cNvPr id="9" name="Straight Arrow Connector 8">
            <a:extLst>
              <a:ext uri="{FF2B5EF4-FFF2-40B4-BE49-F238E27FC236}">
                <a16:creationId xmlns:a16="http://schemas.microsoft.com/office/drawing/2014/main" id="{6CF9D443-6DAF-43D8-9247-069E02CABB9C}"/>
              </a:ext>
            </a:extLst>
          </p:cNvPr>
          <p:cNvCxnSpPr/>
          <p:nvPr/>
        </p:nvCxnSpPr>
        <p:spPr bwMode="auto">
          <a:xfrm flipV="1">
            <a:off x="3430378" y="2206997"/>
            <a:ext cx="2545044" cy="11875"/>
          </a:xfrm>
          <a:prstGeom prst="straightConnector1">
            <a:avLst/>
          </a:prstGeom>
          <a:solidFill>
            <a:schemeClr val="accent1"/>
          </a:solidFill>
          <a:ln w="38100" cap="flat" cmpd="sng" algn="ctr">
            <a:solidFill>
              <a:schemeClr val="tx1"/>
            </a:solidFill>
            <a:prstDash val="solid"/>
            <a:round/>
            <a:headEnd type="none" w="med" len="med"/>
            <a:tailEnd type="arrow" w="med" len="med"/>
          </a:ln>
          <a:effectLst/>
        </p:spPr>
      </p:cxnSp>
      <p:sp>
        <p:nvSpPr>
          <p:cNvPr id="10" name="TextBox 9">
            <a:extLst>
              <a:ext uri="{FF2B5EF4-FFF2-40B4-BE49-F238E27FC236}">
                <a16:creationId xmlns:a16="http://schemas.microsoft.com/office/drawing/2014/main" id="{7DE94162-84A2-45EC-91BD-D59BA2145F51}"/>
              </a:ext>
            </a:extLst>
          </p:cNvPr>
          <p:cNvSpPr txBox="1"/>
          <p:nvPr/>
        </p:nvSpPr>
        <p:spPr>
          <a:xfrm>
            <a:off x="3157446" y="1601733"/>
            <a:ext cx="3090911" cy="523220"/>
          </a:xfrm>
          <a:prstGeom prst="rect">
            <a:avLst/>
          </a:prstGeom>
          <a:noFill/>
        </p:spPr>
        <p:txBody>
          <a:bodyPr wrap="none" rtlCol="0">
            <a:spAutoFit/>
          </a:bodyPr>
          <a:lstStyle/>
          <a:p>
            <a:r>
              <a:rPr lang="en-US"/>
              <a:t>“One-way function”</a:t>
            </a:r>
          </a:p>
        </p:txBody>
      </p:sp>
      <p:sp>
        <p:nvSpPr>
          <p:cNvPr id="11" name="Arrow: Down 10">
            <a:extLst>
              <a:ext uri="{FF2B5EF4-FFF2-40B4-BE49-F238E27FC236}">
                <a16:creationId xmlns:a16="http://schemas.microsoft.com/office/drawing/2014/main" id="{8781423F-026C-4915-8A98-2F909840559E}"/>
              </a:ext>
            </a:extLst>
          </p:cNvPr>
          <p:cNvSpPr/>
          <p:nvPr/>
        </p:nvSpPr>
        <p:spPr bwMode="auto">
          <a:xfrm>
            <a:off x="4373382" y="2522881"/>
            <a:ext cx="432048" cy="523220"/>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p:sp>
        <p:nvSpPr>
          <p:cNvPr id="12" name="TextBox 11">
            <a:extLst>
              <a:ext uri="{FF2B5EF4-FFF2-40B4-BE49-F238E27FC236}">
                <a16:creationId xmlns:a16="http://schemas.microsoft.com/office/drawing/2014/main" id="{BEAD951D-CB2C-4154-85F5-31478DD8F445}"/>
              </a:ext>
            </a:extLst>
          </p:cNvPr>
          <p:cNvSpPr txBox="1"/>
          <p:nvPr/>
        </p:nvSpPr>
        <p:spPr>
          <a:xfrm>
            <a:off x="6664650" y="2389238"/>
            <a:ext cx="1697901" cy="523220"/>
          </a:xfrm>
          <a:prstGeom prst="rect">
            <a:avLst/>
          </a:prstGeom>
          <a:noFill/>
        </p:spPr>
        <p:txBody>
          <a:bodyPr wrap="none" rtlCol="0">
            <a:spAutoFit/>
          </a:bodyPr>
          <a:lstStyle/>
          <a:p>
            <a:r>
              <a:rPr lang="en-US"/>
              <a:t>Ciphertext</a:t>
            </a:r>
          </a:p>
        </p:txBody>
      </p:sp>
      <p:cxnSp>
        <p:nvCxnSpPr>
          <p:cNvPr id="13" name="Straight Arrow Connector 12">
            <a:extLst>
              <a:ext uri="{FF2B5EF4-FFF2-40B4-BE49-F238E27FC236}">
                <a16:creationId xmlns:a16="http://schemas.microsoft.com/office/drawing/2014/main" id="{59DDA173-3561-439E-A3E2-D41D39EC1915}"/>
              </a:ext>
            </a:extLst>
          </p:cNvPr>
          <p:cNvCxnSpPr/>
          <p:nvPr/>
        </p:nvCxnSpPr>
        <p:spPr bwMode="auto">
          <a:xfrm flipV="1">
            <a:off x="3316884" y="3780126"/>
            <a:ext cx="2545044" cy="11875"/>
          </a:xfrm>
          <a:prstGeom prst="straightConnector1">
            <a:avLst/>
          </a:prstGeom>
          <a:solidFill>
            <a:schemeClr val="accent1"/>
          </a:solidFill>
          <a:ln w="38100" cap="flat" cmpd="sng" algn="ctr">
            <a:solidFill>
              <a:schemeClr val="accent2"/>
            </a:solidFill>
            <a:prstDash val="solid"/>
            <a:round/>
            <a:headEnd type="none" w="med" len="med"/>
            <a:tailEnd type="arrow" w="med" len="med"/>
          </a:ln>
          <a:effectLst/>
        </p:spPr>
      </p:cxnSp>
      <p:cxnSp>
        <p:nvCxnSpPr>
          <p:cNvPr id="14" name="Straight Arrow Connector 13">
            <a:extLst>
              <a:ext uri="{FF2B5EF4-FFF2-40B4-BE49-F238E27FC236}">
                <a16:creationId xmlns:a16="http://schemas.microsoft.com/office/drawing/2014/main" id="{03A8426F-D712-4B19-B841-2F3C28A537A0}"/>
              </a:ext>
            </a:extLst>
          </p:cNvPr>
          <p:cNvCxnSpPr/>
          <p:nvPr/>
        </p:nvCxnSpPr>
        <p:spPr bwMode="auto">
          <a:xfrm flipV="1">
            <a:off x="3316884" y="4534372"/>
            <a:ext cx="2545044" cy="11875"/>
          </a:xfrm>
          <a:prstGeom prst="straightConnector1">
            <a:avLst/>
          </a:prstGeom>
          <a:solidFill>
            <a:schemeClr val="accent1"/>
          </a:solidFill>
          <a:ln w="38100" cap="flat" cmpd="sng" algn="ctr">
            <a:solidFill>
              <a:srgbClr val="FF0000"/>
            </a:solidFill>
            <a:prstDash val="solid"/>
            <a:round/>
            <a:headEnd type="arrow" w="med" len="med"/>
            <a:tailEnd type="none" w="med" len="med"/>
          </a:ln>
          <a:effectLst/>
        </p:spPr>
      </p:cxnSp>
      <p:sp>
        <p:nvSpPr>
          <p:cNvPr id="15" name="TextBox 14">
            <a:extLst>
              <a:ext uri="{FF2B5EF4-FFF2-40B4-BE49-F238E27FC236}">
                <a16:creationId xmlns:a16="http://schemas.microsoft.com/office/drawing/2014/main" id="{E86B4373-6CDD-4083-B84E-F1B996DAE6AE}"/>
              </a:ext>
            </a:extLst>
          </p:cNvPr>
          <p:cNvSpPr txBox="1"/>
          <p:nvPr/>
        </p:nvSpPr>
        <p:spPr>
          <a:xfrm>
            <a:off x="2409963" y="3089679"/>
            <a:ext cx="4358886" cy="523220"/>
          </a:xfrm>
          <a:prstGeom prst="rect">
            <a:avLst/>
          </a:prstGeom>
          <a:noFill/>
        </p:spPr>
        <p:txBody>
          <a:bodyPr wrap="none" rtlCol="0">
            <a:spAutoFit/>
          </a:bodyPr>
          <a:lstStyle/>
          <a:p>
            <a:r>
              <a:rPr lang="en-US"/>
              <a:t>Encryption: Easy to compute</a:t>
            </a:r>
          </a:p>
        </p:txBody>
      </p:sp>
      <p:sp>
        <p:nvSpPr>
          <p:cNvPr id="16" name="TextBox 15">
            <a:extLst>
              <a:ext uri="{FF2B5EF4-FFF2-40B4-BE49-F238E27FC236}">
                <a16:creationId xmlns:a16="http://schemas.microsoft.com/office/drawing/2014/main" id="{AF6E6E6E-E09D-49F8-B229-0B603D6D2FE6}"/>
              </a:ext>
            </a:extLst>
          </p:cNvPr>
          <p:cNvSpPr txBox="1"/>
          <p:nvPr/>
        </p:nvSpPr>
        <p:spPr>
          <a:xfrm>
            <a:off x="1386353" y="4478719"/>
            <a:ext cx="7115987" cy="523220"/>
          </a:xfrm>
          <a:prstGeom prst="rect">
            <a:avLst/>
          </a:prstGeom>
          <a:noFill/>
          <a:ln>
            <a:noFill/>
          </a:ln>
        </p:spPr>
        <p:txBody>
          <a:bodyPr wrap="none" rtlCol="0">
            <a:spAutoFit/>
          </a:bodyPr>
          <a:lstStyle/>
          <a:p>
            <a:pPr marL="457200" indent="-457200">
              <a:buFont typeface="Wingdings" panose="05000000000000000000" pitchFamily="2" charset="2"/>
              <a:buChar char="§"/>
            </a:pPr>
            <a:r>
              <a:rPr lang="en-US">
                <a:solidFill>
                  <a:srgbClr val="FF0000"/>
                </a:solidFill>
              </a:rPr>
              <a:t>Hard</a:t>
            </a:r>
            <a:r>
              <a:rPr lang="en-US"/>
              <a:t> if user don’t know some special values </a:t>
            </a:r>
          </a:p>
        </p:txBody>
      </p:sp>
      <p:sp>
        <p:nvSpPr>
          <p:cNvPr id="18" name="TextBox 17">
            <a:extLst>
              <a:ext uri="{FF2B5EF4-FFF2-40B4-BE49-F238E27FC236}">
                <a16:creationId xmlns:a16="http://schemas.microsoft.com/office/drawing/2014/main" id="{D22D01F1-6662-48DB-9D2E-88D16C3FDA0B}"/>
              </a:ext>
            </a:extLst>
          </p:cNvPr>
          <p:cNvSpPr txBox="1"/>
          <p:nvPr/>
        </p:nvSpPr>
        <p:spPr>
          <a:xfrm>
            <a:off x="3505641" y="3880974"/>
            <a:ext cx="1798890" cy="523220"/>
          </a:xfrm>
          <a:prstGeom prst="rect">
            <a:avLst/>
          </a:prstGeom>
          <a:noFill/>
        </p:spPr>
        <p:txBody>
          <a:bodyPr wrap="none" rtlCol="0">
            <a:spAutoFit/>
          </a:bodyPr>
          <a:lstStyle/>
          <a:p>
            <a:r>
              <a:rPr lang="en-US"/>
              <a:t>Decryption</a:t>
            </a:r>
          </a:p>
        </p:txBody>
      </p:sp>
      <p:sp>
        <p:nvSpPr>
          <p:cNvPr id="20" name="TextBox 19">
            <a:extLst>
              <a:ext uri="{FF2B5EF4-FFF2-40B4-BE49-F238E27FC236}">
                <a16:creationId xmlns:a16="http://schemas.microsoft.com/office/drawing/2014/main" id="{FFDEBA17-E21B-40F6-938F-BEA508F10299}"/>
              </a:ext>
            </a:extLst>
          </p:cNvPr>
          <p:cNvSpPr txBox="1"/>
          <p:nvPr/>
        </p:nvSpPr>
        <p:spPr>
          <a:xfrm>
            <a:off x="1375293" y="4910767"/>
            <a:ext cx="8105104" cy="523220"/>
          </a:xfrm>
          <a:prstGeom prst="rect">
            <a:avLst/>
          </a:prstGeom>
          <a:noFill/>
        </p:spPr>
        <p:txBody>
          <a:bodyPr wrap="none" rtlCol="0">
            <a:spAutoFit/>
          </a:bodyPr>
          <a:lstStyle/>
          <a:p>
            <a:pPr marL="457200" indent="-457200">
              <a:buFont typeface="Wingdings" panose="05000000000000000000" pitchFamily="2" charset="2"/>
              <a:buChar char="§"/>
            </a:pPr>
            <a:r>
              <a:rPr lang="en-US">
                <a:solidFill>
                  <a:schemeClr val="accent2"/>
                </a:solidFill>
              </a:rPr>
              <a:t>Easy</a:t>
            </a:r>
            <a:r>
              <a:rPr lang="en-US"/>
              <a:t> if user know the special values (secret values) </a:t>
            </a:r>
          </a:p>
        </p:txBody>
      </p:sp>
      <p:sp>
        <p:nvSpPr>
          <p:cNvPr id="3" name="Rectangle 2">
            <a:extLst>
              <a:ext uri="{FF2B5EF4-FFF2-40B4-BE49-F238E27FC236}">
                <a16:creationId xmlns:a16="http://schemas.microsoft.com/office/drawing/2014/main" id="{F5A01E8C-10E2-4E4D-AF88-59D00F1E2048}"/>
              </a:ext>
            </a:extLst>
          </p:cNvPr>
          <p:cNvSpPr/>
          <p:nvPr/>
        </p:nvSpPr>
        <p:spPr>
          <a:xfrm>
            <a:off x="695400" y="5433987"/>
            <a:ext cx="6678488" cy="523220"/>
          </a:xfrm>
          <a:prstGeom prst="rect">
            <a:avLst/>
          </a:prstGeom>
        </p:spPr>
        <p:txBody>
          <a:bodyPr wrap="square">
            <a:spAutoFit/>
          </a:bodyPr>
          <a:lstStyle/>
          <a:p>
            <a:r>
              <a:rPr lang="en-US"/>
              <a:t>https://codebeautify.org/encrypt-decrypt</a:t>
            </a:r>
          </a:p>
        </p:txBody>
      </p:sp>
      <p:sp>
        <p:nvSpPr>
          <p:cNvPr id="8" name="Rectangle 7">
            <a:extLst>
              <a:ext uri="{FF2B5EF4-FFF2-40B4-BE49-F238E27FC236}">
                <a16:creationId xmlns:a16="http://schemas.microsoft.com/office/drawing/2014/main" id="{58582FF5-D10A-4E15-9DAC-A948D0A9AC89}"/>
              </a:ext>
            </a:extLst>
          </p:cNvPr>
          <p:cNvSpPr/>
          <p:nvPr/>
        </p:nvSpPr>
        <p:spPr>
          <a:xfrm>
            <a:off x="670992" y="5823918"/>
            <a:ext cx="9780984" cy="523220"/>
          </a:xfrm>
          <a:prstGeom prst="rect">
            <a:avLst/>
          </a:prstGeom>
        </p:spPr>
        <p:txBody>
          <a:bodyPr wrap="square">
            <a:spAutoFit/>
          </a:bodyPr>
          <a:lstStyle/>
          <a:p>
            <a:r>
              <a:rPr lang="en-US">
                <a:hlinkClick r:id="rId2">
                  <a:extLst>
                    <a:ext uri="{A12FA001-AC4F-418D-AE19-62706E023703}">
                      <ahyp:hlinkClr xmlns:ahyp="http://schemas.microsoft.com/office/drawing/2018/hyperlinkcolor" val="tx"/>
                    </a:ext>
                  </a:extLst>
                </a:hlinkClick>
              </a:rPr>
              <a:t>https://www.devglan.com/online-tools/aes-encryption-decryption</a:t>
            </a:r>
            <a:endParaRPr lang="en-US"/>
          </a:p>
        </p:txBody>
      </p:sp>
    </p:spTree>
    <p:extLst>
      <p:ext uri="{BB962C8B-B14F-4D97-AF65-F5344CB8AC3E}">
        <p14:creationId xmlns:p14="http://schemas.microsoft.com/office/powerpoint/2010/main" val="25990662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8BB0513-844B-49B2-BEF9-7DE6E9262912}"/>
              </a:ext>
            </a:extLst>
          </p:cNvPr>
          <p:cNvSpPr>
            <a:spLocks noGrp="1" noChangeArrowheads="1"/>
          </p:cNvSpPr>
          <p:nvPr>
            <p:ph type="title"/>
          </p:nvPr>
        </p:nvSpPr>
        <p:spPr>
          <a:xfrm>
            <a:off x="1487488" y="90244"/>
            <a:ext cx="6661248" cy="792163"/>
          </a:xfrm>
        </p:spPr>
        <p:txBody>
          <a:bodyPr/>
          <a:lstStyle/>
          <a:p>
            <a:pPr eaLnBrk="1" hangingPunct="1"/>
            <a:r>
              <a:rPr lang="en-GB" altLang="en-US"/>
              <a:t>H</a:t>
            </a:r>
            <a:r>
              <a:rPr lang="en-US" altLang="en-US"/>
              <a:t>ow </a:t>
            </a:r>
            <a:r>
              <a:rPr lang="en-GB" altLang="en-US"/>
              <a:t>cryptograph </a:t>
            </a:r>
            <a:r>
              <a:rPr lang="en-US" altLang="en-US"/>
              <a:t>works?</a:t>
            </a:r>
            <a:endParaRPr lang="en-GB" altLang="en-US"/>
          </a:p>
        </p:txBody>
      </p:sp>
      <p:sp>
        <p:nvSpPr>
          <p:cNvPr id="2" name="Rectangle 1">
            <a:extLst>
              <a:ext uri="{FF2B5EF4-FFF2-40B4-BE49-F238E27FC236}">
                <a16:creationId xmlns:a16="http://schemas.microsoft.com/office/drawing/2014/main" id="{4E2277A9-29C8-427E-BBD2-AFE18E2CE9EA}"/>
              </a:ext>
            </a:extLst>
          </p:cNvPr>
          <p:cNvSpPr/>
          <p:nvPr/>
        </p:nvSpPr>
        <p:spPr>
          <a:xfrm>
            <a:off x="695400" y="1124744"/>
            <a:ext cx="6912768" cy="523220"/>
          </a:xfrm>
          <a:prstGeom prst="rect">
            <a:avLst/>
          </a:prstGeom>
        </p:spPr>
        <p:txBody>
          <a:bodyPr wrap="square">
            <a:spAutoFit/>
          </a:bodyPr>
          <a:lstStyle/>
          <a:p>
            <a:r>
              <a:rPr lang="en-US" b="1"/>
              <a:t>2. Cryptographic hash functions</a:t>
            </a:r>
          </a:p>
        </p:txBody>
      </p:sp>
      <p:sp>
        <p:nvSpPr>
          <p:cNvPr id="5" name="TextBox 4">
            <a:extLst>
              <a:ext uri="{FF2B5EF4-FFF2-40B4-BE49-F238E27FC236}">
                <a16:creationId xmlns:a16="http://schemas.microsoft.com/office/drawing/2014/main" id="{3A159177-3460-4F4E-B44C-35288D69FC51}"/>
              </a:ext>
            </a:extLst>
          </p:cNvPr>
          <p:cNvSpPr txBox="1"/>
          <p:nvPr/>
        </p:nvSpPr>
        <p:spPr>
          <a:xfrm>
            <a:off x="576331" y="2097892"/>
            <a:ext cx="2520242" cy="523220"/>
          </a:xfrm>
          <a:prstGeom prst="rect">
            <a:avLst/>
          </a:prstGeom>
          <a:noFill/>
          <a:ln w="19050">
            <a:solidFill>
              <a:schemeClr val="tx1"/>
            </a:solidFill>
          </a:ln>
        </p:spPr>
        <p:txBody>
          <a:bodyPr wrap="none" rtlCol="0">
            <a:spAutoFit/>
          </a:bodyPr>
          <a:lstStyle/>
          <a:p>
            <a:r>
              <a:rPr lang="en-US">
                <a:solidFill>
                  <a:schemeClr val="accent2"/>
                </a:solidFill>
              </a:rPr>
              <a:t>“Readable data”</a:t>
            </a:r>
          </a:p>
        </p:txBody>
      </p:sp>
      <p:sp>
        <p:nvSpPr>
          <p:cNvPr id="6" name="TextBox 5">
            <a:extLst>
              <a:ext uri="{FF2B5EF4-FFF2-40B4-BE49-F238E27FC236}">
                <a16:creationId xmlns:a16="http://schemas.microsoft.com/office/drawing/2014/main" id="{9C0F943A-BB98-4426-BB25-D3C61B29E489}"/>
              </a:ext>
            </a:extLst>
          </p:cNvPr>
          <p:cNvSpPr txBox="1"/>
          <p:nvPr/>
        </p:nvSpPr>
        <p:spPr>
          <a:xfrm>
            <a:off x="6202444" y="2109767"/>
            <a:ext cx="2828018" cy="523220"/>
          </a:xfrm>
          <a:prstGeom prst="rect">
            <a:avLst/>
          </a:prstGeom>
          <a:noFill/>
          <a:ln w="19050">
            <a:solidFill>
              <a:schemeClr val="tx1"/>
            </a:solidFill>
          </a:ln>
        </p:spPr>
        <p:txBody>
          <a:bodyPr wrap="none" rtlCol="0">
            <a:spAutoFit/>
          </a:bodyPr>
          <a:lstStyle/>
          <a:p>
            <a:r>
              <a:rPr lang="en-US">
                <a:solidFill>
                  <a:srgbClr val="FF0000"/>
                </a:solidFill>
              </a:rPr>
              <a:t>“Unreadable data”</a:t>
            </a:r>
          </a:p>
        </p:txBody>
      </p:sp>
      <p:sp>
        <p:nvSpPr>
          <p:cNvPr id="7" name="TextBox 6">
            <a:extLst>
              <a:ext uri="{FF2B5EF4-FFF2-40B4-BE49-F238E27FC236}">
                <a16:creationId xmlns:a16="http://schemas.microsoft.com/office/drawing/2014/main" id="{EC5445D2-4398-409D-A549-573ACB36383A}"/>
              </a:ext>
            </a:extLst>
          </p:cNvPr>
          <p:cNvSpPr txBox="1"/>
          <p:nvPr/>
        </p:nvSpPr>
        <p:spPr>
          <a:xfrm>
            <a:off x="806128" y="2691027"/>
            <a:ext cx="1459054" cy="523220"/>
          </a:xfrm>
          <a:prstGeom prst="rect">
            <a:avLst/>
          </a:prstGeom>
          <a:noFill/>
        </p:spPr>
        <p:txBody>
          <a:bodyPr wrap="none" rtlCol="0">
            <a:spAutoFit/>
          </a:bodyPr>
          <a:lstStyle/>
          <a:p>
            <a:r>
              <a:rPr lang="en-US"/>
              <a:t>Plaintext</a:t>
            </a:r>
          </a:p>
        </p:txBody>
      </p:sp>
      <p:cxnSp>
        <p:nvCxnSpPr>
          <p:cNvPr id="9" name="Straight Arrow Connector 8">
            <a:extLst>
              <a:ext uri="{FF2B5EF4-FFF2-40B4-BE49-F238E27FC236}">
                <a16:creationId xmlns:a16="http://schemas.microsoft.com/office/drawing/2014/main" id="{6CF9D443-6DAF-43D8-9247-069E02CABB9C}"/>
              </a:ext>
            </a:extLst>
          </p:cNvPr>
          <p:cNvCxnSpPr/>
          <p:nvPr/>
        </p:nvCxnSpPr>
        <p:spPr bwMode="auto">
          <a:xfrm flipV="1">
            <a:off x="3455325" y="2453421"/>
            <a:ext cx="2545044" cy="11875"/>
          </a:xfrm>
          <a:prstGeom prst="straightConnector1">
            <a:avLst/>
          </a:prstGeom>
          <a:solidFill>
            <a:schemeClr val="accent1"/>
          </a:solidFill>
          <a:ln w="38100" cap="flat" cmpd="sng" algn="ctr">
            <a:solidFill>
              <a:schemeClr val="tx1"/>
            </a:solidFill>
            <a:prstDash val="solid"/>
            <a:round/>
            <a:headEnd type="none" w="med" len="med"/>
            <a:tailEnd type="arrow" w="med" len="med"/>
          </a:ln>
          <a:effectLst/>
        </p:spPr>
      </p:cxnSp>
      <p:sp>
        <p:nvSpPr>
          <p:cNvPr id="10" name="TextBox 9">
            <a:extLst>
              <a:ext uri="{FF2B5EF4-FFF2-40B4-BE49-F238E27FC236}">
                <a16:creationId xmlns:a16="http://schemas.microsoft.com/office/drawing/2014/main" id="{7DE94162-84A2-45EC-91BD-D59BA2145F51}"/>
              </a:ext>
            </a:extLst>
          </p:cNvPr>
          <p:cNvSpPr txBox="1"/>
          <p:nvPr/>
        </p:nvSpPr>
        <p:spPr>
          <a:xfrm>
            <a:off x="3182393" y="1848157"/>
            <a:ext cx="3090911" cy="523220"/>
          </a:xfrm>
          <a:prstGeom prst="rect">
            <a:avLst/>
          </a:prstGeom>
          <a:noFill/>
        </p:spPr>
        <p:txBody>
          <a:bodyPr wrap="none" rtlCol="0">
            <a:spAutoFit/>
          </a:bodyPr>
          <a:lstStyle/>
          <a:p>
            <a:r>
              <a:rPr lang="en-US"/>
              <a:t>“One-way function”</a:t>
            </a:r>
          </a:p>
        </p:txBody>
      </p:sp>
      <p:sp>
        <p:nvSpPr>
          <p:cNvPr id="11" name="Arrow: Down 10">
            <a:extLst>
              <a:ext uri="{FF2B5EF4-FFF2-40B4-BE49-F238E27FC236}">
                <a16:creationId xmlns:a16="http://schemas.microsoft.com/office/drawing/2014/main" id="{8781423F-026C-4915-8A98-2F909840559E}"/>
              </a:ext>
            </a:extLst>
          </p:cNvPr>
          <p:cNvSpPr/>
          <p:nvPr/>
        </p:nvSpPr>
        <p:spPr bwMode="auto">
          <a:xfrm>
            <a:off x="4398329" y="2769305"/>
            <a:ext cx="432048" cy="523220"/>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p:sp>
        <p:nvSpPr>
          <p:cNvPr id="12" name="TextBox 11">
            <a:extLst>
              <a:ext uri="{FF2B5EF4-FFF2-40B4-BE49-F238E27FC236}">
                <a16:creationId xmlns:a16="http://schemas.microsoft.com/office/drawing/2014/main" id="{BEAD951D-CB2C-4154-85F5-31478DD8F445}"/>
              </a:ext>
            </a:extLst>
          </p:cNvPr>
          <p:cNvSpPr txBox="1"/>
          <p:nvPr/>
        </p:nvSpPr>
        <p:spPr>
          <a:xfrm>
            <a:off x="6689597" y="2635662"/>
            <a:ext cx="2215671" cy="523220"/>
          </a:xfrm>
          <a:prstGeom prst="rect">
            <a:avLst/>
          </a:prstGeom>
          <a:noFill/>
        </p:spPr>
        <p:txBody>
          <a:bodyPr wrap="none" rtlCol="0">
            <a:spAutoFit/>
          </a:bodyPr>
          <a:lstStyle/>
          <a:p>
            <a:r>
              <a:rPr lang="en-US"/>
              <a:t>Digital digest </a:t>
            </a:r>
          </a:p>
        </p:txBody>
      </p:sp>
      <p:cxnSp>
        <p:nvCxnSpPr>
          <p:cNvPr id="13" name="Straight Arrow Connector 12">
            <a:extLst>
              <a:ext uri="{FF2B5EF4-FFF2-40B4-BE49-F238E27FC236}">
                <a16:creationId xmlns:a16="http://schemas.microsoft.com/office/drawing/2014/main" id="{59DDA173-3561-439E-A3E2-D41D39EC1915}"/>
              </a:ext>
            </a:extLst>
          </p:cNvPr>
          <p:cNvCxnSpPr/>
          <p:nvPr/>
        </p:nvCxnSpPr>
        <p:spPr bwMode="auto">
          <a:xfrm flipV="1">
            <a:off x="3341831" y="4026550"/>
            <a:ext cx="2545044" cy="11875"/>
          </a:xfrm>
          <a:prstGeom prst="straightConnector1">
            <a:avLst/>
          </a:prstGeom>
          <a:solidFill>
            <a:schemeClr val="accent1"/>
          </a:solidFill>
          <a:ln w="38100" cap="flat" cmpd="sng" algn="ctr">
            <a:solidFill>
              <a:schemeClr val="accent2"/>
            </a:solidFill>
            <a:prstDash val="solid"/>
            <a:round/>
            <a:headEnd type="none" w="med" len="med"/>
            <a:tailEnd type="arrow" w="med" len="med"/>
          </a:ln>
          <a:effectLst/>
        </p:spPr>
      </p:cxnSp>
      <p:cxnSp>
        <p:nvCxnSpPr>
          <p:cNvPr id="14" name="Straight Arrow Connector 13">
            <a:extLst>
              <a:ext uri="{FF2B5EF4-FFF2-40B4-BE49-F238E27FC236}">
                <a16:creationId xmlns:a16="http://schemas.microsoft.com/office/drawing/2014/main" id="{03A8426F-D712-4B19-B841-2F3C28A537A0}"/>
              </a:ext>
            </a:extLst>
          </p:cNvPr>
          <p:cNvCxnSpPr/>
          <p:nvPr/>
        </p:nvCxnSpPr>
        <p:spPr bwMode="auto">
          <a:xfrm flipV="1">
            <a:off x="3328928" y="5052131"/>
            <a:ext cx="2545044" cy="11875"/>
          </a:xfrm>
          <a:prstGeom prst="straightConnector1">
            <a:avLst/>
          </a:prstGeom>
          <a:solidFill>
            <a:schemeClr val="accent1"/>
          </a:solidFill>
          <a:ln w="38100" cap="flat" cmpd="sng" algn="ctr">
            <a:solidFill>
              <a:srgbClr val="FF0000"/>
            </a:solidFill>
            <a:prstDash val="solid"/>
            <a:round/>
            <a:headEnd type="arrow" w="med" len="med"/>
            <a:tailEnd type="none" w="med" len="med"/>
          </a:ln>
          <a:effectLst/>
        </p:spPr>
      </p:cxnSp>
      <p:sp>
        <p:nvSpPr>
          <p:cNvPr id="15" name="TextBox 14">
            <a:extLst>
              <a:ext uri="{FF2B5EF4-FFF2-40B4-BE49-F238E27FC236}">
                <a16:creationId xmlns:a16="http://schemas.microsoft.com/office/drawing/2014/main" id="{E86B4373-6CDD-4083-B84E-F1B996DAE6AE}"/>
              </a:ext>
            </a:extLst>
          </p:cNvPr>
          <p:cNvSpPr txBox="1"/>
          <p:nvPr/>
        </p:nvSpPr>
        <p:spPr>
          <a:xfrm>
            <a:off x="3328928" y="3451354"/>
            <a:ext cx="2574744" cy="523220"/>
          </a:xfrm>
          <a:prstGeom prst="rect">
            <a:avLst/>
          </a:prstGeom>
          <a:noFill/>
        </p:spPr>
        <p:txBody>
          <a:bodyPr wrap="none" rtlCol="0">
            <a:spAutoFit/>
          </a:bodyPr>
          <a:lstStyle/>
          <a:p>
            <a:r>
              <a:rPr lang="en-US"/>
              <a:t>Easy to compute</a:t>
            </a:r>
          </a:p>
        </p:txBody>
      </p:sp>
      <p:sp>
        <p:nvSpPr>
          <p:cNvPr id="16" name="TextBox 15">
            <a:extLst>
              <a:ext uri="{FF2B5EF4-FFF2-40B4-BE49-F238E27FC236}">
                <a16:creationId xmlns:a16="http://schemas.microsoft.com/office/drawing/2014/main" id="{AF6E6E6E-E09D-49F8-B229-0B603D6D2FE6}"/>
              </a:ext>
            </a:extLst>
          </p:cNvPr>
          <p:cNvSpPr txBox="1"/>
          <p:nvPr/>
        </p:nvSpPr>
        <p:spPr>
          <a:xfrm>
            <a:off x="2820106" y="4437413"/>
            <a:ext cx="3600922" cy="523220"/>
          </a:xfrm>
          <a:prstGeom prst="rect">
            <a:avLst/>
          </a:prstGeom>
          <a:noFill/>
        </p:spPr>
        <p:txBody>
          <a:bodyPr wrap="none" rtlCol="0">
            <a:spAutoFit/>
          </a:bodyPr>
          <a:lstStyle/>
          <a:p>
            <a:r>
              <a:rPr lang="en-US"/>
              <a:t>“Very hard” to compute</a:t>
            </a:r>
          </a:p>
        </p:txBody>
      </p:sp>
      <p:cxnSp>
        <p:nvCxnSpPr>
          <p:cNvPr id="4" name="Straight Connector 3">
            <a:extLst>
              <a:ext uri="{FF2B5EF4-FFF2-40B4-BE49-F238E27FC236}">
                <a16:creationId xmlns:a16="http://schemas.microsoft.com/office/drawing/2014/main" id="{0E8A1BF3-1132-4A79-ABEF-8D27796EB075}"/>
              </a:ext>
            </a:extLst>
          </p:cNvPr>
          <p:cNvCxnSpPr>
            <a:cxnSpLocks/>
          </p:cNvCxnSpPr>
          <p:nvPr/>
        </p:nvCxnSpPr>
        <p:spPr bwMode="auto">
          <a:xfrm>
            <a:off x="6528048" y="4530296"/>
            <a:ext cx="0" cy="792088"/>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9" name="TextBox 18">
            <a:extLst>
              <a:ext uri="{FF2B5EF4-FFF2-40B4-BE49-F238E27FC236}">
                <a16:creationId xmlns:a16="http://schemas.microsoft.com/office/drawing/2014/main" id="{CC6B0411-C379-4278-B1D0-747C1D1BBB00}"/>
              </a:ext>
            </a:extLst>
          </p:cNvPr>
          <p:cNvSpPr txBox="1"/>
          <p:nvPr/>
        </p:nvSpPr>
        <p:spPr>
          <a:xfrm>
            <a:off x="6635069" y="4664730"/>
            <a:ext cx="1470274" cy="523220"/>
          </a:xfrm>
          <a:prstGeom prst="rect">
            <a:avLst/>
          </a:prstGeom>
          <a:noFill/>
        </p:spPr>
        <p:txBody>
          <a:bodyPr wrap="none" rtlCol="0">
            <a:spAutoFit/>
          </a:bodyPr>
          <a:lstStyle/>
          <a:p>
            <a:r>
              <a:rPr lang="en-US" b="1"/>
              <a:t>All sides</a:t>
            </a:r>
          </a:p>
        </p:txBody>
      </p:sp>
      <p:sp>
        <p:nvSpPr>
          <p:cNvPr id="21" name="Rectangle 20">
            <a:extLst>
              <a:ext uri="{FF2B5EF4-FFF2-40B4-BE49-F238E27FC236}">
                <a16:creationId xmlns:a16="http://schemas.microsoft.com/office/drawing/2014/main" id="{040AC799-5279-4762-9911-C49E1B9F736E}"/>
              </a:ext>
            </a:extLst>
          </p:cNvPr>
          <p:cNvSpPr/>
          <p:nvPr/>
        </p:nvSpPr>
        <p:spPr>
          <a:xfrm>
            <a:off x="659876" y="5692805"/>
            <a:ext cx="9884283" cy="584775"/>
          </a:xfrm>
          <a:prstGeom prst="rect">
            <a:avLst/>
          </a:prstGeom>
        </p:spPr>
        <p:txBody>
          <a:bodyPr wrap="square">
            <a:spAutoFit/>
          </a:bodyPr>
          <a:lstStyle/>
          <a:p>
            <a:r>
              <a:rPr lang="en-US" sz="3200">
                <a:hlinkClick r:id="rId2">
                  <a:extLst>
                    <a:ext uri="{A12FA001-AC4F-418D-AE19-62706E023703}">
                      <ahyp:hlinkClr xmlns:ahyp="http://schemas.microsoft.com/office/drawing/2018/hyperlinkcolor" val="tx"/>
                    </a:ext>
                  </a:extLst>
                </a:hlinkClick>
              </a:rPr>
              <a:t>https://emn178.github.io/online-tools/sha3_512.html</a:t>
            </a:r>
            <a:endParaRPr lang="en-US" sz="3200"/>
          </a:p>
        </p:txBody>
      </p:sp>
    </p:spTree>
    <p:extLst>
      <p:ext uri="{BB962C8B-B14F-4D97-AF65-F5344CB8AC3E}">
        <p14:creationId xmlns:p14="http://schemas.microsoft.com/office/powerpoint/2010/main" val="9235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8BB0513-844B-49B2-BEF9-7DE6E9262912}"/>
              </a:ext>
            </a:extLst>
          </p:cNvPr>
          <p:cNvSpPr>
            <a:spLocks noGrp="1" noChangeArrowheads="1"/>
          </p:cNvSpPr>
          <p:nvPr>
            <p:ph type="title"/>
          </p:nvPr>
        </p:nvSpPr>
        <p:spPr>
          <a:xfrm>
            <a:off x="1162944" y="39481"/>
            <a:ext cx="6661248" cy="792163"/>
          </a:xfrm>
        </p:spPr>
        <p:txBody>
          <a:bodyPr/>
          <a:lstStyle/>
          <a:p>
            <a:pPr eaLnBrk="1" hangingPunct="1"/>
            <a:r>
              <a:rPr lang="en-GB" altLang="en-US"/>
              <a:t>H</a:t>
            </a:r>
            <a:r>
              <a:rPr lang="en-US" altLang="en-US"/>
              <a:t>ow </a:t>
            </a:r>
            <a:r>
              <a:rPr lang="en-GB" altLang="en-US"/>
              <a:t>cryptograph </a:t>
            </a:r>
            <a:r>
              <a:rPr lang="en-US" altLang="en-US"/>
              <a:t>works?</a:t>
            </a:r>
            <a:endParaRPr lang="en-GB" altLang="en-US"/>
          </a:p>
        </p:txBody>
      </p:sp>
      <p:sp>
        <p:nvSpPr>
          <p:cNvPr id="2" name="Rectangle 1">
            <a:extLst>
              <a:ext uri="{FF2B5EF4-FFF2-40B4-BE49-F238E27FC236}">
                <a16:creationId xmlns:a16="http://schemas.microsoft.com/office/drawing/2014/main" id="{4E2277A9-29C8-427E-BBD2-AFE18E2CE9EA}"/>
              </a:ext>
            </a:extLst>
          </p:cNvPr>
          <p:cNvSpPr/>
          <p:nvPr/>
        </p:nvSpPr>
        <p:spPr>
          <a:xfrm>
            <a:off x="425624" y="1052736"/>
            <a:ext cx="5670376" cy="523220"/>
          </a:xfrm>
          <a:prstGeom prst="rect">
            <a:avLst/>
          </a:prstGeom>
        </p:spPr>
        <p:txBody>
          <a:bodyPr wrap="square">
            <a:spAutoFit/>
          </a:bodyPr>
          <a:lstStyle/>
          <a:p>
            <a:r>
              <a:rPr lang="en-US" b="1"/>
              <a:t>3. Digital signature systems</a:t>
            </a:r>
          </a:p>
        </p:txBody>
      </p:sp>
      <p:sp>
        <p:nvSpPr>
          <p:cNvPr id="5" name="TextBox 4">
            <a:extLst>
              <a:ext uri="{FF2B5EF4-FFF2-40B4-BE49-F238E27FC236}">
                <a16:creationId xmlns:a16="http://schemas.microsoft.com/office/drawing/2014/main" id="{3A159177-3460-4F4E-B44C-35288D69FC51}"/>
              </a:ext>
            </a:extLst>
          </p:cNvPr>
          <p:cNvSpPr txBox="1"/>
          <p:nvPr/>
        </p:nvSpPr>
        <p:spPr>
          <a:xfrm>
            <a:off x="477724" y="1875365"/>
            <a:ext cx="2520242" cy="523220"/>
          </a:xfrm>
          <a:prstGeom prst="rect">
            <a:avLst/>
          </a:prstGeom>
          <a:noFill/>
          <a:ln w="19050">
            <a:solidFill>
              <a:schemeClr val="tx1"/>
            </a:solidFill>
          </a:ln>
        </p:spPr>
        <p:txBody>
          <a:bodyPr wrap="none" rtlCol="0">
            <a:spAutoFit/>
          </a:bodyPr>
          <a:lstStyle/>
          <a:p>
            <a:r>
              <a:rPr lang="en-US">
                <a:solidFill>
                  <a:schemeClr val="accent2"/>
                </a:solidFill>
              </a:rPr>
              <a:t>“Readable data”</a:t>
            </a:r>
          </a:p>
        </p:txBody>
      </p:sp>
      <p:sp>
        <p:nvSpPr>
          <p:cNvPr id="6" name="TextBox 5">
            <a:extLst>
              <a:ext uri="{FF2B5EF4-FFF2-40B4-BE49-F238E27FC236}">
                <a16:creationId xmlns:a16="http://schemas.microsoft.com/office/drawing/2014/main" id="{9C0F943A-BB98-4426-BB25-D3C61B29E489}"/>
              </a:ext>
            </a:extLst>
          </p:cNvPr>
          <p:cNvSpPr txBox="1"/>
          <p:nvPr/>
        </p:nvSpPr>
        <p:spPr>
          <a:xfrm>
            <a:off x="5989710" y="1924964"/>
            <a:ext cx="2828018" cy="523220"/>
          </a:xfrm>
          <a:prstGeom prst="rect">
            <a:avLst/>
          </a:prstGeom>
          <a:noFill/>
          <a:ln w="19050">
            <a:solidFill>
              <a:schemeClr val="tx1"/>
            </a:solidFill>
          </a:ln>
        </p:spPr>
        <p:txBody>
          <a:bodyPr wrap="none" rtlCol="0">
            <a:spAutoFit/>
          </a:bodyPr>
          <a:lstStyle/>
          <a:p>
            <a:r>
              <a:rPr lang="en-US">
                <a:solidFill>
                  <a:srgbClr val="FF0000"/>
                </a:solidFill>
              </a:rPr>
              <a:t>“Unreadable data”</a:t>
            </a:r>
          </a:p>
        </p:txBody>
      </p:sp>
      <p:cxnSp>
        <p:nvCxnSpPr>
          <p:cNvPr id="9" name="Straight Arrow Connector 8">
            <a:extLst>
              <a:ext uri="{FF2B5EF4-FFF2-40B4-BE49-F238E27FC236}">
                <a16:creationId xmlns:a16="http://schemas.microsoft.com/office/drawing/2014/main" id="{6CF9D443-6DAF-43D8-9247-069E02CABB9C}"/>
              </a:ext>
            </a:extLst>
          </p:cNvPr>
          <p:cNvCxnSpPr/>
          <p:nvPr/>
        </p:nvCxnSpPr>
        <p:spPr bwMode="auto">
          <a:xfrm flipV="1">
            <a:off x="3288710" y="2131038"/>
            <a:ext cx="2545044" cy="11875"/>
          </a:xfrm>
          <a:prstGeom prst="straightConnector1">
            <a:avLst/>
          </a:prstGeom>
          <a:solidFill>
            <a:schemeClr val="accent1"/>
          </a:solidFill>
          <a:ln w="38100" cap="flat" cmpd="sng" algn="ctr">
            <a:solidFill>
              <a:schemeClr val="tx1"/>
            </a:solidFill>
            <a:prstDash val="solid"/>
            <a:round/>
            <a:headEnd type="none" w="med" len="med"/>
            <a:tailEnd type="arrow" w="med" len="med"/>
          </a:ln>
          <a:effectLst/>
        </p:spPr>
      </p:cxnSp>
      <p:pic>
        <p:nvPicPr>
          <p:cNvPr id="1026" name="Picture 2" descr="Digital signature - Wikipedia">
            <a:extLst>
              <a:ext uri="{FF2B5EF4-FFF2-40B4-BE49-F238E27FC236}">
                <a16:creationId xmlns:a16="http://schemas.microsoft.com/office/drawing/2014/main" id="{176494D6-2715-453C-AE73-5974460D50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0965" y="2295957"/>
            <a:ext cx="4156447" cy="4063329"/>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Arrow Connector 7">
            <a:extLst>
              <a:ext uri="{FF2B5EF4-FFF2-40B4-BE49-F238E27FC236}">
                <a16:creationId xmlns:a16="http://schemas.microsoft.com/office/drawing/2014/main" id="{B4486EE6-EA74-42BB-804E-49C741EDEE92}"/>
              </a:ext>
            </a:extLst>
          </p:cNvPr>
          <p:cNvCxnSpPr/>
          <p:nvPr/>
        </p:nvCxnSpPr>
        <p:spPr bwMode="auto">
          <a:xfrm>
            <a:off x="1104848" y="2538937"/>
            <a:ext cx="1440160" cy="65199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C4D4C12D-9351-4B46-A7A1-6AD01B2FAD7A}"/>
              </a:ext>
            </a:extLst>
          </p:cNvPr>
          <p:cNvCxnSpPr>
            <a:cxnSpLocks/>
            <a:stCxn id="6" idx="2"/>
          </p:cNvCxnSpPr>
          <p:nvPr/>
        </p:nvCxnSpPr>
        <p:spPr bwMode="auto">
          <a:xfrm flipH="1">
            <a:off x="4875155" y="2448184"/>
            <a:ext cx="2528564" cy="1829896"/>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 name="TextBox 2">
            <a:extLst>
              <a:ext uri="{FF2B5EF4-FFF2-40B4-BE49-F238E27FC236}">
                <a16:creationId xmlns:a16="http://schemas.microsoft.com/office/drawing/2014/main" id="{3154BAD0-00C6-4B5D-B1BA-408E63A9321E}"/>
              </a:ext>
            </a:extLst>
          </p:cNvPr>
          <p:cNvSpPr txBox="1"/>
          <p:nvPr/>
        </p:nvSpPr>
        <p:spPr>
          <a:xfrm>
            <a:off x="695400" y="2667713"/>
            <a:ext cx="1527982" cy="523220"/>
          </a:xfrm>
          <a:prstGeom prst="rect">
            <a:avLst/>
          </a:prstGeom>
          <a:noFill/>
        </p:spPr>
        <p:txBody>
          <a:bodyPr wrap="none" rtlCol="0">
            <a:spAutoFit/>
          </a:bodyPr>
          <a:lstStyle/>
          <a:p>
            <a:r>
              <a:rPr lang="en-US"/>
              <a:t>Message </a:t>
            </a:r>
          </a:p>
        </p:txBody>
      </p:sp>
      <p:sp>
        <p:nvSpPr>
          <p:cNvPr id="11" name="TextBox 10">
            <a:extLst>
              <a:ext uri="{FF2B5EF4-FFF2-40B4-BE49-F238E27FC236}">
                <a16:creationId xmlns:a16="http://schemas.microsoft.com/office/drawing/2014/main" id="{A79D4676-9F1B-40A9-BD56-6F6B83CE7F83}"/>
              </a:ext>
            </a:extLst>
          </p:cNvPr>
          <p:cNvSpPr txBox="1"/>
          <p:nvPr/>
        </p:nvSpPr>
        <p:spPr>
          <a:xfrm>
            <a:off x="7025564" y="2698697"/>
            <a:ext cx="1649811" cy="523220"/>
          </a:xfrm>
          <a:prstGeom prst="rect">
            <a:avLst/>
          </a:prstGeom>
          <a:noFill/>
        </p:spPr>
        <p:txBody>
          <a:bodyPr wrap="none" rtlCol="0">
            <a:spAutoFit/>
          </a:bodyPr>
          <a:lstStyle/>
          <a:p>
            <a:r>
              <a:rPr lang="en-US"/>
              <a:t>Signature </a:t>
            </a:r>
          </a:p>
        </p:txBody>
      </p:sp>
      <p:sp>
        <p:nvSpPr>
          <p:cNvPr id="4" name="TextBox 3">
            <a:extLst>
              <a:ext uri="{FF2B5EF4-FFF2-40B4-BE49-F238E27FC236}">
                <a16:creationId xmlns:a16="http://schemas.microsoft.com/office/drawing/2014/main" id="{0D82BBA8-B139-4AA0-AB10-0797D6B94563}"/>
              </a:ext>
            </a:extLst>
          </p:cNvPr>
          <p:cNvSpPr txBox="1"/>
          <p:nvPr/>
        </p:nvSpPr>
        <p:spPr>
          <a:xfrm>
            <a:off x="6711328" y="5207157"/>
            <a:ext cx="2387192" cy="523220"/>
          </a:xfrm>
          <a:prstGeom prst="rect">
            <a:avLst/>
          </a:prstGeom>
          <a:noFill/>
        </p:spPr>
        <p:txBody>
          <a:bodyPr wrap="none" rtlCol="0">
            <a:spAutoFit/>
          </a:bodyPr>
          <a:lstStyle/>
          <a:p>
            <a:r>
              <a:rPr lang="en-US"/>
              <a:t>All other users</a:t>
            </a:r>
          </a:p>
        </p:txBody>
      </p:sp>
      <p:sp>
        <p:nvSpPr>
          <p:cNvPr id="7" name="Arrow: Right 6">
            <a:extLst>
              <a:ext uri="{FF2B5EF4-FFF2-40B4-BE49-F238E27FC236}">
                <a16:creationId xmlns:a16="http://schemas.microsoft.com/office/drawing/2014/main" id="{11A6ECD6-2B20-4D4B-88E0-9DED56AC1041}"/>
              </a:ext>
            </a:extLst>
          </p:cNvPr>
          <p:cNvSpPr/>
          <p:nvPr/>
        </p:nvSpPr>
        <p:spPr bwMode="auto">
          <a:xfrm>
            <a:off x="9067800" y="2052160"/>
            <a:ext cx="479389" cy="396024"/>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imes" pitchFamily="18" charset="0"/>
            </a:endParaRPr>
          </a:p>
        </p:txBody>
      </p:sp>
      <p:sp>
        <p:nvSpPr>
          <p:cNvPr id="10" name="TextBox 9">
            <a:extLst>
              <a:ext uri="{FF2B5EF4-FFF2-40B4-BE49-F238E27FC236}">
                <a16:creationId xmlns:a16="http://schemas.microsoft.com/office/drawing/2014/main" id="{FE42AF11-9573-4326-B0E4-066BB9AB6BA7}"/>
              </a:ext>
            </a:extLst>
          </p:cNvPr>
          <p:cNvSpPr txBox="1"/>
          <p:nvPr/>
        </p:nvSpPr>
        <p:spPr>
          <a:xfrm>
            <a:off x="9601816" y="1927792"/>
            <a:ext cx="2207656" cy="523220"/>
          </a:xfrm>
          <a:prstGeom prst="rect">
            <a:avLst/>
          </a:prstGeom>
          <a:noFill/>
        </p:spPr>
        <p:txBody>
          <a:bodyPr wrap="none" rtlCol="0">
            <a:spAutoFit/>
          </a:bodyPr>
          <a:lstStyle/>
          <a:p>
            <a:r>
              <a:rPr lang="en-US"/>
              <a:t>Signature part</a:t>
            </a:r>
          </a:p>
        </p:txBody>
      </p:sp>
    </p:spTree>
    <p:extLst>
      <p:ext uri="{BB962C8B-B14F-4D97-AF65-F5344CB8AC3E}">
        <p14:creationId xmlns:p14="http://schemas.microsoft.com/office/powerpoint/2010/main" val="22861855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The simplified model illustrates flow, with steps listed below&#10;• Cap X from data block open parens plaintext close parens points as input to encryption algorithm with secret key cap K, shared by sender and recipient&#10;• Transmitted cipher text cap Y equals cap E open parens cap K, cap X close parens to decryption algorithm with K as secret key.&#10;• From this an arrow pointing to the right labelled as cap X equals cap D open parens K, cap Y close to data block open parens plaintext output close parens.&#10;"/>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983432" y="1704508"/>
            <a:ext cx="10081119" cy="4536504"/>
          </a:xfrm>
          <a:prstGeom prst="rect">
            <a:avLst/>
          </a:prstGeom>
          <a:noFill/>
          <a:ln>
            <a:noFill/>
          </a:ln>
        </p:spPr>
      </p:pic>
      <p:sp>
        <p:nvSpPr>
          <p:cNvPr id="4" name="Title 3">
            <a:extLst>
              <a:ext uri="{FF2B5EF4-FFF2-40B4-BE49-F238E27FC236}">
                <a16:creationId xmlns:a16="http://schemas.microsoft.com/office/drawing/2014/main" id="{6D0BEEF7-523B-45D6-80BF-5A00BEE6F589}"/>
              </a:ext>
            </a:extLst>
          </p:cNvPr>
          <p:cNvSpPr>
            <a:spLocks noGrp="1"/>
          </p:cNvSpPr>
          <p:nvPr>
            <p:ph type="title"/>
          </p:nvPr>
        </p:nvSpPr>
        <p:spPr>
          <a:xfrm>
            <a:off x="1257781" y="107460"/>
            <a:ext cx="9002429" cy="799411"/>
          </a:xfrm>
        </p:spPr>
        <p:txBody>
          <a:bodyPr/>
          <a:lstStyle/>
          <a:p>
            <a:r>
              <a:rPr lang="en-GB" altLang="en-US"/>
              <a:t>Classical cipher systems </a:t>
            </a:r>
            <a:endParaRPr lang="en-US"/>
          </a:p>
        </p:txBody>
      </p:sp>
      <p:sp>
        <p:nvSpPr>
          <p:cNvPr id="7" name="Rectangle 2">
            <a:extLst>
              <a:ext uri="{FF2B5EF4-FFF2-40B4-BE49-F238E27FC236}">
                <a16:creationId xmlns:a16="http://schemas.microsoft.com/office/drawing/2014/main" id="{E9C520F6-698C-4EF7-A6BB-476BC298987E}"/>
              </a:ext>
            </a:extLst>
          </p:cNvPr>
          <p:cNvSpPr txBox="1">
            <a:spLocks noChangeArrowheads="1"/>
          </p:cNvSpPr>
          <p:nvPr/>
        </p:nvSpPr>
        <p:spPr bwMode="auto">
          <a:xfrm>
            <a:off x="623392" y="912345"/>
            <a:ext cx="6912768"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ctr" anchorCtr="0" compatLnSpc="1">
            <a:prstTxWarp prst="textNoShape">
              <a:avLst/>
            </a:prstTxWarp>
          </a:bodyP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charset="0"/>
              </a:defRPr>
            </a:lvl2pPr>
            <a:lvl3pPr algn="l" rtl="0" eaLnBrk="0" fontAlgn="base" hangingPunct="0">
              <a:spcBef>
                <a:spcPct val="0"/>
              </a:spcBef>
              <a:spcAft>
                <a:spcPct val="0"/>
              </a:spcAft>
              <a:defRPr sz="4400">
                <a:solidFill>
                  <a:schemeClr val="tx2"/>
                </a:solidFill>
                <a:latin typeface="Arial" charset="0"/>
              </a:defRPr>
            </a:lvl3pPr>
            <a:lvl4pPr algn="l" rtl="0" eaLnBrk="0" fontAlgn="base" hangingPunct="0">
              <a:spcBef>
                <a:spcPct val="0"/>
              </a:spcBef>
              <a:spcAft>
                <a:spcPct val="0"/>
              </a:spcAft>
              <a:defRPr sz="4400">
                <a:solidFill>
                  <a:schemeClr val="tx2"/>
                </a:solidFill>
                <a:latin typeface="Arial" charset="0"/>
              </a:defRPr>
            </a:lvl4pPr>
            <a:lvl5pPr algn="l" rtl="0" eaLnBrk="0" fontAlgn="base" hangingPunct="0">
              <a:spcBef>
                <a:spcPct val="0"/>
              </a:spcBef>
              <a:spcAft>
                <a:spcPct val="0"/>
              </a:spcAft>
              <a:defRPr sz="4400">
                <a:solidFill>
                  <a:schemeClr val="tx2"/>
                </a:solidFill>
                <a:latin typeface="Arial" charset="0"/>
              </a:defRPr>
            </a:lvl5pPr>
            <a:lvl6pPr marL="457200" algn="l" rtl="0" fontAlgn="base">
              <a:spcBef>
                <a:spcPct val="0"/>
              </a:spcBef>
              <a:spcAft>
                <a:spcPct val="0"/>
              </a:spcAft>
              <a:defRPr sz="4400">
                <a:solidFill>
                  <a:schemeClr val="tx2"/>
                </a:solidFill>
                <a:latin typeface="Arial" charset="0"/>
              </a:defRPr>
            </a:lvl6pPr>
            <a:lvl7pPr marL="914400" algn="l" rtl="0" fontAlgn="base">
              <a:spcBef>
                <a:spcPct val="0"/>
              </a:spcBef>
              <a:spcAft>
                <a:spcPct val="0"/>
              </a:spcAft>
              <a:defRPr sz="4400">
                <a:solidFill>
                  <a:schemeClr val="tx2"/>
                </a:solidFill>
                <a:latin typeface="Arial" charset="0"/>
              </a:defRPr>
            </a:lvl7pPr>
            <a:lvl8pPr marL="1371600" algn="l" rtl="0" fontAlgn="base">
              <a:spcBef>
                <a:spcPct val="0"/>
              </a:spcBef>
              <a:spcAft>
                <a:spcPct val="0"/>
              </a:spcAft>
              <a:defRPr sz="4400">
                <a:solidFill>
                  <a:schemeClr val="tx2"/>
                </a:solidFill>
                <a:latin typeface="Arial" charset="0"/>
              </a:defRPr>
            </a:lvl8pPr>
            <a:lvl9pPr marL="1828800" algn="l" rtl="0" fontAlgn="base">
              <a:spcBef>
                <a:spcPct val="0"/>
              </a:spcBef>
              <a:spcAft>
                <a:spcPct val="0"/>
              </a:spcAft>
              <a:defRPr sz="4400">
                <a:solidFill>
                  <a:schemeClr val="tx2"/>
                </a:solidFill>
                <a:latin typeface="Arial" charset="0"/>
              </a:defRPr>
            </a:lvl9pPr>
          </a:lstStyle>
          <a:p>
            <a:pPr marL="457200" indent="-457200" eaLnBrk="1" hangingPunct="1">
              <a:spcBef>
                <a:spcPct val="25000"/>
              </a:spcBef>
              <a:buFont typeface="Wingdings" panose="05000000000000000000" pitchFamily="2" charset="2"/>
              <a:buChar char="Ø"/>
            </a:pPr>
            <a:r>
              <a:rPr lang="en-GB" altLang="en-US" sz="3000" kern="0">
                <a:latin typeface="Tahoma" panose="020B0604030504040204" pitchFamily="34" charset="0"/>
                <a:ea typeface="Tahoma" panose="020B0604030504040204" pitchFamily="34" charset="0"/>
                <a:cs typeface="Tahoma" panose="020B0604030504040204" pitchFamily="34" charset="0"/>
              </a:rPr>
              <a:t>Symmetric cipher cryptosystems </a:t>
            </a:r>
          </a:p>
        </p:txBody>
      </p:sp>
    </p:spTree>
    <p:extLst>
      <p:ext uri="{BB962C8B-B14F-4D97-AF65-F5344CB8AC3E}">
        <p14:creationId xmlns:p14="http://schemas.microsoft.com/office/powerpoint/2010/main" val="1035825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5380" y="1210260"/>
            <a:ext cx="11161240" cy="2308314"/>
          </a:xfrm>
        </p:spPr>
        <p:txBody>
          <a:bodyPr wrap="square">
            <a:spAutoFit/>
          </a:bodyPr>
          <a:lstStyle/>
          <a:p>
            <a:r>
              <a:rPr lang="en-US" sz="2600"/>
              <a:t>There are two requirements for secure use of conventional encryption:</a:t>
            </a:r>
          </a:p>
          <a:p>
            <a:pPr lvl="1">
              <a:spcBef>
                <a:spcPts val="2400"/>
              </a:spcBef>
            </a:pPr>
            <a:r>
              <a:rPr lang="en-US" sz="2600">
                <a:solidFill>
                  <a:srgbClr val="FF0000"/>
                </a:solidFill>
              </a:rPr>
              <a:t>A strong encryption algorithm</a:t>
            </a:r>
          </a:p>
          <a:p>
            <a:pPr lvl="1">
              <a:spcBef>
                <a:spcPts val="2400"/>
              </a:spcBef>
            </a:pPr>
            <a:r>
              <a:rPr lang="en-US" sz="2600"/>
              <a:t>Sender and receiver must have obtained copies of </a:t>
            </a:r>
            <a:r>
              <a:rPr lang="en-US" sz="2600" b="1">
                <a:solidFill>
                  <a:srgbClr val="FF0000"/>
                </a:solidFill>
              </a:rPr>
              <a:t>the secret key </a:t>
            </a:r>
            <a:r>
              <a:rPr lang="en-US" sz="2600">
                <a:solidFill>
                  <a:srgbClr val="FF0000"/>
                </a:solidFill>
              </a:rPr>
              <a:t>in a secure fashion</a:t>
            </a:r>
            <a:r>
              <a:rPr lang="en-US" sz="2600"/>
              <a:t> and must keep the key secure</a:t>
            </a:r>
            <a:endParaRPr lang="en-AU" sz="2600"/>
          </a:p>
        </p:txBody>
      </p:sp>
      <p:pic>
        <p:nvPicPr>
          <p:cNvPr id="11" name="Picture Placeholder 10">
            <a:extLst>
              <a:ext uri="{C183D7F6-B498-43B3-948B-1728B52AA6E4}">
                <adec:decorative xmlns:adec="http://schemas.microsoft.com/office/drawing/2017/decorative" val="1"/>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tretch>
            <a:fillRect/>
          </a:stretch>
        </p:blipFill>
        <p:spPr>
          <a:xfrm>
            <a:off x="7535487" y="4493583"/>
            <a:ext cx="2670048" cy="1822704"/>
          </a:xfrm>
          <a:prstGeom prst="rect">
            <a:avLst/>
          </a:prstGeom>
          <a:noFill/>
          <a:ln>
            <a:noFill/>
          </a:ln>
        </p:spPr>
      </p:pic>
      <p:sp>
        <p:nvSpPr>
          <p:cNvPr id="10" name="Title 3">
            <a:extLst>
              <a:ext uri="{FF2B5EF4-FFF2-40B4-BE49-F238E27FC236}">
                <a16:creationId xmlns:a16="http://schemas.microsoft.com/office/drawing/2014/main" id="{74EEBF2B-3630-405B-966F-C79C5234D71D}"/>
              </a:ext>
            </a:extLst>
          </p:cNvPr>
          <p:cNvSpPr>
            <a:spLocks noGrp="1"/>
          </p:cNvSpPr>
          <p:nvPr>
            <p:ph type="title"/>
          </p:nvPr>
        </p:nvSpPr>
        <p:spPr>
          <a:xfrm>
            <a:off x="1487488" y="37823"/>
            <a:ext cx="7702550" cy="792163"/>
          </a:xfrm>
        </p:spPr>
        <p:txBody>
          <a:bodyPr/>
          <a:lstStyle/>
          <a:p>
            <a:r>
              <a:rPr lang="en-GB" altLang="en-US"/>
              <a:t>Classical cipher systems </a:t>
            </a:r>
            <a:endParaRPr lang="en-US"/>
          </a:p>
        </p:txBody>
      </p:sp>
    </p:spTree>
    <p:extLst>
      <p:ext uri="{BB962C8B-B14F-4D97-AF65-F5344CB8AC3E}">
        <p14:creationId xmlns:p14="http://schemas.microsoft.com/office/powerpoint/2010/main" val="1837661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A model illustrates flow with steps summarized below.&#10;&#10;• X leads from message source to encryption algorithm, which receives input from key source.&#10;• Y=E(K, X) leads to decryption algorithm, with flow also to cryptanalyst, which produces X hat and K hat.&#10;• The key source also sends K through secure channel to decryption algorithm.&#10;• Decryption algorithm sends X to destination.&#10;"/>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27457" y="1005579"/>
            <a:ext cx="10153500" cy="5379840"/>
          </a:xfrm>
          <a:prstGeom prst="rect">
            <a:avLst/>
          </a:prstGeom>
          <a:noFill/>
          <a:ln>
            <a:noFill/>
          </a:ln>
        </p:spPr>
      </p:pic>
      <p:sp>
        <p:nvSpPr>
          <p:cNvPr id="6" name="Title 3">
            <a:extLst>
              <a:ext uri="{FF2B5EF4-FFF2-40B4-BE49-F238E27FC236}">
                <a16:creationId xmlns:a16="http://schemas.microsoft.com/office/drawing/2014/main" id="{26591E58-588C-48A8-A9D6-434F6A2F2B26}"/>
              </a:ext>
            </a:extLst>
          </p:cNvPr>
          <p:cNvSpPr>
            <a:spLocks noGrp="1"/>
          </p:cNvSpPr>
          <p:nvPr>
            <p:ph type="title"/>
          </p:nvPr>
        </p:nvSpPr>
        <p:spPr>
          <a:xfrm>
            <a:off x="1487488" y="137317"/>
            <a:ext cx="7702550" cy="792163"/>
          </a:xfrm>
        </p:spPr>
        <p:txBody>
          <a:bodyPr/>
          <a:lstStyle/>
          <a:p>
            <a:r>
              <a:rPr lang="en-GB" altLang="en-US"/>
              <a:t>Classical cipher systems </a:t>
            </a:r>
            <a:endParaRPr lang="en-US"/>
          </a:p>
        </p:txBody>
      </p:sp>
      <p:sp>
        <p:nvSpPr>
          <p:cNvPr id="2" name="TextBox 1">
            <a:extLst>
              <a:ext uri="{FF2B5EF4-FFF2-40B4-BE49-F238E27FC236}">
                <a16:creationId xmlns:a16="http://schemas.microsoft.com/office/drawing/2014/main" id="{A9C6DD44-6952-9039-D9FB-FBFDF747607D}"/>
              </a:ext>
            </a:extLst>
          </p:cNvPr>
          <p:cNvSpPr txBox="1"/>
          <p:nvPr/>
        </p:nvSpPr>
        <p:spPr>
          <a:xfrm>
            <a:off x="6960640" y="1951371"/>
            <a:ext cx="3813865" cy="646331"/>
          </a:xfrm>
          <a:prstGeom prst="rect">
            <a:avLst/>
          </a:prstGeom>
          <a:noFill/>
        </p:spPr>
        <p:txBody>
          <a:bodyPr wrap="none" rtlCol="0">
            <a:spAutoFit/>
          </a:bodyPr>
          <a:lstStyle/>
          <a:p>
            <a:r>
              <a:rPr lang="en-US" sz="3600">
                <a:solidFill>
                  <a:srgbClr val="FF0000"/>
                </a:solidFill>
              </a:rPr>
              <a:t>1. Guest  secret key</a:t>
            </a:r>
          </a:p>
        </p:txBody>
      </p:sp>
      <p:sp>
        <p:nvSpPr>
          <p:cNvPr id="3" name="TextBox 2">
            <a:extLst>
              <a:ext uri="{FF2B5EF4-FFF2-40B4-BE49-F238E27FC236}">
                <a16:creationId xmlns:a16="http://schemas.microsoft.com/office/drawing/2014/main" id="{4FF22BC1-96F2-61CA-3254-FA76EBA43FF9}"/>
              </a:ext>
            </a:extLst>
          </p:cNvPr>
          <p:cNvSpPr txBox="1"/>
          <p:nvPr/>
        </p:nvSpPr>
        <p:spPr>
          <a:xfrm>
            <a:off x="6960640" y="798054"/>
            <a:ext cx="5464958" cy="1077218"/>
          </a:xfrm>
          <a:prstGeom prst="rect">
            <a:avLst/>
          </a:prstGeom>
          <a:noFill/>
        </p:spPr>
        <p:txBody>
          <a:bodyPr wrap="none" rtlCol="0">
            <a:spAutoFit/>
          </a:bodyPr>
          <a:lstStyle/>
          <a:p>
            <a:r>
              <a:rPr lang="en-US" sz="3200">
                <a:solidFill>
                  <a:srgbClr val="FF0000"/>
                </a:solidFill>
              </a:rPr>
              <a:t>2. Analize the decrypted </a:t>
            </a:r>
          </a:p>
          <a:p>
            <a:r>
              <a:rPr lang="en-US" sz="3200">
                <a:solidFill>
                  <a:srgbClr val="FF0000"/>
                </a:solidFill>
              </a:rPr>
              <a:t>to check  or adjust the guest key</a:t>
            </a:r>
          </a:p>
        </p:txBody>
      </p:sp>
    </p:spTree>
    <p:extLst>
      <p:ext uri="{BB962C8B-B14F-4D97-AF65-F5344CB8AC3E}">
        <p14:creationId xmlns:p14="http://schemas.microsoft.com/office/powerpoint/2010/main" val="643690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4764" y="218551"/>
            <a:ext cx="7704856" cy="646321"/>
          </a:xfrm>
        </p:spPr>
        <p:txBody>
          <a:bodyPr wrap="square">
            <a:spAutoFit/>
          </a:bodyPr>
          <a:lstStyle/>
          <a:p>
            <a:r>
              <a:rPr lang="en-IN" altLang="en-US" sz="3600" b="1">
                <a:ea typeface="ヒラギノ角ゴ Pro W3" charset="-128"/>
              </a:rPr>
              <a:t>Clascical Ciphers</a:t>
            </a:r>
            <a:endParaRPr lang="en-US" sz="2800"/>
          </a:p>
        </p:txBody>
      </p:sp>
      <p:pic>
        <p:nvPicPr>
          <p:cNvPr id="8" name="Picture Placeholder 7">
            <a:extLst>
              <a:ext uri="{C183D7F6-B498-43B3-948B-1728B52AA6E4}">
                <adec:decorative xmlns:adec="http://schemas.microsoft.com/office/drawing/2017/decorative" val="1"/>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tretch>
            <a:fillRect/>
          </a:stretch>
        </p:blipFill>
        <p:spPr>
          <a:xfrm>
            <a:off x="9083135" y="5228467"/>
            <a:ext cx="1119352" cy="1087821"/>
          </a:xfrm>
          <a:prstGeom prst="rect">
            <a:avLst/>
          </a:prstGeom>
          <a:noFill/>
          <a:ln>
            <a:noFill/>
          </a:ln>
        </p:spPr>
      </p:pic>
      <p:sp>
        <p:nvSpPr>
          <p:cNvPr id="9" name="Content Placeholder 3">
            <a:extLst>
              <a:ext uri="{FF2B5EF4-FFF2-40B4-BE49-F238E27FC236}">
                <a16:creationId xmlns:a16="http://schemas.microsoft.com/office/drawing/2014/main" id="{D2C7F64D-D50E-4A57-8139-2B4C03026C82}"/>
              </a:ext>
            </a:extLst>
          </p:cNvPr>
          <p:cNvSpPr>
            <a:spLocks noGrp="1"/>
          </p:cNvSpPr>
          <p:nvPr>
            <p:ph idx="1"/>
          </p:nvPr>
        </p:nvSpPr>
        <p:spPr>
          <a:xfrm>
            <a:off x="551384" y="1052736"/>
            <a:ext cx="8229600" cy="5007258"/>
          </a:xfrm>
        </p:spPr>
        <p:txBody>
          <a:bodyPr>
            <a:spAutoFit/>
          </a:bodyPr>
          <a:lstStyle/>
          <a:p>
            <a:pPr marL="0" indent="0">
              <a:lnSpc>
                <a:spcPct val="150000"/>
              </a:lnSpc>
              <a:buNone/>
            </a:pPr>
            <a:r>
              <a:rPr lang="en-IN" altLang="en-US" sz="2800" b="1">
                <a:ea typeface="ヒラギノ角ゴ Pro W3" charset="-128"/>
              </a:rPr>
              <a:t>1. Substitution</a:t>
            </a:r>
            <a:r>
              <a:rPr lang="en-IN" altLang="en-US" sz="2800">
                <a:ea typeface="ヒラギノ角ゴ Pro W3" charset="-128"/>
              </a:rPr>
              <a:t> Techniques</a:t>
            </a:r>
          </a:p>
          <a:p>
            <a:pPr lvl="1">
              <a:lnSpc>
                <a:spcPct val="150000"/>
              </a:lnSpc>
            </a:pPr>
            <a:r>
              <a:rPr lang="en-IN" altLang="en-US" sz="2800">
                <a:solidFill>
                  <a:srgbClr val="FF0000"/>
                </a:solidFill>
                <a:ea typeface="ヒラギノ角ゴ Pro W3" charset="-128"/>
              </a:rPr>
              <a:t>Monoalphabetic cipher (1-1</a:t>
            </a:r>
            <a:r>
              <a:rPr lang="en-IN" altLang="en-US" sz="2800">
                <a:ea typeface="ヒラギノ角ゴ Pro W3" charset="-128"/>
              </a:rPr>
              <a:t>)</a:t>
            </a:r>
          </a:p>
          <a:p>
            <a:pPr lvl="1">
              <a:lnSpc>
                <a:spcPct val="150000"/>
              </a:lnSpc>
            </a:pPr>
            <a:r>
              <a:rPr lang="en-IN" altLang="en-US" sz="2800">
                <a:solidFill>
                  <a:srgbClr val="FF0000"/>
                </a:solidFill>
                <a:ea typeface="ヒラギノ角ゴ Pro W3" charset="-128"/>
              </a:rPr>
              <a:t>Monoalphabetic cipher (1-n</a:t>
            </a:r>
            <a:r>
              <a:rPr lang="en-IN" altLang="en-US" sz="2800">
                <a:ea typeface="ヒラギノ角ゴ Pro W3" charset="-128"/>
              </a:rPr>
              <a:t>)</a:t>
            </a:r>
          </a:p>
          <a:p>
            <a:pPr lvl="1">
              <a:lnSpc>
                <a:spcPct val="150000"/>
              </a:lnSpc>
            </a:pPr>
            <a:r>
              <a:rPr lang="en-IN" altLang="en-US" sz="2800">
                <a:ea typeface="ヒラギノ角ゴ Pro W3" charset="-128"/>
              </a:rPr>
              <a:t>Polyalphabetic cipher (k-k)</a:t>
            </a:r>
          </a:p>
          <a:p>
            <a:pPr marL="0" indent="0">
              <a:lnSpc>
                <a:spcPct val="150000"/>
              </a:lnSpc>
              <a:buNone/>
            </a:pPr>
            <a:r>
              <a:rPr lang="en-AU" sz="2800" b="1"/>
              <a:t>2. Transposition</a:t>
            </a:r>
            <a:r>
              <a:rPr lang="en-AU" sz="2800"/>
              <a:t> </a:t>
            </a:r>
            <a:r>
              <a:rPr lang="en-IN" altLang="en-US" sz="2800">
                <a:ea typeface="ヒラギノ角ゴ Pro W3" charset="-128"/>
              </a:rPr>
              <a:t>Techniques</a:t>
            </a:r>
          </a:p>
          <a:p>
            <a:pPr marL="457200" lvl="1" indent="0">
              <a:lnSpc>
                <a:spcPct val="150000"/>
              </a:lnSpc>
              <a:buNone/>
            </a:pPr>
            <a:endParaRPr lang="en-IN" altLang="en-US" sz="2800">
              <a:ea typeface="ヒラギノ角ゴ Pro W3" charset="-128"/>
            </a:endParaRPr>
          </a:p>
          <a:p>
            <a:pPr marL="0" indent="0">
              <a:lnSpc>
                <a:spcPct val="150000"/>
              </a:lnSpc>
              <a:buNone/>
            </a:pPr>
            <a:endParaRPr lang="en-AU" sz="2600"/>
          </a:p>
        </p:txBody>
      </p:sp>
    </p:spTree>
    <p:extLst>
      <p:ext uri="{BB962C8B-B14F-4D97-AF65-F5344CB8AC3E}">
        <p14:creationId xmlns:p14="http://schemas.microsoft.com/office/powerpoint/2010/main" val="3440276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8279" y="221169"/>
            <a:ext cx="7704856" cy="615543"/>
          </a:xfrm>
        </p:spPr>
        <p:txBody>
          <a:bodyPr wrap="square">
            <a:spAutoFit/>
          </a:bodyPr>
          <a:lstStyle/>
          <a:p>
            <a:pPr lvl="1"/>
            <a:r>
              <a:rPr lang="en-IN" altLang="en-US" sz="3400" b="1">
                <a:ea typeface="ヒラギノ角ゴ Pro W3" charset="-128"/>
              </a:rPr>
              <a:t>Monoalphabetic cipher</a:t>
            </a:r>
          </a:p>
        </p:txBody>
      </p:sp>
      <p:sp>
        <p:nvSpPr>
          <p:cNvPr id="5" name="Content Placeholder 3">
            <a:extLst>
              <a:ext uri="{FF2B5EF4-FFF2-40B4-BE49-F238E27FC236}">
                <a16:creationId xmlns:a16="http://schemas.microsoft.com/office/drawing/2014/main" id="{2334BADB-F0AB-4FDB-B5AC-CE8DEB77F836}"/>
              </a:ext>
            </a:extLst>
          </p:cNvPr>
          <p:cNvSpPr txBox="1">
            <a:spLocks/>
          </p:cNvSpPr>
          <p:nvPr/>
        </p:nvSpPr>
        <p:spPr bwMode="auto">
          <a:xfrm>
            <a:off x="670720" y="980728"/>
            <a:ext cx="11521280" cy="6405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t" anchorCtr="0" compatLnSpc="1">
            <a:prstTxWarp prst="textNoShape">
              <a:avLst/>
            </a:prstTxWarp>
            <a:spAutoFit/>
          </a:bodyPr>
          <a:lstStyle>
            <a:lvl1pPr marL="342900" indent="-342900" algn="l" rtl="0" eaLnBrk="0" fontAlgn="base" hangingPunct="0">
              <a:spcBef>
                <a:spcPct val="20000"/>
              </a:spcBef>
              <a:spcAft>
                <a:spcPct val="0"/>
              </a:spcAft>
              <a:buClr>
                <a:srgbClr val="16AFC2"/>
              </a:buClr>
              <a:buSzPct val="125000"/>
              <a:buFont typeface="Wingdings" panose="05000000000000000000" pitchFamily="2" charset="2"/>
              <a:buChar char="§"/>
              <a:defRPr sz="1600">
                <a:solidFill>
                  <a:schemeClr val="tx1"/>
                </a:solidFill>
                <a:latin typeface="+mn-lt"/>
                <a:ea typeface="+mn-ea"/>
                <a:cs typeface="+mn-cs"/>
              </a:defRPr>
            </a:lvl1pPr>
            <a:lvl2pPr marL="742950" indent="-285750" algn="l" rtl="0" eaLnBrk="0" fontAlgn="base" hangingPunct="0">
              <a:spcBef>
                <a:spcPct val="20000"/>
              </a:spcBef>
              <a:spcAft>
                <a:spcPct val="0"/>
              </a:spcAft>
              <a:buClr>
                <a:srgbClr val="339966"/>
              </a:buClr>
              <a:buSzPct val="85000"/>
              <a:buFont typeface="Wingdings" panose="05000000000000000000" pitchFamily="2" charset="2"/>
              <a:buChar char="Ø"/>
              <a:defRPr sz="1600">
                <a:solidFill>
                  <a:schemeClr val="tx1"/>
                </a:solidFill>
                <a:latin typeface="+mn-lt"/>
              </a:defRPr>
            </a:lvl2pPr>
            <a:lvl3pPr marL="1143000" indent="-228600" algn="l" rtl="0" eaLnBrk="0" fontAlgn="base" hangingPunct="0">
              <a:spcBef>
                <a:spcPct val="20000"/>
              </a:spcBef>
              <a:spcAft>
                <a:spcPct val="0"/>
              </a:spcAft>
              <a:buSzPct val="150000"/>
              <a:buChar char="•"/>
              <a:defRPr sz="1600">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400">
                <a:solidFill>
                  <a:schemeClr val="tx1"/>
                </a:solidFill>
                <a:latin typeface="+mn-lt"/>
              </a:defRPr>
            </a:lvl6pPr>
            <a:lvl7pPr marL="2971800" indent="-228600" algn="l" rtl="0" fontAlgn="base">
              <a:spcBef>
                <a:spcPct val="20000"/>
              </a:spcBef>
              <a:spcAft>
                <a:spcPct val="0"/>
              </a:spcAft>
              <a:buChar char="»"/>
              <a:defRPr sz="1400">
                <a:solidFill>
                  <a:schemeClr val="tx1"/>
                </a:solidFill>
                <a:latin typeface="+mn-lt"/>
              </a:defRPr>
            </a:lvl7pPr>
            <a:lvl8pPr marL="3429000" indent="-228600" algn="l" rtl="0" fontAlgn="base">
              <a:spcBef>
                <a:spcPct val="20000"/>
              </a:spcBef>
              <a:spcAft>
                <a:spcPct val="0"/>
              </a:spcAft>
              <a:buChar char="»"/>
              <a:defRPr sz="1400">
                <a:solidFill>
                  <a:schemeClr val="tx1"/>
                </a:solidFill>
                <a:latin typeface="+mn-lt"/>
              </a:defRPr>
            </a:lvl8pPr>
            <a:lvl9pPr marL="3886200" indent="-228600" algn="l" rtl="0" fontAlgn="base">
              <a:spcBef>
                <a:spcPct val="20000"/>
              </a:spcBef>
              <a:spcAft>
                <a:spcPct val="0"/>
              </a:spcAft>
              <a:buChar char="»"/>
              <a:defRPr sz="1400">
                <a:solidFill>
                  <a:schemeClr val="tx1"/>
                </a:solidFill>
                <a:latin typeface="+mn-lt"/>
              </a:defRPr>
            </a:lvl9pPr>
          </a:lstStyle>
          <a:p>
            <a:r>
              <a:rPr lang="en-US" sz="2600" b="1" kern="0"/>
              <a:t>Monoalphabetic cipher</a:t>
            </a:r>
            <a:r>
              <a:rPr lang="en-US" sz="2600" kern="0"/>
              <a:t>: </a:t>
            </a:r>
          </a:p>
          <a:p>
            <a:pPr marL="400050" lvl="1" indent="0">
              <a:buNone/>
            </a:pPr>
            <a:r>
              <a:rPr lang="en-US" sz="2600" kern="0">
                <a:solidFill>
                  <a:srgbClr val="FF0000"/>
                </a:solidFill>
              </a:rPr>
              <a:t>1(letter, number) </a:t>
            </a:r>
            <a:r>
              <a:rPr lang="en-US" sz="2600" kern="0">
                <a:solidFill>
                  <a:srgbClr val="FF0000"/>
                </a:solidFill>
                <a:sym typeface="Wingdings" panose="05000000000000000000" pitchFamily="2" charset="2"/>
              </a:rPr>
              <a:t> </a:t>
            </a:r>
            <a:r>
              <a:rPr lang="en-US" sz="2600" kern="0">
                <a:solidFill>
                  <a:srgbClr val="FF0000"/>
                </a:solidFill>
              </a:rPr>
              <a:t>1 fixed symbol in ciphertext;</a:t>
            </a:r>
          </a:p>
          <a:p>
            <a:pPr marL="342900" marR="0" lvl="0" indent="-342900">
              <a:lnSpc>
                <a:spcPct val="115000"/>
              </a:lnSpc>
              <a:spcAft>
                <a:spcPts val="800"/>
              </a:spcAft>
              <a:buFont typeface="+mj-lt"/>
              <a:buAutoNum type="arabicPeriod"/>
              <a:tabLst>
                <a:tab pos="457200" algn="l"/>
              </a:tabLst>
            </a:pPr>
            <a:r>
              <a:rPr lang="en-US" sz="2400" b="1" kern="100">
                <a:effectLst/>
                <a:latin typeface="Tahoma" panose="020B0604030504040204" pitchFamily="34" charset="0"/>
                <a:ea typeface="Tahoma" panose="020B0604030504040204" pitchFamily="34" charset="0"/>
                <a:cs typeface="Tahoma" panose="020B0604030504040204" pitchFamily="34" charset="0"/>
              </a:rPr>
              <a:t>Caesar Cipher</a:t>
            </a:r>
            <a:br>
              <a:rPr lang="en-US" sz="2400" kern="100">
                <a:effectLst/>
                <a:latin typeface="Tahoma" panose="020B0604030504040204" pitchFamily="34" charset="0"/>
                <a:ea typeface="Tahoma" panose="020B0604030504040204" pitchFamily="34" charset="0"/>
                <a:cs typeface="Tahoma" panose="020B0604030504040204" pitchFamily="34" charset="0"/>
              </a:rPr>
            </a:br>
            <a:r>
              <a:rPr lang="en-US" sz="2400" kern="100">
                <a:effectLst/>
                <a:latin typeface="Tahoma" panose="020B0604030504040204" pitchFamily="34" charset="0"/>
                <a:ea typeface="Tahoma" panose="020B0604030504040204" pitchFamily="34" charset="0"/>
                <a:cs typeface="Tahoma" panose="020B0604030504040204" pitchFamily="34" charset="0"/>
              </a:rPr>
              <a:t>A shift cipher that replaces each letter with another letter a fixed number of positions down the alphabet.</a:t>
            </a:r>
          </a:p>
          <a:p>
            <a:pPr marL="342900" marR="0" lvl="0" indent="-342900">
              <a:lnSpc>
                <a:spcPct val="115000"/>
              </a:lnSpc>
              <a:spcAft>
                <a:spcPts val="800"/>
              </a:spcAft>
              <a:buFont typeface="+mj-lt"/>
              <a:buAutoNum type="arabicPeriod"/>
              <a:tabLst>
                <a:tab pos="457200" algn="l"/>
              </a:tabLst>
            </a:pPr>
            <a:r>
              <a:rPr lang="en-US" sz="2400" b="1" kern="100">
                <a:effectLst/>
                <a:latin typeface="Tahoma" panose="020B0604030504040204" pitchFamily="34" charset="0"/>
                <a:ea typeface="Tahoma" panose="020B0604030504040204" pitchFamily="34" charset="0"/>
                <a:cs typeface="Tahoma" panose="020B0604030504040204" pitchFamily="34" charset="0"/>
              </a:rPr>
              <a:t>ROT13</a:t>
            </a:r>
            <a:br>
              <a:rPr lang="en-US" sz="2400" kern="100">
                <a:effectLst/>
                <a:latin typeface="Tahoma" panose="020B0604030504040204" pitchFamily="34" charset="0"/>
                <a:ea typeface="Tahoma" panose="020B0604030504040204" pitchFamily="34" charset="0"/>
                <a:cs typeface="Tahoma" panose="020B0604030504040204" pitchFamily="34" charset="0"/>
              </a:rPr>
            </a:br>
            <a:r>
              <a:rPr lang="en-US" sz="2400" kern="100">
                <a:effectLst/>
                <a:latin typeface="Tahoma" panose="020B0604030504040204" pitchFamily="34" charset="0"/>
                <a:ea typeface="Tahoma" panose="020B0604030504040204" pitchFamily="34" charset="0"/>
                <a:cs typeface="Tahoma" panose="020B0604030504040204" pitchFamily="34" charset="0"/>
              </a:rPr>
              <a:t>A special case of the Caesar cipher with a shift of 13. Because the alphabet has 26 letters, applying ROT13 twice returns the original text.</a:t>
            </a:r>
          </a:p>
          <a:p>
            <a:pPr>
              <a:lnSpc>
                <a:spcPct val="115000"/>
              </a:lnSpc>
              <a:spcAft>
                <a:spcPts val="800"/>
              </a:spcAft>
              <a:buFont typeface="+mj-lt"/>
              <a:buAutoNum type="arabicPeriod"/>
              <a:tabLst>
                <a:tab pos="457200" algn="l"/>
              </a:tabLst>
            </a:pPr>
            <a:r>
              <a:rPr lang="en-US" sz="2400" b="1" kern="100">
                <a:latin typeface="Tahoma" panose="020B0604030504040204" pitchFamily="34" charset="0"/>
                <a:ea typeface="Tahoma" panose="020B0604030504040204" pitchFamily="34" charset="0"/>
                <a:cs typeface="Tahoma" panose="020B0604030504040204" pitchFamily="34" charset="0"/>
              </a:rPr>
              <a:t> Atbash Cipher</a:t>
            </a:r>
            <a:br>
              <a:rPr lang="en-US" sz="2400" kern="100">
                <a:latin typeface="Tahoma" panose="020B0604030504040204" pitchFamily="34" charset="0"/>
                <a:ea typeface="Tahoma" panose="020B0604030504040204" pitchFamily="34" charset="0"/>
                <a:cs typeface="Tahoma" panose="020B0604030504040204" pitchFamily="34" charset="0"/>
              </a:rPr>
            </a:br>
            <a:r>
              <a:rPr lang="en-US" sz="2400" kern="100">
                <a:latin typeface="Tahoma" panose="020B0604030504040204" pitchFamily="34" charset="0"/>
                <a:ea typeface="Tahoma" panose="020B0604030504040204" pitchFamily="34" charset="0"/>
                <a:cs typeface="Tahoma" panose="020B0604030504040204" pitchFamily="34" charset="0"/>
              </a:rPr>
              <a:t>A specific substitution cipher where the alphabet is reversed. A maps to Z, B maps to Y, and so on.</a:t>
            </a:r>
          </a:p>
          <a:p>
            <a:pPr marL="342900" marR="0" lvl="0" indent="-342900">
              <a:lnSpc>
                <a:spcPct val="115000"/>
              </a:lnSpc>
              <a:spcAft>
                <a:spcPts val="800"/>
              </a:spcAft>
              <a:buFont typeface="+mj-lt"/>
              <a:buAutoNum type="arabicPeriod"/>
              <a:tabLst>
                <a:tab pos="457200" algn="l"/>
              </a:tabLst>
            </a:pPr>
            <a:endParaRPr lang="en-US" sz="2400" kern="100">
              <a:effectLst/>
              <a:latin typeface="Tahoma" panose="020B0604030504040204" pitchFamily="34" charset="0"/>
              <a:ea typeface="Tahoma" panose="020B0604030504040204" pitchFamily="34" charset="0"/>
              <a:cs typeface="Tahoma" panose="020B0604030504040204" pitchFamily="34" charset="0"/>
            </a:endParaRPr>
          </a:p>
          <a:p>
            <a:pPr marL="400050" lvl="1" indent="0">
              <a:buNone/>
            </a:pPr>
            <a:endParaRPr lang="en-US" sz="2600" kern="0"/>
          </a:p>
        </p:txBody>
      </p:sp>
    </p:spTree>
    <p:extLst>
      <p:ext uri="{BB962C8B-B14F-4D97-AF65-F5344CB8AC3E}">
        <p14:creationId xmlns:p14="http://schemas.microsoft.com/office/powerpoint/2010/main" val="2065726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4A788-50EB-E00D-5C29-B5D62B25B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930133-595B-D9A4-94BC-ADD5513D04A3}"/>
              </a:ext>
            </a:extLst>
          </p:cNvPr>
          <p:cNvSpPr>
            <a:spLocks noGrp="1"/>
          </p:cNvSpPr>
          <p:nvPr>
            <p:ph type="title"/>
          </p:nvPr>
        </p:nvSpPr>
        <p:spPr>
          <a:xfrm>
            <a:off x="1378279" y="221169"/>
            <a:ext cx="7704856" cy="615543"/>
          </a:xfrm>
        </p:spPr>
        <p:txBody>
          <a:bodyPr wrap="square">
            <a:spAutoFit/>
          </a:bodyPr>
          <a:lstStyle/>
          <a:p>
            <a:pPr lvl="1"/>
            <a:r>
              <a:rPr lang="en-IN" altLang="en-US" sz="3400" b="1">
                <a:ea typeface="ヒラギノ角ゴ Pro W3" charset="-128"/>
              </a:rPr>
              <a:t>Monoalphabetic cipher</a:t>
            </a:r>
          </a:p>
        </p:txBody>
      </p:sp>
      <p:sp>
        <p:nvSpPr>
          <p:cNvPr id="5" name="Content Placeholder 3">
            <a:extLst>
              <a:ext uri="{FF2B5EF4-FFF2-40B4-BE49-F238E27FC236}">
                <a16:creationId xmlns:a16="http://schemas.microsoft.com/office/drawing/2014/main" id="{0EE8A8C0-FB1D-7649-8FB2-10C9F3D1156E}"/>
              </a:ext>
            </a:extLst>
          </p:cNvPr>
          <p:cNvSpPr txBox="1">
            <a:spLocks/>
          </p:cNvSpPr>
          <p:nvPr/>
        </p:nvSpPr>
        <p:spPr bwMode="auto">
          <a:xfrm>
            <a:off x="191344" y="908720"/>
            <a:ext cx="12097344" cy="5218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t" anchorCtr="0" compatLnSpc="1">
            <a:prstTxWarp prst="textNoShape">
              <a:avLst/>
            </a:prstTxWarp>
            <a:spAutoFit/>
          </a:bodyPr>
          <a:lstStyle>
            <a:lvl1pPr marL="342900" indent="-342900" algn="l" rtl="0" eaLnBrk="0" fontAlgn="base" hangingPunct="0">
              <a:spcBef>
                <a:spcPct val="20000"/>
              </a:spcBef>
              <a:spcAft>
                <a:spcPct val="0"/>
              </a:spcAft>
              <a:buClr>
                <a:srgbClr val="16AFC2"/>
              </a:buClr>
              <a:buSzPct val="125000"/>
              <a:buFont typeface="Wingdings" panose="05000000000000000000" pitchFamily="2" charset="2"/>
              <a:buChar char="§"/>
              <a:defRPr sz="1600">
                <a:solidFill>
                  <a:schemeClr val="tx1"/>
                </a:solidFill>
                <a:latin typeface="+mn-lt"/>
                <a:ea typeface="+mn-ea"/>
                <a:cs typeface="+mn-cs"/>
              </a:defRPr>
            </a:lvl1pPr>
            <a:lvl2pPr marL="742950" indent="-285750" algn="l" rtl="0" eaLnBrk="0" fontAlgn="base" hangingPunct="0">
              <a:spcBef>
                <a:spcPct val="20000"/>
              </a:spcBef>
              <a:spcAft>
                <a:spcPct val="0"/>
              </a:spcAft>
              <a:buClr>
                <a:srgbClr val="339966"/>
              </a:buClr>
              <a:buSzPct val="85000"/>
              <a:buFont typeface="Wingdings" panose="05000000000000000000" pitchFamily="2" charset="2"/>
              <a:buChar char="Ø"/>
              <a:defRPr sz="1600">
                <a:solidFill>
                  <a:schemeClr val="tx1"/>
                </a:solidFill>
                <a:latin typeface="+mn-lt"/>
              </a:defRPr>
            </a:lvl2pPr>
            <a:lvl3pPr marL="1143000" indent="-228600" algn="l" rtl="0" eaLnBrk="0" fontAlgn="base" hangingPunct="0">
              <a:spcBef>
                <a:spcPct val="20000"/>
              </a:spcBef>
              <a:spcAft>
                <a:spcPct val="0"/>
              </a:spcAft>
              <a:buSzPct val="150000"/>
              <a:buChar char="•"/>
              <a:defRPr sz="1600">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400">
                <a:solidFill>
                  <a:schemeClr val="tx1"/>
                </a:solidFill>
                <a:latin typeface="+mn-lt"/>
              </a:defRPr>
            </a:lvl6pPr>
            <a:lvl7pPr marL="2971800" indent="-228600" algn="l" rtl="0" fontAlgn="base">
              <a:spcBef>
                <a:spcPct val="20000"/>
              </a:spcBef>
              <a:spcAft>
                <a:spcPct val="0"/>
              </a:spcAft>
              <a:buChar char="»"/>
              <a:defRPr sz="1400">
                <a:solidFill>
                  <a:schemeClr val="tx1"/>
                </a:solidFill>
                <a:latin typeface="+mn-lt"/>
              </a:defRPr>
            </a:lvl7pPr>
            <a:lvl8pPr marL="3429000" indent="-228600" algn="l" rtl="0" fontAlgn="base">
              <a:spcBef>
                <a:spcPct val="20000"/>
              </a:spcBef>
              <a:spcAft>
                <a:spcPct val="0"/>
              </a:spcAft>
              <a:buChar char="»"/>
              <a:defRPr sz="1400">
                <a:solidFill>
                  <a:schemeClr val="tx1"/>
                </a:solidFill>
                <a:latin typeface="+mn-lt"/>
              </a:defRPr>
            </a:lvl8pPr>
            <a:lvl9pPr marL="3886200" indent="-228600" algn="l" rtl="0" fontAlgn="base">
              <a:spcBef>
                <a:spcPct val="20000"/>
              </a:spcBef>
              <a:spcAft>
                <a:spcPct val="0"/>
              </a:spcAft>
              <a:buChar char="»"/>
              <a:defRPr sz="1400">
                <a:solidFill>
                  <a:schemeClr val="tx1"/>
                </a:solidFill>
                <a:latin typeface="+mn-lt"/>
              </a:defRPr>
            </a:lvl9pPr>
          </a:lstStyle>
          <a:p>
            <a:pPr marL="514350" indent="-514350">
              <a:lnSpc>
                <a:spcPct val="115000"/>
              </a:lnSpc>
              <a:spcAft>
                <a:spcPts val="800"/>
              </a:spcAft>
              <a:buFont typeface="+mj-lt"/>
              <a:buAutoNum type="arabicPeriod" startAt="4"/>
              <a:tabLst>
                <a:tab pos="457200" algn="l"/>
              </a:tabLst>
            </a:pPr>
            <a:r>
              <a:rPr lang="en-US" sz="2600" b="1" kern="100">
                <a:latin typeface="Tahoma" panose="020B0604030504040204" pitchFamily="34" charset="0"/>
                <a:ea typeface="Tahoma" panose="020B0604030504040204" pitchFamily="34" charset="0"/>
                <a:cs typeface="Tahoma" panose="020B0604030504040204" pitchFamily="34" charset="0"/>
              </a:rPr>
              <a:t>Keyword Cipher</a:t>
            </a:r>
            <a:br>
              <a:rPr lang="en-US" sz="2600" kern="100">
                <a:latin typeface="Tahoma" panose="020B0604030504040204" pitchFamily="34" charset="0"/>
                <a:ea typeface="Tahoma" panose="020B0604030504040204" pitchFamily="34" charset="0"/>
                <a:cs typeface="Tahoma" panose="020B0604030504040204" pitchFamily="34" charset="0"/>
              </a:rPr>
            </a:br>
            <a:r>
              <a:rPr lang="en-US" sz="2600" kern="100">
                <a:latin typeface="Tahoma" panose="020B0604030504040204" pitchFamily="34" charset="0"/>
                <a:ea typeface="Tahoma" panose="020B0604030504040204" pitchFamily="34" charset="0"/>
                <a:cs typeface="Tahoma" panose="020B0604030504040204" pitchFamily="34" charset="0"/>
              </a:rPr>
              <a:t>Constructs a substitution alphabet by first writing a keyword (omitting duplicate letters) and then appending the remaining unused letters of the alphabet in order.</a:t>
            </a:r>
          </a:p>
          <a:p>
            <a:pPr marL="514350" marR="0" lvl="0" indent="-514350">
              <a:lnSpc>
                <a:spcPct val="115000"/>
              </a:lnSpc>
              <a:spcAft>
                <a:spcPts val="800"/>
              </a:spcAft>
              <a:buFont typeface="+mj-lt"/>
              <a:buAutoNum type="arabicPeriod" startAt="4"/>
              <a:tabLst>
                <a:tab pos="457200" algn="l"/>
              </a:tabLst>
            </a:pPr>
            <a:r>
              <a:rPr lang="en-US" sz="2600" b="1" kern="100">
                <a:effectLst/>
                <a:latin typeface="Aptos" panose="020B0004020202020204" pitchFamily="34" charset="0"/>
                <a:ea typeface="Aptos" panose="020B0004020202020204" pitchFamily="34" charset="0"/>
                <a:cs typeface="Times New Roman" panose="02020603050405020304" pitchFamily="18" charset="0"/>
              </a:rPr>
              <a:t> Affine Cipher</a:t>
            </a:r>
            <a:r>
              <a:rPr lang="en-US" sz="2600" b="1" kern="100">
                <a:latin typeface="Aptos" panose="020B0004020202020204" pitchFamily="34" charset="0"/>
                <a:ea typeface="Aptos" panose="020B0004020202020204" pitchFamily="34" charset="0"/>
                <a:cs typeface="Times New Roman" panose="02020603050405020304" pitchFamily="18" charset="0"/>
              </a:rPr>
              <a:t>: </a:t>
            </a:r>
            <a:r>
              <a:rPr lang="en-US" sz="2600" kern="100">
                <a:effectLst/>
                <a:latin typeface="Aptos" panose="020B0004020202020204" pitchFamily="34" charset="0"/>
                <a:ea typeface="Aptos" panose="020B0004020202020204" pitchFamily="34" charset="0"/>
                <a:cs typeface="Times New Roman" panose="02020603050405020304" pitchFamily="18" charset="0"/>
              </a:rPr>
              <a:t>E(x)=(</a:t>
            </a:r>
            <a:r>
              <a:rPr lang="en-US" sz="2600" kern="100" err="1">
                <a:effectLst/>
                <a:latin typeface="Aptos" panose="020B0004020202020204" pitchFamily="34" charset="0"/>
                <a:ea typeface="Aptos" panose="020B0004020202020204" pitchFamily="34" charset="0"/>
                <a:cs typeface="Times New Roman" panose="02020603050405020304" pitchFamily="18" charset="0"/>
              </a:rPr>
              <a:t>ax+b</a:t>
            </a:r>
            <a:r>
              <a:rPr lang="en-US" sz="2600" kern="100">
                <a:effectLst/>
                <a:latin typeface="Aptos" panose="020B0004020202020204" pitchFamily="34" charset="0"/>
                <a:ea typeface="Aptos" panose="020B0004020202020204" pitchFamily="34" charset="0"/>
                <a:cs typeface="Times New Roman" panose="02020603050405020304" pitchFamily="18" charset="0"/>
              </a:rPr>
              <a:t>) mod</a:t>
            </a:r>
            <a:r>
              <a:rPr lang="en-US" sz="2600" kern="100">
                <a:effectLst/>
                <a:latin typeface="Arial" panose="020B0604020202020204" pitchFamily="34" charset="0"/>
                <a:ea typeface="Aptos" panose="020B0004020202020204" pitchFamily="34" charset="0"/>
                <a:cs typeface="Times New Roman" panose="02020603050405020304" pitchFamily="18" charset="0"/>
              </a:rPr>
              <a:t>  </a:t>
            </a:r>
            <a:r>
              <a:rPr lang="en-US" sz="2600" kern="100">
                <a:effectLst/>
                <a:latin typeface="Aptos" panose="020B0004020202020204" pitchFamily="34" charset="0"/>
                <a:ea typeface="Aptos" panose="020B0004020202020204" pitchFamily="34" charset="0"/>
                <a:cs typeface="Times New Roman" panose="02020603050405020304" pitchFamily="18" charset="0"/>
              </a:rPr>
              <a:t>m </a:t>
            </a:r>
          </a:p>
          <a:p>
            <a:pPr marL="0" marR="0" lvl="0" indent="0">
              <a:lnSpc>
                <a:spcPct val="115000"/>
              </a:lnSpc>
              <a:spcAft>
                <a:spcPts val="800"/>
              </a:spcAft>
              <a:buNone/>
              <a:tabLst>
                <a:tab pos="457200" algn="l"/>
              </a:tabLst>
            </a:pPr>
            <a:r>
              <a:rPr lang="en-US" sz="2600" kern="100">
                <a:effectLst/>
                <a:latin typeface="Aptos" panose="020B0004020202020204" pitchFamily="34" charset="0"/>
                <a:ea typeface="Aptos" panose="020B0004020202020204" pitchFamily="34" charset="0"/>
                <a:cs typeface="Times New Roman" panose="02020603050405020304" pitchFamily="18" charset="0"/>
              </a:rPr>
              <a:t>m being the size of the alphabet to substitute letters. The constants a and b serve as the keys, with a chosen so that it is coprime with m.</a:t>
            </a:r>
          </a:p>
          <a:p>
            <a:pPr marL="514350" marR="0" lvl="0" indent="-514350">
              <a:lnSpc>
                <a:spcPct val="115000"/>
              </a:lnSpc>
              <a:spcAft>
                <a:spcPts val="800"/>
              </a:spcAft>
              <a:buFont typeface="+mj-lt"/>
              <a:buAutoNum type="arabicPeriod" startAt="6"/>
              <a:tabLst>
                <a:tab pos="457200" algn="l"/>
              </a:tabLst>
            </a:pPr>
            <a:r>
              <a:rPr lang="en-US" sz="2600" b="1" kern="100">
                <a:effectLst/>
                <a:latin typeface="Aptos" panose="020B0004020202020204" pitchFamily="34" charset="0"/>
                <a:ea typeface="Aptos" panose="020B0004020202020204" pitchFamily="34" charset="0"/>
                <a:cs typeface="Times New Roman" panose="02020603050405020304" pitchFamily="18" charset="0"/>
              </a:rPr>
              <a:t>Simple Substitution Cipher</a:t>
            </a:r>
            <a:br>
              <a:rPr lang="en-US" sz="2600" kern="100">
                <a:effectLst/>
                <a:latin typeface="Aptos" panose="020B0004020202020204" pitchFamily="34" charset="0"/>
                <a:ea typeface="Aptos" panose="020B0004020202020204" pitchFamily="34" charset="0"/>
                <a:cs typeface="Times New Roman" panose="02020603050405020304" pitchFamily="18" charset="0"/>
              </a:rPr>
            </a:br>
            <a:r>
              <a:rPr lang="en-US" sz="2600" kern="100">
                <a:effectLst/>
                <a:latin typeface="Aptos" panose="020B0004020202020204" pitchFamily="34" charset="0"/>
                <a:ea typeface="Aptos" panose="020B0004020202020204" pitchFamily="34" charset="0"/>
                <a:cs typeface="Times New Roman" panose="02020603050405020304" pitchFamily="18" charset="0"/>
              </a:rPr>
              <a:t>Uses a </a:t>
            </a:r>
            <a:r>
              <a:rPr lang="en-US" sz="2600" kern="100">
                <a:solidFill>
                  <a:srgbClr val="FF0000"/>
                </a:solidFill>
                <a:effectLst/>
                <a:latin typeface="Aptos" panose="020B0004020202020204" pitchFamily="34" charset="0"/>
                <a:ea typeface="Aptos" panose="020B0004020202020204" pitchFamily="34" charset="0"/>
                <a:cs typeface="Times New Roman" panose="02020603050405020304" pitchFamily="18" charset="0"/>
              </a:rPr>
              <a:t>completely randomized permutation </a:t>
            </a:r>
            <a:r>
              <a:rPr lang="en-US" sz="2600" kern="100">
                <a:effectLst/>
                <a:latin typeface="Aptos" panose="020B0004020202020204" pitchFamily="34" charset="0"/>
                <a:ea typeface="Aptos" panose="020B0004020202020204" pitchFamily="34" charset="0"/>
                <a:cs typeface="Times New Roman" panose="02020603050405020304" pitchFamily="18" charset="0"/>
              </a:rPr>
              <a:t>of the alphabet to replace each letter.</a:t>
            </a:r>
          </a:p>
        </p:txBody>
      </p:sp>
    </p:spTree>
    <p:extLst>
      <p:ext uri="{BB962C8B-B14F-4D97-AF65-F5344CB8AC3E}">
        <p14:creationId xmlns:p14="http://schemas.microsoft.com/office/powerpoint/2010/main" val="38630936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AB389-D25A-453D-7506-7943A1FB1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DDB5F5-E419-1851-D065-26F57A42418F}"/>
              </a:ext>
            </a:extLst>
          </p:cNvPr>
          <p:cNvSpPr>
            <a:spLocks noGrp="1"/>
          </p:cNvSpPr>
          <p:nvPr>
            <p:ph type="title"/>
          </p:nvPr>
        </p:nvSpPr>
        <p:spPr>
          <a:xfrm>
            <a:off x="1384764" y="218551"/>
            <a:ext cx="7704856" cy="646321"/>
          </a:xfrm>
        </p:spPr>
        <p:txBody>
          <a:bodyPr wrap="square">
            <a:spAutoFit/>
          </a:bodyPr>
          <a:lstStyle/>
          <a:p>
            <a:r>
              <a:rPr lang="en-IN" altLang="en-US" sz="3600" b="1">
                <a:ea typeface="ヒラギノ角ゴ Pro W3" charset="-128"/>
              </a:rPr>
              <a:t>Clascical Ciphers</a:t>
            </a:r>
            <a:endParaRPr lang="en-US" sz="2800"/>
          </a:p>
        </p:txBody>
      </p:sp>
      <p:pic>
        <p:nvPicPr>
          <p:cNvPr id="8" name="Picture Placeholder 7">
            <a:extLst>
              <a:ext uri="{FF2B5EF4-FFF2-40B4-BE49-F238E27FC236}">
                <a16:creationId xmlns:a16="http://schemas.microsoft.com/office/drawing/2014/main" id="{7CB63A7D-0A37-0010-8A18-D5CA264CD399}"/>
              </a:ext>
              <a:ext uri="{C183D7F6-B498-43B3-948B-1728B52AA6E4}">
                <adec:decorative xmlns:adec="http://schemas.microsoft.com/office/drawing/2017/decorative" val="1"/>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tretch>
            <a:fillRect/>
          </a:stretch>
        </p:blipFill>
        <p:spPr>
          <a:xfrm>
            <a:off x="9083135" y="5228467"/>
            <a:ext cx="1119352" cy="1087821"/>
          </a:xfrm>
          <a:prstGeom prst="rect">
            <a:avLst/>
          </a:prstGeom>
          <a:noFill/>
          <a:ln>
            <a:noFill/>
          </a:ln>
        </p:spPr>
      </p:pic>
      <p:sp>
        <p:nvSpPr>
          <p:cNvPr id="9" name="Content Placeholder 3">
            <a:extLst>
              <a:ext uri="{FF2B5EF4-FFF2-40B4-BE49-F238E27FC236}">
                <a16:creationId xmlns:a16="http://schemas.microsoft.com/office/drawing/2014/main" id="{AA2E69BF-C49A-5A90-109A-8BA8741E230E}"/>
              </a:ext>
            </a:extLst>
          </p:cNvPr>
          <p:cNvSpPr>
            <a:spLocks noGrp="1"/>
          </p:cNvSpPr>
          <p:nvPr>
            <p:ph idx="1"/>
          </p:nvPr>
        </p:nvSpPr>
        <p:spPr>
          <a:xfrm>
            <a:off x="551384" y="1052736"/>
            <a:ext cx="8229600" cy="3588857"/>
          </a:xfrm>
        </p:spPr>
        <p:txBody>
          <a:bodyPr>
            <a:spAutoFit/>
          </a:bodyPr>
          <a:lstStyle/>
          <a:p>
            <a:pPr marL="0" indent="0">
              <a:lnSpc>
                <a:spcPct val="150000"/>
              </a:lnSpc>
              <a:buNone/>
            </a:pPr>
            <a:r>
              <a:rPr lang="en-IN" altLang="en-US" sz="2800" b="1">
                <a:ea typeface="ヒラギノ角ゴ Pro W3" charset="-128"/>
              </a:rPr>
              <a:t>1. Substitution</a:t>
            </a:r>
            <a:r>
              <a:rPr lang="en-IN" altLang="en-US" sz="2800">
                <a:ea typeface="ヒラギノ角ゴ Pro W3" charset="-128"/>
              </a:rPr>
              <a:t> Techniques</a:t>
            </a:r>
          </a:p>
          <a:p>
            <a:pPr lvl="1">
              <a:lnSpc>
                <a:spcPct val="150000"/>
              </a:lnSpc>
            </a:pPr>
            <a:r>
              <a:rPr lang="en-IN" altLang="en-US" sz="2800">
                <a:ea typeface="ヒラギノ角ゴ Pro W3" charset="-128"/>
              </a:rPr>
              <a:t>Monoalphabetic cipher (1-1)</a:t>
            </a:r>
          </a:p>
          <a:p>
            <a:pPr lvl="1">
              <a:lnSpc>
                <a:spcPct val="150000"/>
              </a:lnSpc>
            </a:pPr>
            <a:r>
              <a:rPr lang="en-IN" altLang="en-US" sz="2800">
                <a:solidFill>
                  <a:srgbClr val="FF0000"/>
                </a:solidFill>
                <a:ea typeface="ヒラギノ角ゴ Pro W3" charset="-128"/>
              </a:rPr>
              <a:t>Monoalphabetic cipher (1-n</a:t>
            </a:r>
            <a:r>
              <a:rPr lang="en-IN" altLang="en-US" sz="2800">
                <a:ea typeface="ヒラギノ角ゴ Pro W3" charset="-128"/>
              </a:rPr>
              <a:t>)</a:t>
            </a:r>
          </a:p>
          <a:p>
            <a:pPr lvl="1">
              <a:lnSpc>
                <a:spcPct val="150000"/>
              </a:lnSpc>
            </a:pPr>
            <a:r>
              <a:rPr lang="en-IN" altLang="en-US" sz="2800">
                <a:solidFill>
                  <a:schemeClr val="tx1">
                    <a:lumMod val="95000"/>
                    <a:lumOff val="5000"/>
                  </a:schemeClr>
                </a:solidFill>
                <a:ea typeface="ヒラギノ角ゴ Pro W3" charset="-128"/>
              </a:rPr>
              <a:t>Polyalphabetic cipher (k-k)</a:t>
            </a:r>
          </a:p>
          <a:p>
            <a:pPr marL="0" indent="0">
              <a:lnSpc>
                <a:spcPct val="150000"/>
              </a:lnSpc>
              <a:buNone/>
            </a:pPr>
            <a:r>
              <a:rPr lang="en-AU" sz="2800" b="1"/>
              <a:t>2. Transposition</a:t>
            </a:r>
            <a:r>
              <a:rPr lang="en-AU" sz="2800"/>
              <a:t> </a:t>
            </a:r>
            <a:r>
              <a:rPr lang="en-IN" altLang="en-US" sz="2800">
                <a:ea typeface="ヒラギノ角ゴ Pro W3" charset="-128"/>
              </a:rPr>
              <a:t>Techniques</a:t>
            </a:r>
          </a:p>
        </p:txBody>
      </p:sp>
    </p:spTree>
    <p:extLst>
      <p:ext uri="{BB962C8B-B14F-4D97-AF65-F5344CB8AC3E}">
        <p14:creationId xmlns:p14="http://schemas.microsoft.com/office/powerpoint/2010/main" val="3483707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B7DD1-5FC2-190C-A6F3-78F184D105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75F49D-BF8F-A7AB-3CBB-9072214B32B0}"/>
              </a:ext>
            </a:extLst>
          </p:cNvPr>
          <p:cNvSpPr>
            <a:spLocks noGrp="1"/>
          </p:cNvSpPr>
          <p:nvPr>
            <p:ph type="title"/>
          </p:nvPr>
        </p:nvSpPr>
        <p:spPr>
          <a:xfrm>
            <a:off x="1378279" y="205780"/>
            <a:ext cx="7704856" cy="646321"/>
          </a:xfrm>
        </p:spPr>
        <p:txBody>
          <a:bodyPr wrap="square">
            <a:spAutoFit/>
          </a:bodyPr>
          <a:lstStyle/>
          <a:p>
            <a:pPr lvl="1"/>
            <a:r>
              <a:rPr lang="en-US" sz="3600" b="1" kern="100">
                <a:effectLst/>
                <a:latin typeface="Aptos" panose="020B0004020202020204" pitchFamily="34" charset="0"/>
                <a:ea typeface="Aptos" panose="020B0004020202020204" pitchFamily="34" charset="0"/>
                <a:cs typeface="Times New Roman" panose="02020603050405020304" pitchFamily="18" charset="0"/>
              </a:rPr>
              <a:t>Homophonic</a:t>
            </a:r>
            <a:r>
              <a:rPr lang="en-IN" altLang="en-US" sz="3400" b="1">
                <a:ea typeface="ヒラギノ角ゴ Pro W3" charset="-128"/>
              </a:rPr>
              <a:t> ciphers</a:t>
            </a:r>
          </a:p>
        </p:txBody>
      </p:sp>
      <p:sp>
        <p:nvSpPr>
          <p:cNvPr id="5" name="Content Placeholder 3">
            <a:extLst>
              <a:ext uri="{FF2B5EF4-FFF2-40B4-BE49-F238E27FC236}">
                <a16:creationId xmlns:a16="http://schemas.microsoft.com/office/drawing/2014/main" id="{4F954730-3BE6-AC4F-70CB-3ADD0B9A1E38}"/>
              </a:ext>
            </a:extLst>
          </p:cNvPr>
          <p:cNvSpPr txBox="1">
            <a:spLocks/>
          </p:cNvSpPr>
          <p:nvPr/>
        </p:nvSpPr>
        <p:spPr bwMode="auto">
          <a:xfrm>
            <a:off x="335360" y="939974"/>
            <a:ext cx="12097344" cy="5323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t" anchorCtr="0" compatLnSpc="1">
            <a:prstTxWarp prst="textNoShape">
              <a:avLst/>
            </a:prstTxWarp>
            <a:spAutoFit/>
          </a:bodyPr>
          <a:lstStyle>
            <a:lvl1pPr marL="342900" indent="-342900" algn="l" rtl="0" eaLnBrk="0" fontAlgn="base" hangingPunct="0">
              <a:spcBef>
                <a:spcPct val="20000"/>
              </a:spcBef>
              <a:spcAft>
                <a:spcPct val="0"/>
              </a:spcAft>
              <a:buClr>
                <a:srgbClr val="16AFC2"/>
              </a:buClr>
              <a:buSzPct val="125000"/>
              <a:buFont typeface="Wingdings" panose="05000000000000000000" pitchFamily="2" charset="2"/>
              <a:buChar char="§"/>
              <a:defRPr sz="1600">
                <a:solidFill>
                  <a:schemeClr val="tx1"/>
                </a:solidFill>
                <a:latin typeface="+mn-lt"/>
                <a:ea typeface="+mn-ea"/>
                <a:cs typeface="+mn-cs"/>
              </a:defRPr>
            </a:lvl1pPr>
            <a:lvl2pPr marL="742950" indent="-285750" algn="l" rtl="0" eaLnBrk="0" fontAlgn="base" hangingPunct="0">
              <a:spcBef>
                <a:spcPct val="20000"/>
              </a:spcBef>
              <a:spcAft>
                <a:spcPct val="0"/>
              </a:spcAft>
              <a:buClr>
                <a:srgbClr val="339966"/>
              </a:buClr>
              <a:buSzPct val="85000"/>
              <a:buFont typeface="Wingdings" panose="05000000000000000000" pitchFamily="2" charset="2"/>
              <a:buChar char="Ø"/>
              <a:defRPr sz="1600">
                <a:solidFill>
                  <a:schemeClr val="tx1"/>
                </a:solidFill>
                <a:latin typeface="+mn-lt"/>
              </a:defRPr>
            </a:lvl2pPr>
            <a:lvl3pPr marL="1143000" indent="-228600" algn="l" rtl="0" eaLnBrk="0" fontAlgn="base" hangingPunct="0">
              <a:spcBef>
                <a:spcPct val="20000"/>
              </a:spcBef>
              <a:spcAft>
                <a:spcPct val="0"/>
              </a:spcAft>
              <a:buSzPct val="150000"/>
              <a:buChar char="•"/>
              <a:defRPr sz="1600">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400">
                <a:solidFill>
                  <a:schemeClr val="tx1"/>
                </a:solidFill>
                <a:latin typeface="+mn-lt"/>
              </a:defRPr>
            </a:lvl6pPr>
            <a:lvl7pPr marL="2971800" indent="-228600" algn="l" rtl="0" fontAlgn="base">
              <a:spcBef>
                <a:spcPct val="20000"/>
              </a:spcBef>
              <a:spcAft>
                <a:spcPct val="0"/>
              </a:spcAft>
              <a:buChar char="»"/>
              <a:defRPr sz="1400">
                <a:solidFill>
                  <a:schemeClr val="tx1"/>
                </a:solidFill>
                <a:latin typeface="+mn-lt"/>
              </a:defRPr>
            </a:lvl7pPr>
            <a:lvl8pPr marL="3429000" indent="-228600" algn="l" rtl="0" fontAlgn="base">
              <a:spcBef>
                <a:spcPct val="20000"/>
              </a:spcBef>
              <a:spcAft>
                <a:spcPct val="0"/>
              </a:spcAft>
              <a:buChar char="»"/>
              <a:defRPr sz="1400">
                <a:solidFill>
                  <a:schemeClr val="tx1"/>
                </a:solidFill>
                <a:latin typeface="+mn-lt"/>
              </a:defRPr>
            </a:lvl8pPr>
            <a:lvl9pPr marL="3886200" indent="-228600" algn="l" rtl="0" fontAlgn="base">
              <a:spcBef>
                <a:spcPct val="20000"/>
              </a:spcBef>
              <a:spcAft>
                <a:spcPct val="0"/>
              </a:spcAft>
              <a:buChar char="»"/>
              <a:defRPr sz="1400">
                <a:solidFill>
                  <a:schemeClr val="tx1"/>
                </a:solidFill>
                <a:latin typeface="+mn-lt"/>
              </a:defRPr>
            </a:lvl9pPr>
          </a:lstStyle>
          <a:p>
            <a:pPr marL="0" marR="0" lvl="0" indent="0">
              <a:lnSpc>
                <a:spcPct val="115000"/>
              </a:lnSpc>
              <a:spcAft>
                <a:spcPts val="800"/>
              </a:spcAft>
              <a:buNone/>
              <a:tabLst>
                <a:tab pos="457200" algn="l"/>
              </a:tabLst>
            </a:pPr>
            <a:r>
              <a:rPr lang="en-US" sz="2800" b="1" kern="100">
                <a:effectLst/>
                <a:latin typeface="Aptos" panose="020B0004020202020204" pitchFamily="34" charset="0"/>
                <a:ea typeface="Aptos" panose="020B0004020202020204" pitchFamily="34" charset="0"/>
                <a:cs typeface="Times New Roman" panose="02020603050405020304" pitchFamily="18" charset="0"/>
              </a:rPr>
              <a:t>Homophonic Substitution Cipher</a:t>
            </a:r>
            <a:br>
              <a:rPr lang="en-US" sz="2800" kern="100">
                <a:effectLst/>
                <a:latin typeface="Aptos" panose="020B0004020202020204" pitchFamily="34" charset="0"/>
                <a:ea typeface="Aptos" panose="020B0004020202020204" pitchFamily="34" charset="0"/>
                <a:cs typeface="Times New Roman" panose="02020603050405020304" pitchFamily="18" charset="0"/>
              </a:rPr>
            </a:br>
            <a:r>
              <a:rPr lang="en-US" sz="2800" kern="100">
                <a:effectLst/>
                <a:latin typeface="Aptos" panose="020B0004020202020204" pitchFamily="34" charset="0"/>
                <a:ea typeface="Aptos" panose="020B0004020202020204" pitchFamily="34" charset="0"/>
                <a:cs typeface="Times New Roman" panose="02020603050405020304" pitchFamily="18" charset="0"/>
              </a:rPr>
              <a:t>Instead of a one-to-one mapping, each plaintext letter is </a:t>
            </a:r>
            <a:r>
              <a:rPr lang="en-US" sz="2800" kern="100">
                <a:solidFill>
                  <a:srgbClr val="FF0000"/>
                </a:solidFill>
                <a:effectLst/>
                <a:latin typeface="Aptos" panose="020B0004020202020204" pitchFamily="34" charset="0"/>
                <a:ea typeface="Aptos" panose="020B0004020202020204" pitchFamily="34" charset="0"/>
                <a:cs typeface="Times New Roman" panose="02020603050405020304" pitchFamily="18" charset="0"/>
              </a:rPr>
              <a:t>replaced by one of several possible ciphertext symbols</a:t>
            </a:r>
            <a:r>
              <a:rPr lang="en-US" sz="2800" kern="100">
                <a:effectLst/>
                <a:latin typeface="Aptos" panose="020B0004020202020204" pitchFamily="34" charset="0"/>
                <a:ea typeface="Aptos" panose="020B0004020202020204" pitchFamily="34" charset="0"/>
                <a:cs typeface="Times New Roman" panose="02020603050405020304" pitchFamily="18" charset="0"/>
              </a:rPr>
              <a:t>. The set of possible symbols for each letter remains fixed, but a different symbol is chosen each time the letter appears, which can help mask letter frequencies.</a:t>
            </a:r>
          </a:p>
          <a:p>
            <a:pPr marL="0" marR="0" lvl="0" indent="0">
              <a:lnSpc>
                <a:spcPct val="115000"/>
              </a:lnSpc>
              <a:spcAft>
                <a:spcPts val="800"/>
              </a:spcAft>
              <a:buNone/>
              <a:tabLst>
                <a:tab pos="457200" algn="l"/>
              </a:tabLst>
            </a:pPr>
            <a:r>
              <a:rPr lang="en-US" sz="2800" b="1" kern="100" err="1">
                <a:effectLst/>
                <a:latin typeface="Aptos" panose="020B0004020202020204" pitchFamily="34" charset="0"/>
                <a:ea typeface="Aptos" panose="020B0004020202020204" pitchFamily="34" charset="0"/>
                <a:cs typeface="Times New Roman" panose="02020603050405020304" pitchFamily="18" charset="0"/>
              </a:rPr>
              <a:t>Eg.</a:t>
            </a:r>
            <a:r>
              <a:rPr lang="en-US" sz="2800" b="1" kern="100">
                <a:effectLst/>
                <a:latin typeface="Aptos" panose="020B0004020202020204" pitchFamily="34" charset="0"/>
                <a:ea typeface="Aptos" panose="020B0004020202020204" pitchFamily="34" charset="0"/>
                <a:cs typeface="Times New Roman" panose="02020603050405020304" pitchFamily="18" charset="0"/>
              </a:rPr>
              <a:t> Pigpen Cipher</a:t>
            </a:r>
            <a:br>
              <a:rPr lang="en-US" sz="2800" kern="100">
                <a:effectLst/>
                <a:latin typeface="Aptos" panose="020B0004020202020204" pitchFamily="34" charset="0"/>
                <a:ea typeface="Aptos" panose="020B0004020202020204" pitchFamily="34" charset="0"/>
                <a:cs typeface="Times New Roman" panose="02020603050405020304" pitchFamily="18" charset="0"/>
              </a:rPr>
            </a:br>
            <a:r>
              <a:rPr lang="en-US" sz="2800" kern="100">
                <a:effectLst/>
                <a:latin typeface="Aptos" panose="020B0004020202020204" pitchFamily="34" charset="0"/>
                <a:ea typeface="Aptos" panose="020B0004020202020204" pitchFamily="34" charset="0"/>
                <a:cs typeface="Times New Roman" panose="02020603050405020304" pitchFamily="18" charset="0"/>
              </a:rPr>
              <a:t>Uses a set of geometric symbols (often based on a grid or “pigpen”) to substitute for letters. Each letter corresponds to a specific symbol derived from a simple visual pattern.</a:t>
            </a:r>
          </a:p>
          <a:p>
            <a:pPr marL="400050" lvl="1" indent="0">
              <a:buNone/>
            </a:pPr>
            <a:endParaRPr lang="en-US" sz="2600" kern="0"/>
          </a:p>
        </p:txBody>
      </p:sp>
    </p:spTree>
    <p:extLst>
      <p:ext uri="{BB962C8B-B14F-4D97-AF65-F5344CB8AC3E}">
        <p14:creationId xmlns:p14="http://schemas.microsoft.com/office/powerpoint/2010/main" val="887536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F44FF-B8B6-050C-A6EA-CF4914A0D8D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ECB9863-93B3-6CA0-C3BA-3E88EAE009BC}"/>
              </a:ext>
            </a:extLst>
          </p:cNvPr>
          <p:cNvSpPr txBox="1">
            <a:spLocks/>
          </p:cNvSpPr>
          <p:nvPr/>
        </p:nvSpPr>
        <p:spPr bwMode="auto">
          <a:xfrm>
            <a:off x="1343472" y="188640"/>
            <a:ext cx="9865096" cy="646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ctr" anchorCtr="0" compatLnSpc="1">
            <a:prstTxWarp prst="textNoShape">
              <a:avLst/>
            </a:prstTxWarp>
            <a:spAutoFit/>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charset="0"/>
              </a:defRPr>
            </a:lvl2pPr>
            <a:lvl3pPr algn="l" rtl="0" eaLnBrk="0" fontAlgn="base" hangingPunct="0">
              <a:spcBef>
                <a:spcPct val="0"/>
              </a:spcBef>
              <a:spcAft>
                <a:spcPct val="0"/>
              </a:spcAft>
              <a:defRPr sz="4400">
                <a:solidFill>
                  <a:schemeClr val="tx2"/>
                </a:solidFill>
                <a:latin typeface="Arial" charset="0"/>
              </a:defRPr>
            </a:lvl3pPr>
            <a:lvl4pPr algn="l" rtl="0" eaLnBrk="0" fontAlgn="base" hangingPunct="0">
              <a:spcBef>
                <a:spcPct val="0"/>
              </a:spcBef>
              <a:spcAft>
                <a:spcPct val="0"/>
              </a:spcAft>
              <a:defRPr sz="4400">
                <a:solidFill>
                  <a:schemeClr val="tx2"/>
                </a:solidFill>
                <a:latin typeface="Arial" charset="0"/>
              </a:defRPr>
            </a:lvl4pPr>
            <a:lvl5pPr algn="l" rtl="0" eaLnBrk="0" fontAlgn="base" hangingPunct="0">
              <a:spcBef>
                <a:spcPct val="0"/>
              </a:spcBef>
              <a:spcAft>
                <a:spcPct val="0"/>
              </a:spcAft>
              <a:defRPr sz="4400">
                <a:solidFill>
                  <a:schemeClr val="tx2"/>
                </a:solidFill>
                <a:latin typeface="Arial" charset="0"/>
              </a:defRPr>
            </a:lvl5pPr>
            <a:lvl6pPr marL="457200" algn="l" rtl="0" fontAlgn="base">
              <a:spcBef>
                <a:spcPct val="0"/>
              </a:spcBef>
              <a:spcAft>
                <a:spcPct val="0"/>
              </a:spcAft>
              <a:defRPr sz="4400">
                <a:solidFill>
                  <a:schemeClr val="tx2"/>
                </a:solidFill>
                <a:latin typeface="Arial" charset="0"/>
              </a:defRPr>
            </a:lvl6pPr>
            <a:lvl7pPr marL="914400" algn="l" rtl="0" fontAlgn="base">
              <a:spcBef>
                <a:spcPct val="0"/>
              </a:spcBef>
              <a:spcAft>
                <a:spcPct val="0"/>
              </a:spcAft>
              <a:defRPr sz="4400">
                <a:solidFill>
                  <a:schemeClr val="tx2"/>
                </a:solidFill>
                <a:latin typeface="Arial" charset="0"/>
              </a:defRPr>
            </a:lvl7pPr>
            <a:lvl8pPr marL="1371600" algn="l" rtl="0" fontAlgn="base">
              <a:spcBef>
                <a:spcPct val="0"/>
              </a:spcBef>
              <a:spcAft>
                <a:spcPct val="0"/>
              </a:spcAft>
              <a:defRPr sz="4400">
                <a:solidFill>
                  <a:schemeClr val="tx2"/>
                </a:solidFill>
                <a:latin typeface="Arial" charset="0"/>
              </a:defRPr>
            </a:lvl8pPr>
            <a:lvl9pPr marL="1828800" algn="l" rtl="0" fontAlgn="base">
              <a:spcBef>
                <a:spcPct val="0"/>
              </a:spcBef>
              <a:spcAft>
                <a:spcPct val="0"/>
              </a:spcAft>
              <a:defRPr sz="4400">
                <a:solidFill>
                  <a:schemeClr val="tx2"/>
                </a:solidFill>
                <a:latin typeface="Arial" charset="0"/>
              </a:defRPr>
            </a:lvl9pPr>
          </a:lstStyle>
          <a:p>
            <a:r>
              <a:rPr lang="en-IN" altLang="en-US" sz="3600" b="1">
                <a:ea typeface="ヒラギノ角ゴ Pro W3" charset="-128"/>
              </a:rPr>
              <a:t>Cryptanalysis Monoalphabetic cipher</a:t>
            </a:r>
            <a:endParaRPr lang="en-US" sz="2800" kern="0"/>
          </a:p>
        </p:txBody>
      </p:sp>
      <p:sp>
        <p:nvSpPr>
          <p:cNvPr id="12" name="TextBox 11">
            <a:extLst>
              <a:ext uri="{FF2B5EF4-FFF2-40B4-BE49-F238E27FC236}">
                <a16:creationId xmlns:a16="http://schemas.microsoft.com/office/drawing/2014/main" id="{364CB5DF-00C5-2A31-4A3F-7DCAC9291D34}"/>
              </a:ext>
            </a:extLst>
          </p:cNvPr>
          <p:cNvSpPr txBox="1"/>
          <p:nvPr/>
        </p:nvSpPr>
        <p:spPr>
          <a:xfrm>
            <a:off x="767408" y="1052736"/>
            <a:ext cx="9865096" cy="5016758"/>
          </a:xfrm>
          <a:prstGeom prst="rect">
            <a:avLst/>
          </a:prstGeom>
          <a:noFill/>
        </p:spPr>
        <p:txBody>
          <a:bodyPr wrap="square">
            <a:spAutoFit/>
          </a:bodyPr>
          <a:lstStyle/>
          <a:p>
            <a:pPr>
              <a:buNone/>
            </a:pPr>
            <a:r>
              <a:rPr lang="en-US" sz="3200" b="1"/>
              <a:t>Brute-force Attack (small key spaces)</a:t>
            </a:r>
          </a:p>
          <a:p>
            <a:pPr>
              <a:buFont typeface="Arial" panose="020B0604020202020204" pitchFamily="34" charset="0"/>
              <a:buChar char="•"/>
            </a:pPr>
            <a:r>
              <a:rPr lang="en-US" sz="3200" b="1"/>
              <a:t> Caesar cipher</a:t>
            </a:r>
            <a:endParaRPr lang="en-US" sz="3200"/>
          </a:p>
          <a:p>
            <a:pPr marL="742950" lvl="1" indent="-285750">
              <a:buFont typeface="Arial" panose="020B0604020202020204" pitchFamily="34" charset="0"/>
              <a:buChar char="•"/>
            </a:pPr>
            <a:r>
              <a:rPr lang="en-US" sz="3200"/>
              <a:t>Only 25 keys → trivial brute force.</a:t>
            </a:r>
          </a:p>
          <a:p>
            <a:pPr>
              <a:buFont typeface="Arial" panose="020B0604020202020204" pitchFamily="34" charset="0"/>
              <a:buChar char="•"/>
            </a:pPr>
            <a:r>
              <a:rPr lang="en-US" sz="3200" b="1"/>
              <a:t> ROT-N</a:t>
            </a:r>
            <a:endParaRPr lang="en-US" sz="3200"/>
          </a:p>
          <a:p>
            <a:pPr marL="742950" lvl="1" indent="-285750">
              <a:buFont typeface="Arial" panose="020B0604020202020204" pitchFamily="34" charset="0"/>
              <a:buChar char="•"/>
            </a:pPr>
            <a:r>
              <a:rPr lang="en-US" sz="3200"/>
              <a:t>At most 25 non-identity rotations → trivial.</a:t>
            </a:r>
          </a:p>
          <a:p>
            <a:pPr>
              <a:buFont typeface="Arial" panose="020B0604020202020204" pitchFamily="34" charset="0"/>
              <a:buChar char="•"/>
            </a:pPr>
            <a:r>
              <a:rPr lang="en-US" sz="3200" b="1"/>
              <a:t> Affine cipher</a:t>
            </a:r>
            <a:endParaRPr lang="en-US" sz="3200"/>
          </a:p>
          <a:p>
            <a:pPr marL="742950" lvl="1" indent="-285750">
              <a:buFont typeface="Arial" panose="020B0604020202020204" pitchFamily="34" charset="0"/>
              <a:buChar char="•"/>
            </a:pPr>
            <a:r>
              <a:rPr lang="en-US" sz="3200"/>
              <a:t>Key space: </a:t>
            </a:r>
            <a:r>
              <a:rPr lang="el-GR" sz="3200"/>
              <a:t>φ(26) × 26 = 12 × 26 = 312 </a:t>
            </a:r>
            <a:r>
              <a:rPr lang="en-US" sz="3200"/>
              <a:t>possibilities → feasible brute force.</a:t>
            </a:r>
          </a:p>
          <a:p>
            <a:pPr>
              <a:buFont typeface="Arial" panose="020B0604020202020204" pitchFamily="34" charset="0"/>
              <a:buChar char="•"/>
            </a:pPr>
            <a:r>
              <a:rPr lang="en-US" sz="3200" b="1"/>
              <a:t> Atbash cipher</a:t>
            </a:r>
            <a:endParaRPr lang="en-US" sz="3200"/>
          </a:p>
          <a:p>
            <a:pPr marL="742950" lvl="1" indent="-285750">
              <a:buFont typeface="Arial" panose="020B0604020202020204" pitchFamily="34" charset="0"/>
              <a:buChar char="•"/>
            </a:pPr>
            <a:r>
              <a:rPr lang="en-US" sz="3200"/>
              <a:t>Only 1 fixed key → no brute force needed.</a:t>
            </a:r>
          </a:p>
        </p:txBody>
      </p:sp>
    </p:spTree>
    <p:extLst>
      <p:ext uri="{BB962C8B-B14F-4D97-AF65-F5344CB8AC3E}">
        <p14:creationId xmlns:p14="http://schemas.microsoft.com/office/powerpoint/2010/main" val="2423219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7908" y="1002927"/>
            <a:ext cx="7499176" cy="584765"/>
          </a:xfrm>
        </p:spPr>
        <p:txBody>
          <a:bodyPr wrap="square">
            <a:spAutoFit/>
          </a:bodyPr>
          <a:lstStyle/>
          <a:p>
            <a:r>
              <a:rPr lang="en-IN" altLang="en-US" sz="3200">
                <a:ea typeface="ヒラギノ角ゴ Pro W3" charset="-128"/>
              </a:rPr>
              <a:t>(1) Caesar Cipher (small key space)</a:t>
            </a:r>
            <a:endParaRPr lang="en-US" sz="3200"/>
          </a:p>
        </p:txBody>
      </p:sp>
      <p:sp>
        <p:nvSpPr>
          <p:cNvPr id="4" name="Content Placeholder 3"/>
          <p:cNvSpPr>
            <a:spLocks noGrp="1"/>
          </p:cNvSpPr>
          <p:nvPr>
            <p:ph idx="1"/>
          </p:nvPr>
        </p:nvSpPr>
        <p:spPr>
          <a:xfrm>
            <a:off x="937908" y="1650880"/>
            <a:ext cx="8153400" cy="904853"/>
          </a:xfrm>
        </p:spPr>
        <p:txBody>
          <a:bodyPr wrap="square">
            <a:spAutoFit/>
          </a:bodyPr>
          <a:lstStyle/>
          <a:p>
            <a:r>
              <a:rPr lang="en-US" sz="2400"/>
              <a:t>Simplest and earliest known use of a substitution cipher</a:t>
            </a:r>
          </a:p>
          <a:p>
            <a:r>
              <a:rPr lang="en-US" sz="2400"/>
              <a:t>Used by Julius Caesar</a:t>
            </a:r>
          </a:p>
        </p:txBody>
      </p:sp>
      <p:sp>
        <p:nvSpPr>
          <p:cNvPr id="3" name="Content Placeholder 2"/>
          <p:cNvSpPr>
            <a:spLocks noGrp="1"/>
          </p:cNvSpPr>
          <p:nvPr>
            <p:ph idx="13"/>
          </p:nvPr>
        </p:nvSpPr>
        <p:spPr>
          <a:xfrm>
            <a:off x="937908" y="5021577"/>
            <a:ext cx="8505760" cy="904853"/>
          </a:xfrm>
        </p:spPr>
        <p:txBody>
          <a:bodyPr wrap="square">
            <a:spAutoFit/>
          </a:bodyPr>
          <a:lstStyle/>
          <a:p>
            <a:pPr>
              <a:buNone/>
            </a:pPr>
            <a:r>
              <a:rPr lang="en-US" sz="2400"/>
              <a:t>plain:   MEET   ME    AFTER   THE     TOGA     PARTY</a:t>
            </a:r>
          </a:p>
          <a:p>
            <a:pPr>
              <a:buNone/>
            </a:pPr>
            <a:r>
              <a:rPr lang="en-US" sz="2400"/>
              <a:t>cipher: JBBQ   JB      XCQBO  QEB     QLDX    MXOQV</a:t>
            </a:r>
          </a:p>
        </p:txBody>
      </p:sp>
      <p:sp>
        <p:nvSpPr>
          <p:cNvPr id="5" name="Title 1">
            <a:extLst>
              <a:ext uri="{FF2B5EF4-FFF2-40B4-BE49-F238E27FC236}">
                <a16:creationId xmlns:a16="http://schemas.microsoft.com/office/drawing/2014/main" id="{0DF8129E-B4A5-41DB-B31B-F2672B4A2233}"/>
              </a:ext>
            </a:extLst>
          </p:cNvPr>
          <p:cNvSpPr txBox="1">
            <a:spLocks/>
          </p:cNvSpPr>
          <p:nvPr/>
        </p:nvSpPr>
        <p:spPr bwMode="auto">
          <a:xfrm>
            <a:off x="1343472" y="188640"/>
            <a:ext cx="9865096" cy="646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ctr" anchorCtr="0" compatLnSpc="1">
            <a:prstTxWarp prst="textNoShape">
              <a:avLst/>
            </a:prstTxWarp>
            <a:spAutoFit/>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charset="0"/>
              </a:defRPr>
            </a:lvl2pPr>
            <a:lvl3pPr algn="l" rtl="0" eaLnBrk="0" fontAlgn="base" hangingPunct="0">
              <a:spcBef>
                <a:spcPct val="0"/>
              </a:spcBef>
              <a:spcAft>
                <a:spcPct val="0"/>
              </a:spcAft>
              <a:defRPr sz="4400">
                <a:solidFill>
                  <a:schemeClr val="tx2"/>
                </a:solidFill>
                <a:latin typeface="Arial" charset="0"/>
              </a:defRPr>
            </a:lvl3pPr>
            <a:lvl4pPr algn="l" rtl="0" eaLnBrk="0" fontAlgn="base" hangingPunct="0">
              <a:spcBef>
                <a:spcPct val="0"/>
              </a:spcBef>
              <a:spcAft>
                <a:spcPct val="0"/>
              </a:spcAft>
              <a:defRPr sz="4400">
                <a:solidFill>
                  <a:schemeClr val="tx2"/>
                </a:solidFill>
                <a:latin typeface="Arial" charset="0"/>
              </a:defRPr>
            </a:lvl4pPr>
            <a:lvl5pPr algn="l" rtl="0" eaLnBrk="0" fontAlgn="base" hangingPunct="0">
              <a:spcBef>
                <a:spcPct val="0"/>
              </a:spcBef>
              <a:spcAft>
                <a:spcPct val="0"/>
              </a:spcAft>
              <a:defRPr sz="4400">
                <a:solidFill>
                  <a:schemeClr val="tx2"/>
                </a:solidFill>
                <a:latin typeface="Arial" charset="0"/>
              </a:defRPr>
            </a:lvl5pPr>
            <a:lvl6pPr marL="457200" algn="l" rtl="0" fontAlgn="base">
              <a:spcBef>
                <a:spcPct val="0"/>
              </a:spcBef>
              <a:spcAft>
                <a:spcPct val="0"/>
              </a:spcAft>
              <a:defRPr sz="4400">
                <a:solidFill>
                  <a:schemeClr val="tx2"/>
                </a:solidFill>
                <a:latin typeface="Arial" charset="0"/>
              </a:defRPr>
            </a:lvl6pPr>
            <a:lvl7pPr marL="914400" algn="l" rtl="0" fontAlgn="base">
              <a:spcBef>
                <a:spcPct val="0"/>
              </a:spcBef>
              <a:spcAft>
                <a:spcPct val="0"/>
              </a:spcAft>
              <a:defRPr sz="4400">
                <a:solidFill>
                  <a:schemeClr val="tx2"/>
                </a:solidFill>
                <a:latin typeface="Arial" charset="0"/>
              </a:defRPr>
            </a:lvl7pPr>
            <a:lvl8pPr marL="1371600" algn="l" rtl="0" fontAlgn="base">
              <a:spcBef>
                <a:spcPct val="0"/>
              </a:spcBef>
              <a:spcAft>
                <a:spcPct val="0"/>
              </a:spcAft>
              <a:defRPr sz="4400">
                <a:solidFill>
                  <a:schemeClr val="tx2"/>
                </a:solidFill>
                <a:latin typeface="Arial" charset="0"/>
              </a:defRPr>
            </a:lvl8pPr>
            <a:lvl9pPr marL="1828800" algn="l" rtl="0" fontAlgn="base">
              <a:spcBef>
                <a:spcPct val="0"/>
              </a:spcBef>
              <a:spcAft>
                <a:spcPct val="0"/>
              </a:spcAft>
              <a:defRPr sz="4400">
                <a:solidFill>
                  <a:schemeClr val="tx2"/>
                </a:solidFill>
                <a:latin typeface="Arial" charset="0"/>
              </a:defRPr>
            </a:lvl9pPr>
          </a:lstStyle>
          <a:p>
            <a:r>
              <a:rPr lang="en-IN" altLang="en-US" sz="3600" b="1">
                <a:ea typeface="ヒラギノ角ゴ Pro W3" charset="-128"/>
              </a:rPr>
              <a:t>Cryptanalysis Monoalphabetic cipher</a:t>
            </a:r>
            <a:endParaRPr lang="en-US" sz="2800" kern="0"/>
          </a:p>
        </p:txBody>
      </p:sp>
      <p:pic>
        <p:nvPicPr>
          <p:cNvPr id="6" name="Picture 5">
            <a:extLst>
              <a:ext uri="{FF2B5EF4-FFF2-40B4-BE49-F238E27FC236}">
                <a16:creationId xmlns:a16="http://schemas.microsoft.com/office/drawing/2014/main" id="{6A443C87-D39E-433C-93BE-9190DE9D14B3}"/>
              </a:ext>
            </a:extLst>
          </p:cNvPr>
          <p:cNvPicPr>
            <a:picLocks noChangeAspect="1"/>
          </p:cNvPicPr>
          <p:nvPr/>
        </p:nvPicPr>
        <p:blipFill>
          <a:blip r:embed="rId3"/>
          <a:stretch>
            <a:fillRect/>
          </a:stretch>
        </p:blipFill>
        <p:spPr>
          <a:xfrm>
            <a:off x="604116" y="3262018"/>
            <a:ext cx="9144000" cy="1365260"/>
          </a:xfrm>
          <a:prstGeom prst="rect">
            <a:avLst/>
          </a:prstGeom>
        </p:spPr>
      </p:pic>
      <p:sp>
        <p:nvSpPr>
          <p:cNvPr id="7" name="Title 1">
            <a:extLst>
              <a:ext uri="{FF2B5EF4-FFF2-40B4-BE49-F238E27FC236}">
                <a16:creationId xmlns:a16="http://schemas.microsoft.com/office/drawing/2014/main" id="{108A5261-91E8-4863-BD5F-A24871337070}"/>
              </a:ext>
            </a:extLst>
          </p:cNvPr>
          <p:cNvSpPr txBox="1">
            <a:spLocks/>
          </p:cNvSpPr>
          <p:nvPr/>
        </p:nvSpPr>
        <p:spPr bwMode="auto">
          <a:xfrm>
            <a:off x="720723" y="2509287"/>
            <a:ext cx="7499176" cy="584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ctr" anchorCtr="0" compatLnSpc="1">
            <a:prstTxWarp prst="textNoShape">
              <a:avLst/>
            </a:prstTxWarp>
            <a:spAutoFit/>
          </a:bodyPr>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charset="0"/>
              </a:defRPr>
            </a:lvl2pPr>
            <a:lvl3pPr algn="l" rtl="0" eaLnBrk="0" fontAlgn="base" hangingPunct="0">
              <a:spcBef>
                <a:spcPct val="0"/>
              </a:spcBef>
              <a:spcAft>
                <a:spcPct val="0"/>
              </a:spcAft>
              <a:defRPr sz="4400">
                <a:solidFill>
                  <a:schemeClr val="tx2"/>
                </a:solidFill>
                <a:latin typeface="Arial" charset="0"/>
              </a:defRPr>
            </a:lvl3pPr>
            <a:lvl4pPr algn="l" rtl="0" eaLnBrk="0" fontAlgn="base" hangingPunct="0">
              <a:spcBef>
                <a:spcPct val="0"/>
              </a:spcBef>
              <a:spcAft>
                <a:spcPct val="0"/>
              </a:spcAft>
              <a:defRPr sz="4400">
                <a:solidFill>
                  <a:schemeClr val="tx2"/>
                </a:solidFill>
                <a:latin typeface="Arial" charset="0"/>
              </a:defRPr>
            </a:lvl4pPr>
            <a:lvl5pPr algn="l" rtl="0" eaLnBrk="0" fontAlgn="base" hangingPunct="0">
              <a:spcBef>
                <a:spcPct val="0"/>
              </a:spcBef>
              <a:spcAft>
                <a:spcPct val="0"/>
              </a:spcAft>
              <a:defRPr sz="4400">
                <a:solidFill>
                  <a:schemeClr val="tx2"/>
                </a:solidFill>
                <a:latin typeface="Arial" charset="0"/>
              </a:defRPr>
            </a:lvl5pPr>
            <a:lvl6pPr marL="457200" algn="l" rtl="0" fontAlgn="base">
              <a:spcBef>
                <a:spcPct val="0"/>
              </a:spcBef>
              <a:spcAft>
                <a:spcPct val="0"/>
              </a:spcAft>
              <a:defRPr sz="4400">
                <a:solidFill>
                  <a:schemeClr val="tx2"/>
                </a:solidFill>
                <a:latin typeface="Arial" charset="0"/>
              </a:defRPr>
            </a:lvl6pPr>
            <a:lvl7pPr marL="914400" algn="l" rtl="0" fontAlgn="base">
              <a:spcBef>
                <a:spcPct val="0"/>
              </a:spcBef>
              <a:spcAft>
                <a:spcPct val="0"/>
              </a:spcAft>
              <a:defRPr sz="4400">
                <a:solidFill>
                  <a:schemeClr val="tx2"/>
                </a:solidFill>
                <a:latin typeface="Arial" charset="0"/>
              </a:defRPr>
            </a:lvl7pPr>
            <a:lvl8pPr marL="1371600" algn="l" rtl="0" fontAlgn="base">
              <a:spcBef>
                <a:spcPct val="0"/>
              </a:spcBef>
              <a:spcAft>
                <a:spcPct val="0"/>
              </a:spcAft>
              <a:defRPr sz="4400">
                <a:solidFill>
                  <a:schemeClr val="tx2"/>
                </a:solidFill>
                <a:latin typeface="Arial" charset="0"/>
              </a:defRPr>
            </a:lvl8pPr>
            <a:lvl9pPr marL="1828800" algn="l" rtl="0" fontAlgn="base">
              <a:spcBef>
                <a:spcPct val="0"/>
              </a:spcBef>
              <a:spcAft>
                <a:spcPct val="0"/>
              </a:spcAft>
              <a:defRPr sz="4400">
                <a:solidFill>
                  <a:schemeClr val="tx2"/>
                </a:solidFill>
                <a:latin typeface="Arial" charset="0"/>
              </a:defRPr>
            </a:lvl9pPr>
          </a:lstStyle>
          <a:p>
            <a:r>
              <a:rPr lang="en-IN" altLang="en-US" sz="3200" kern="0">
                <a:ea typeface="ヒラギノ角ゴ Pro W3" charset="-128"/>
              </a:rPr>
              <a:t>Key</a:t>
            </a:r>
            <a:endParaRPr lang="en-US" sz="3200" kern="0"/>
          </a:p>
        </p:txBody>
      </p:sp>
    </p:spTree>
    <p:extLst>
      <p:ext uri="{BB962C8B-B14F-4D97-AF65-F5344CB8AC3E}">
        <p14:creationId xmlns:p14="http://schemas.microsoft.com/office/powerpoint/2010/main" val="2865874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9496" y="100062"/>
            <a:ext cx="7682056" cy="648072"/>
          </a:xfrm>
        </p:spPr>
        <p:txBody>
          <a:bodyPr wrap="square">
            <a:spAutoFit/>
          </a:bodyPr>
          <a:lstStyle/>
          <a:p>
            <a:r>
              <a:rPr lang="en-IN" altLang="en-US" sz="3600">
                <a:ea typeface="ヒラギノ角ゴ Pro W3" charset="-128"/>
              </a:rPr>
              <a:t>Caesar Cipher Algorithm</a:t>
            </a:r>
            <a:endParaRPr lang="en-US" sz="2800"/>
          </a:p>
        </p:txBody>
      </p:sp>
      <p:sp>
        <p:nvSpPr>
          <p:cNvPr id="4" name="Content Placeholder 3"/>
          <p:cNvSpPr>
            <a:spLocks noGrp="1"/>
          </p:cNvSpPr>
          <p:nvPr>
            <p:ph idx="13"/>
          </p:nvPr>
        </p:nvSpPr>
        <p:spPr>
          <a:xfrm>
            <a:off x="911424" y="1024071"/>
            <a:ext cx="11449272" cy="5364535"/>
          </a:xfrm>
        </p:spPr>
        <p:txBody>
          <a:bodyPr wrap="square">
            <a:spAutoFit/>
          </a:bodyPr>
          <a:lstStyle/>
          <a:p>
            <a:pPr>
              <a:spcBef>
                <a:spcPts val="600"/>
              </a:spcBef>
              <a:defRPr/>
            </a:pPr>
            <a:r>
              <a:rPr lang="en-AU" sz="2400">
                <a:ea typeface="ＭＳ Ｐゴシック" pitchFamily="-107" charset="-128"/>
              </a:rPr>
              <a:t>Can define transformation as:</a:t>
            </a:r>
          </a:p>
          <a:p>
            <a:pPr marL="266700" indent="-266700">
              <a:spcBef>
                <a:spcPts val="600"/>
              </a:spcBef>
              <a:buNone/>
              <a:defRPr/>
            </a:pPr>
            <a:r>
              <a:rPr lang="en-AU" sz="2400">
                <a:ea typeface="ＭＳ Ｐゴシック" pitchFamily="-107" charset="-128"/>
              </a:rPr>
              <a:t>	a b c d e f g h </a:t>
            </a:r>
            <a:r>
              <a:rPr lang="en-AU" sz="2400" err="1">
                <a:ea typeface="ＭＳ Ｐゴシック" pitchFamily="-107" charset="-128"/>
              </a:rPr>
              <a:t>i</a:t>
            </a:r>
            <a:r>
              <a:rPr lang="en-AU" sz="2400">
                <a:ea typeface="ＭＳ Ｐゴシック" pitchFamily="-107" charset="-128"/>
              </a:rPr>
              <a:t> j k l m n o p q r s t u v w x y z</a:t>
            </a:r>
          </a:p>
          <a:p>
            <a:pPr marL="266700" indent="-266700">
              <a:spcBef>
                <a:spcPts val="600"/>
              </a:spcBef>
              <a:buNone/>
              <a:defRPr/>
            </a:pPr>
            <a:r>
              <a:rPr lang="en-AU" sz="2400">
                <a:ea typeface="ＭＳ Ｐゴシック" pitchFamily="-107" charset="-128"/>
              </a:rPr>
              <a:t>	D E F G H I J K L M N O P Q R S T U V W X Y Z A B C</a:t>
            </a:r>
          </a:p>
          <a:p>
            <a:pPr>
              <a:spcBef>
                <a:spcPts val="600"/>
              </a:spcBef>
              <a:defRPr/>
            </a:pPr>
            <a:r>
              <a:rPr lang="en-AU" sz="2400">
                <a:ea typeface="ＭＳ Ｐゴシック" pitchFamily="-107" charset="-128"/>
              </a:rPr>
              <a:t>Mathematically give each letter a number</a:t>
            </a:r>
          </a:p>
          <a:p>
            <a:pPr marL="269875" lvl="1" indent="0">
              <a:buNone/>
              <a:defRPr/>
            </a:pPr>
            <a:r>
              <a:rPr lang="en-AU" sz="2400">
                <a:ea typeface="ＭＳ Ｐゴシック" pitchFamily="-107" charset="-128"/>
              </a:rPr>
              <a:t>a b c d e f  g  h </a:t>
            </a:r>
            <a:r>
              <a:rPr lang="en-AU" sz="2400" err="1">
                <a:ea typeface="ＭＳ Ｐゴシック" pitchFamily="-107" charset="-128"/>
              </a:rPr>
              <a:t>i</a:t>
            </a:r>
            <a:r>
              <a:rPr lang="en-AU" sz="2400">
                <a:ea typeface="ＭＳ Ｐゴシック" pitchFamily="-107" charset="-128"/>
              </a:rPr>
              <a:t>  j  k    l   m  n   o   p   q   r    s    t    u  v   w   x   y   z</a:t>
            </a:r>
          </a:p>
          <a:p>
            <a:pPr marL="269875" lvl="1" indent="0">
              <a:buNone/>
              <a:defRPr/>
            </a:pPr>
            <a:r>
              <a:rPr lang="en-AU" sz="2400">
                <a:ea typeface="ＭＳ Ｐゴシック" pitchFamily="-107" charset="-128"/>
              </a:rPr>
              <a:t>0 1 2 3 4 5 6 7 8 9 10 11 12 13 14 15 16 17 18 19 20 21 22 23 24 25</a:t>
            </a:r>
          </a:p>
          <a:p>
            <a:pPr>
              <a:spcBef>
                <a:spcPts val="600"/>
              </a:spcBef>
              <a:defRPr/>
            </a:pPr>
            <a:r>
              <a:rPr lang="en-AU" sz="2400">
                <a:ea typeface="ＭＳ Ｐゴシック" pitchFamily="-107" charset="-128"/>
              </a:rPr>
              <a:t>Algorithm can be expressed as:</a:t>
            </a:r>
          </a:p>
          <a:p>
            <a:pPr marL="0" indent="0">
              <a:spcBef>
                <a:spcPts val="600"/>
              </a:spcBef>
              <a:buNone/>
              <a:defRPr/>
            </a:pPr>
            <a:r>
              <a:rPr lang="en-AU" sz="2400" i="1">
                <a:ea typeface="ＭＳ Ｐゴシック" pitchFamily="-107" charset="-128"/>
              </a:rPr>
              <a:t>		</a:t>
            </a:r>
            <a:r>
              <a:rPr lang="en-AU" sz="2400">
                <a:ea typeface="ＭＳ Ｐゴシック" pitchFamily="-107" charset="-128"/>
              </a:rPr>
              <a:t>c = E(3, p) = (p + 3) mod (26)</a:t>
            </a:r>
            <a:endParaRPr lang="en-AU" sz="2400" i="1">
              <a:ea typeface="ＭＳ Ｐゴシック" pitchFamily="-107" charset="-128"/>
            </a:endParaRPr>
          </a:p>
          <a:p>
            <a:pPr>
              <a:spcBef>
                <a:spcPts val="600"/>
              </a:spcBef>
              <a:defRPr/>
            </a:pPr>
            <a:r>
              <a:rPr lang="en-AU" sz="2400">
                <a:ea typeface="ＭＳ Ｐゴシック" pitchFamily="-107" charset="-128"/>
              </a:rPr>
              <a:t>A shift may be of any amount, so that the general Caesar algorithm is:</a:t>
            </a:r>
          </a:p>
          <a:p>
            <a:pPr marL="0" indent="0">
              <a:spcBef>
                <a:spcPts val="600"/>
              </a:spcBef>
              <a:buNone/>
              <a:defRPr/>
            </a:pPr>
            <a:r>
              <a:rPr lang="en-AU" sz="2400" i="1">
                <a:ea typeface="ＭＳ Ｐゴシック" pitchFamily="-107" charset="-128"/>
              </a:rPr>
              <a:t>		</a:t>
            </a:r>
            <a:r>
              <a:rPr lang="en-AU" sz="2400">
                <a:ea typeface="ＭＳ Ｐゴシック" pitchFamily="-107" charset="-128"/>
              </a:rPr>
              <a:t>C =  E(k , p ) =  (p + k ) mod </a:t>
            </a:r>
            <a:r>
              <a:rPr lang="en-AU" sz="2400" i="1">
                <a:ea typeface="ＭＳ Ｐゴシック" pitchFamily="-107" charset="-128"/>
              </a:rPr>
              <a:t>26</a:t>
            </a:r>
          </a:p>
          <a:p>
            <a:pPr>
              <a:spcBef>
                <a:spcPts val="600"/>
              </a:spcBef>
              <a:defRPr/>
            </a:pPr>
            <a:r>
              <a:rPr lang="en-AU" sz="2400">
                <a:ea typeface="ＭＳ Ｐゴシック" pitchFamily="-107" charset="-128"/>
              </a:rPr>
              <a:t>Where k takes on a value in the range 1 to 25; the decryption algorithm is simply:</a:t>
            </a:r>
          </a:p>
          <a:p>
            <a:pPr marL="0" indent="0">
              <a:spcBef>
                <a:spcPts val="600"/>
              </a:spcBef>
              <a:buNone/>
              <a:defRPr/>
            </a:pPr>
            <a:r>
              <a:rPr lang="en-AU" sz="2400" i="1">
                <a:ea typeface="ＭＳ Ｐゴシック" pitchFamily="-107" charset="-128"/>
              </a:rPr>
              <a:t>		</a:t>
            </a:r>
            <a:r>
              <a:rPr lang="en-AU" sz="2400">
                <a:ea typeface="ＭＳ Ｐゴシック" pitchFamily="-107" charset="-128"/>
              </a:rPr>
              <a:t>p = D(k , C ) = (C − k ) mod </a:t>
            </a:r>
            <a:r>
              <a:rPr lang="en-AU" sz="2400" i="1">
                <a:ea typeface="ＭＳ Ｐゴシック" pitchFamily="-107" charset="-128"/>
              </a:rPr>
              <a:t>26</a:t>
            </a:r>
          </a:p>
        </p:txBody>
      </p:sp>
    </p:spTree>
    <p:extLst>
      <p:ext uri="{BB962C8B-B14F-4D97-AF65-F5344CB8AC3E}">
        <p14:creationId xmlns:p14="http://schemas.microsoft.com/office/powerpoint/2010/main" val="37867464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1464" y="165873"/>
            <a:ext cx="8579296" cy="615543"/>
          </a:xfrm>
        </p:spPr>
        <p:txBody>
          <a:bodyPr wrap="square">
            <a:spAutoFit/>
          </a:bodyPr>
          <a:lstStyle/>
          <a:p>
            <a:r>
              <a:rPr lang="en-IN" altLang="en-US" sz="3400">
                <a:ea typeface="ヒラギノ角ゴ Pro W3" charset="-128"/>
              </a:rPr>
              <a:t>Brute-Force Cryptanalysis of Caesar Cipher </a:t>
            </a:r>
          </a:p>
        </p:txBody>
      </p:sp>
      <p:pic>
        <p:nvPicPr>
          <p:cNvPr id="6" name="Picture Placeholder 5" descr="The table shows the Brute-Force Cryptanalysis of Caesar Cipher with the encryption and decryption text using 25 keys."/>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1127448" y="1052736"/>
            <a:ext cx="7221190" cy="5403627"/>
          </a:xfrm>
          <a:prstGeom prst="rect">
            <a:avLst/>
          </a:prstGeom>
          <a:noFill/>
          <a:ln>
            <a:noFill/>
          </a:ln>
        </p:spPr>
      </p:pic>
      <p:sp>
        <p:nvSpPr>
          <p:cNvPr id="3" name="Rectangle 2">
            <a:extLst>
              <a:ext uri="{FF2B5EF4-FFF2-40B4-BE49-F238E27FC236}">
                <a16:creationId xmlns:a16="http://schemas.microsoft.com/office/drawing/2014/main" id="{2E17B753-0E8D-4811-9A9A-883A449DA6A0}"/>
              </a:ext>
            </a:extLst>
          </p:cNvPr>
          <p:cNvSpPr/>
          <p:nvPr/>
        </p:nvSpPr>
        <p:spPr>
          <a:xfrm>
            <a:off x="8492654" y="1628801"/>
            <a:ext cx="2427882" cy="1384995"/>
          </a:xfrm>
          <a:prstGeom prst="rect">
            <a:avLst/>
          </a:prstGeom>
        </p:spPr>
        <p:txBody>
          <a:bodyPr wrap="square">
            <a:spAutoFit/>
          </a:bodyPr>
          <a:lstStyle/>
          <a:p>
            <a:r>
              <a:rPr lang="en-US">
                <a:latin typeface="TimesTenLTStd-Roman"/>
              </a:rPr>
              <a:t>Need large </a:t>
            </a:r>
          </a:p>
          <a:p>
            <a:r>
              <a:rPr lang="en-US">
                <a:latin typeface="TimesTenLTStd-Roman"/>
              </a:rPr>
              <a:t>number </a:t>
            </a:r>
          </a:p>
          <a:p>
            <a:r>
              <a:rPr lang="en-US">
                <a:latin typeface="TimesTenLTStd-Roman"/>
              </a:rPr>
              <a:t>of keys!</a:t>
            </a:r>
            <a:endParaRPr lang="en-US"/>
          </a:p>
        </p:txBody>
      </p:sp>
    </p:spTree>
    <p:extLst>
      <p:ext uri="{BB962C8B-B14F-4D97-AF65-F5344CB8AC3E}">
        <p14:creationId xmlns:p14="http://schemas.microsoft.com/office/powerpoint/2010/main" val="11814575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3472" y="109963"/>
            <a:ext cx="10704512" cy="646321"/>
          </a:xfrm>
        </p:spPr>
        <p:txBody>
          <a:bodyPr wrap="square">
            <a:spAutoFit/>
          </a:bodyPr>
          <a:lstStyle/>
          <a:p>
            <a:r>
              <a:rPr lang="en-IN" altLang="en-US" b="1">
                <a:ea typeface="ヒラギノ角ゴ Pro W3" charset="-128"/>
              </a:rPr>
              <a:t>Cryptanalysis randomly </a:t>
            </a:r>
            <a:r>
              <a:rPr lang="en-IN" altLang="en-US" sz="3600" b="1">
                <a:ea typeface="ヒラギノ角ゴ Pro W3" charset="-128"/>
              </a:rPr>
              <a:t>Monoalphabetic cipher</a:t>
            </a:r>
            <a:endParaRPr lang="en-US" sz="2800"/>
          </a:p>
        </p:txBody>
      </p:sp>
      <p:sp>
        <p:nvSpPr>
          <p:cNvPr id="4" name="Content Placeholder 3"/>
          <p:cNvSpPr>
            <a:spLocks noGrp="1"/>
          </p:cNvSpPr>
          <p:nvPr>
            <p:ph idx="13"/>
          </p:nvPr>
        </p:nvSpPr>
        <p:spPr>
          <a:xfrm>
            <a:off x="407368" y="1749259"/>
            <a:ext cx="11305256" cy="1805869"/>
          </a:xfrm>
        </p:spPr>
        <p:txBody>
          <a:bodyPr wrap="square">
            <a:spAutoFit/>
          </a:bodyPr>
          <a:lstStyle/>
          <a:p>
            <a:pPr>
              <a:lnSpc>
                <a:spcPct val="150000"/>
              </a:lnSpc>
            </a:pPr>
            <a:r>
              <a:rPr lang="en-US" sz="2600" b="1"/>
              <a:t>Permutation key</a:t>
            </a:r>
          </a:p>
          <a:p>
            <a:pPr lvl="1">
              <a:lnSpc>
                <a:spcPct val="150000"/>
              </a:lnSpc>
            </a:pPr>
            <a:r>
              <a:rPr lang="en-US" sz="2400">
                <a:solidFill>
                  <a:srgbClr val="FF0000"/>
                </a:solidFill>
              </a:rPr>
              <a:t>Of a finite set of elements </a:t>
            </a:r>
            <a:r>
              <a:rPr lang="en-US" sz="2400" i="1">
                <a:solidFill>
                  <a:srgbClr val="FF0000"/>
                </a:solidFill>
              </a:rPr>
              <a:t>S</a:t>
            </a:r>
            <a:r>
              <a:rPr lang="en-US" sz="2400">
                <a:solidFill>
                  <a:srgbClr val="FF0000"/>
                </a:solidFill>
              </a:rPr>
              <a:t> is an ordered sequence </a:t>
            </a:r>
            <a:r>
              <a:rPr lang="en-US" sz="2400"/>
              <a:t>of all the elements of </a:t>
            </a:r>
            <a:r>
              <a:rPr lang="en-US" sz="2400" i="1"/>
              <a:t>S</a:t>
            </a:r>
            <a:r>
              <a:rPr lang="en-US" sz="2400"/>
              <a:t> , with each element appearing exactly once</a:t>
            </a:r>
          </a:p>
        </p:txBody>
      </p:sp>
      <p:sp>
        <p:nvSpPr>
          <p:cNvPr id="3" name="Rectangle 2">
            <a:extLst>
              <a:ext uri="{FF2B5EF4-FFF2-40B4-BE49-F238E27FC236}">
                <a16:creationId xmlns:a16="http://schemas.microsoft.com/office/drawing/2014/main" id="{A8DFB515-C7FD-414A-8631-7999039BDFC5}"/>
              </a:ext>
            </a:extLst>
          </p:cNvPr>
          <p:cNvSpPr/>
          <p:nvPr/>
        </p:nvSpPr>
        <p:spPr>
          <a:xfrm>
            <a:off x="598051" y="1107791"/>
            <a:ext cx="7343677" cy="584775"/>
          </a:xfrm>
          <a:prstGeom prst="rect">
            <a:avLst/>
          </a:prstGeom>
        </p:spPr>
        <p:txBody>
          <a:bodyPr wrap="none">
            <a:spAutoFit/>
          </a:bodyPr>
          <a:lstStyle/>
          <a:p>
            <a:r>
              <a:rPr lang="en-IN" altLang="en-US" sz="3000" b="1">
                <a:ea typeface="ヒラギノ角ゴ Pro W3" charset="-128"/>
              </a:rPr>
              <a:t>(2)</a:t>
            </a:r>
            <a:r>
              <a:rPr lang="en-US" sz="3000" b="1" i="1"/>
              <a:t> </a:t>
            </a:r>
            <a:r>
              <a:rPr lang="en-IN" sz="3200" b="1" i="1">
                <a:ea typeface="ヒラギノ角ゴ Pro W3" charset="-128"/>
              </a:rPr>
              <a:t>R</a:t>
            </a:r>
            <a:r>
              <a:rPr lang="en-IN" altLang="en-US" sz="3200" b="1">
                <a:ea typeface="ヒラギノ角ゴ Pro W3" charset="-128"/>
              </a:rPr>
              <a:t>andomly </a:t>
            </a:r>
            <a:r>
              <a:rPr lang="en-US" sz="3000" b="1"/>
              <a:t>Monoalphabetic</a:t>
            </a:r>
            <a:r>
              <a:rPr lang="en-US" sz="3000"/>
              <a:t> </a:t>
            </a:r>
            <a:r>
              <a:rPr lang="en-US" sz="3000" b="1"/>
              <a:t>substitution</a:t>
            </a:r>
            <a:endParaRPr lang="en-US" sz="3000"/>
          </a:p>
        </p:txBody>
      </p:sp>
    </p:spTree>
    <p:extLst>
      <p:ext uri="{BB962C8B-B14F-4D97-AF65-F5344CB8AC3E}">
        <p14:creationId xmlns:p14="http://schemas.microsoft.com/office/powerpoint/2010/main" val="6725473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100FC-7A1B-FDFB-4AAE-460BCE5F81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B713DC-1534-C2B9-BB1B-940116D11926}"/>
              </a:ext>
            </a:extLst>
          </p:cNvPr>
          <p:cNvSpPr>
            <a:spLocks noGrp="1"/>
          </p:cNvSpPr>
          <p:nvPr>
            <p:ph type="title"/>
          </p:nvPr>
        </p:nvSpPr>
        <p:spPr>
          <a:xfrm>
            <a:off x="1343472" y="109963"/>
            <a:ext cx="10704512" cy="646321"/>
          </a:xfrm>
        </p:spPr>
        <p:txBody>
          <a:bodyPr wrap="square">
            <a:spAutoFit/>
          </a:bodyPr>
          <a:lstStyle/>
          <a:p>
            <a:r>
              <a:rPr lang="en-IN" altLang="en-US" b="1">
                <a:ea typeface="ヒラギノ角ゴ Pro W3" charset="-128"/>
              </a:rPr>
              <a:t>Cryptanalysis randomly </a:t>
            </a:r>
            <a:r>
              <a:rPr lang="en-IN" altLang="en-US" sz="3600" b="1">
                <a:ea typeface="ヒラギノ角ゴ Pro W3" charset="-128"/>
              </a:rPr>
              <a:t>Monoalphabetic cipher</a:t>
            </a:r>
            <a:endParaRPr lang="en-US" sz="2800"/>
          </a:p>
        </p:txBody>
      </p:sp>
      <p:sp>
        <p:nvSpPr>
          <p:cNvPr id="7" name="TextBox 6">
            <a:extLst>
              <a:ext uri="{FF2B5EF4-FFF2-40B4-BE49-F238E27FC236}">
                <a16:creationId xmlns:a16="http://schemas.microsoft.com/office/drawing/2014/main" id="{54909EEB-5F5B-5A06-186B-64EC3F15B1CC}"/>
              </a:ext>
            </a:extLst>
          </p:cNvPr>
          <p:cNvSpPr txBox="1"/>
          <p:nvPr/>
        </p:nvSpPr>
        <p:spPr>
          <a:xfrm>
            <a:off x="360054" y="980728"/>
            <a:ext cx="11687930" cy="3892861"/>
          </a:xfrm>
          <a:prstGeom prst="rect">
            <a:avLst/>
          </a:prstGeom>
          <a:noFill/>
        </p:spPr>
        <p:txBody>
          <a:bodyPr wrap="square">
            <a:spAutoFit/>
          </a:bodyPr>
          <a:lstStyle/>
          <a:p>
            <a:pPr>
              <a:lnSpc>
                <a:spcPct val="150000"/>
              </a:lnSpc>
              <a:buNone/>
            </a:pPr>
            <a:r>
              <a:rPr lang="en-US" b="1"/>
              <a:t>Frequency-Analysis–Based Attack (random substitution / homophonic)</a:t>
            </a:r>
          </a:p>
          <a:p>
            <a:pPr>
              <a:lnSpc>
                <a:spcPct val="150000"/>
              </a:lnSpc>
              <a:buNone/>
            </a:pPr>
            <a:r>
              <a:rPr lang="en-US" b="1"/>
              <a:t>Step A – Guess the key:</a:t>
            </a:r>
            <a:endParaRPr lang="en-US"/>
          </a:p>
          <a:p>
            <a:pPr>
              <a:lnSpc>
                <a:spcPct val="150000"/>
              </a:lnSpc>
              <a:buFont typeface="Arial" panose="020B0604020202020204" pitchFamily="34" charset="0"/>
              <a:buChar char="•"/>
            </a:pPr>
            <a:r>
              <a:rPr lang="en-US"/>
              <a:t> Compute </a:t>
            </a:r>
            <a:r>
              <a:rPr lang="en-US" b="1"/>
              <a:t>letter frequency distribution</a:t>
            </a:r>
            <a:r>
              <a:rPr lang="en-US"/>
              <a:t> of ciphertext.</a:t>
            </a:r>
          </a:p>
          <a:p>
            <a:pPr>
              <a:lnSpc>
                <a:spcPct val="150000"/>
              </a:lnSpc>
              <a:buFont typeface="Arial" panose="020B0604020202020204" pitchFamily="34" charset="0"/>
              <a:buChar char="•"/>
            </a:pPr>
            <a:r>
              <a:rPr lang="en-US"/>
              <a:t> Compare against English unigram frequencies (E, T, A, O … most common).</a:t>
            </a:r>
          </a:p>
          <a:p>
            <a:pPr>
              <a:lnSpc>
                <a:spcPct val="150000"/>
              </a:lnSpc>
              <a:buFont typeface="Arial" panose="020B0604020202020204" pitchFamily="34" charset="0"/>
              <a:buChar char="•"/>
            </a:pPr>
            <a:r>
              <a:rPr lang="en-US"/>
              <a:t> Extend to </a:t>
            </a:r>
            <a:r>
              <a:rPr lang="en-US" b="1"/>
              <a:t>bigrams</a:t>
            </a:r>
            <a:r>
              <a:rPr lang="en-US"/>
              <a:t> (TH, ER, ON, AN …) and </a:t>
            </a:r>
            <a:r>
              <a:rPr lang="en-US" b="1"/>
              <a:t>trigrams</a:t>
            </a:r>
            <a:r>
              <a:rPr lang="en-US"/>
              <a:t> (THE, AND, ING …).</a:t>
            </a:r>
          </a:p>
          <a:p>
            <a:pPr>
              <a:lnSpc>
                <a:spcPct val="150000"/>
              </a:lnSpc>
              <a:buFont typeface="Arial" panose="020B0604020202020204" pitchFamily="34" charset="0"/>
              <a:buChar char="•"/>
            </a:pPr>
            <a:r>
              <a:rPr lang="en-US"/>
              <a:t> Build an initial guess mapping.</a:t>
            </a:r>
          </a:p>
        </p:txBody>
      </p:sp>
    </p:spTree>
    <p:extLst>
      <p:ext uri="{BB962C8B-B14F-4D97-AF65-F5344CB8AC3E}">
        <p14:creationId xmlns:p14="http://schemas.microsoft.com/office/powerpoint/2010/main" val="21520506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6C756-451B-7E3A-8A12-D513676ED8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0E88D4-B349-BFF7-A4DE-DFD884B4376C}"/>
              </a:ext>
            </a:extLst>
          </p:cNvPr>
          <p:cNvSpPr>
            <a:spLocks noGrp="1"/>
          </p:cNvSpPr>
          <p:nvPr>
            <p:ph type="title"/>
          </p:nvPr>
        </p:nvSpPr>
        <p:spPr>
          <a:xfrm>
            <a:off x="1343472" y="109963"/>
            <a:ext cx="10704512" cy="646321"/>
          </a:xfrm>
        </p:spPr>
        <p:txBody>
          <a:bodyPr wrap="square">
            <a:spAutoFit/>
          </a:bodyPr>
          <a:lstStyle/>
          <a:p>
            <a:r>
              <a:rPr lang="en-IN" altLang="en-US" b="1">
                <a:ea typeface="ヒラギノ角ゴ Pro W3" charset="-128"/>
              </a:rPr>
              <a:t>Cryptanalysis randomly </a:t>
            </a:r>
            <a:r>
              <a:rPr lang="en-IN" altLang="en-US" sz="3600" b="1">
                <a:ea typeface="ヒラギノ角ゴ Pro W3" charset="-128"/>
              </a:rPr>
              <a:t>Monoalphabetic cipher</a:t>
            </a:r>
            <a:endParaRPr lang="en-US" sz="2800"/>
          </a:p>
        </p:txBody>
      </p:sp>
      <p:sp>
        <p:nvSpPr>
          <p:cNvPr id="7" name="TextBox 6">
            <a:extLst>
              <a:ext uri="{FF2B5EF4-FFF2-40B4-BE49-F238E27FC236}">
                <a16:creationId xmlns:a16="http://schemas.microsoft.com/office/drawing/2014/main" id="{430B7DA7-B6D9-F231-F4BD-E1260E575151}"/>
              </a:ext>
            </a:extLst>
          </p:cNvPr>
          <p:cNvSpPr txBox="1"/>
          <p:nvPr/>
        </p:nvSpPr>
        <p:spPr>
          <a:xfrm>
            <a:off x="360054" y="908720"/>
            <a:ext cx="11687930" cy="5262979"/>
          </a:xfrm>
          <a:prstGeom prst="rect">
            <a:avLst/>
          </a:prstGeom>
          <a:noFill/>
        </p:spPr>
        <p:txBody>
          <a:bodyPr wrap="square">
            <a:spAutoFit/>
          </a:bodyPr>
          <a:lstStyle/>
          <a:p>
            <a:pPr>
              <a:buNone/>
            </a:pPr>
            <a:r>
              <a:rPr lang="en-US" b="1"/>
              <a:t>Frequency-Analysis–Based Attack (random substitution / homophonic)</a:t>
            </a:r>
          </a:p>
          <a:p>
            <a:pPr>
              <a:buNone/>
            </a:pPr>
            <a:r>
              <a:rPr lang="en-US" b="1"/>
              <a:t>Step B – Adjust by trial decryption:</a:t>
            </a:r>
            <a:endParaRPr lang="en-US"/>
          </a:p>
          <a:p>
            <a:pPr>
              <a:buFont typeface="Arial" panose="020B0604020202020204" pitchFamily="34" charset="0"/>
              <a:buChar char="•"/>
            </a:pPr>
            <a:r>
              <a:rPr lang="en-US"/>
              <a:t> Apply guessed key → decrypt text.</a:t>
            </a:r>
          </a:p>
          <a:p>
            <a:pPr>
              <a:buFont typeface="Arial" panose="020B0604020202020204" pitchFamily="34" charset="0"/>
              <a:buChar char="•"/>
            </a:pPr>
            <a:r>
              <a:rPr lang="en-US"/>
              <a:t> Check for common English words.</a:t>
            </a:r>
          </a:p>
          <a:p>
            <a:pPr>
              <a:buFont typeface="Arial" panose="020B0604020202020204" pitchFamily="34" charset="0"/>
              <a:buChar char="•"/>
            </a:pPr>
            <a:r>
              <a:rPr lang="en-US"/>
              <a:t> Iteratively swap pairs of letters or adjust mapping until text readability improves.</a:t>
            </a:r>
          </a:p>
          <a:p>
            <a:pPr>
              <a:buFont typeface="Arial" panose="020B0604020202020204" pitchFamily="34" charset="0"/>
              <a:buChar char="•"/>
            </a:pPr>
            <a:r>
              <a:rPr lang="en-US"/>
              <a:t> Tools: hill-climbing, simulated annealing, or manual refinement.</a:t>
            </a:r>
          </a:p>
          <a:p>
            <a:pPr>
              <a:buNone/>
            </a:pPr>
            <a:r>
              <a:rPr lang="en-US" b="1"/>
              <a:t>Homophonic cipher:</a:t>
            </a:r>
            <a:endParaRPr lang="en-US"/>
          </a:p>
          <a:p>
            <a:pPr>
              <a:buFont typeface="Arial" panose="020B0604020202020204" pitchFamily="34" charset="0"/>
              <a:buChar char="•"/>
            </a:pPr>
            <a:r>
              <a:rPr lang="en-US"/>
              <a:t>Frequency distribution is </a:t>
            </a:r>
            <a:r>
              <a:rPr lang="en-US" b="1"/>
              <a:t>flattened</a:t>
            </a:r>
            <a:r>
              <a:rPr lang="en-US"/>
              <a:t> (since one letter can map to many symbols).</a:t>
            </a:r>
          </a:p>
          <a:p>
            <a:pPr>
              <a:buFont typeface="Arial" panose="020B0604020202020204" pitchFamily="34" charset="0"/>
              <a:buChar char="•"/>
            </a:pPr>
            <a:r>
              <a:rPr lang="en-US"/>
              <a:t>Still, statistical patterns leak: common letters like </a:t>
            </a:r>
            <a:r>
              <a:rPr lang="en-US" b="1"/>
              <a:t>E, T, A</a:t>
            </a:r>
            <a:r>
              <a:rPr lang="en-US"/>
              <a:t> dominate even when spread.</a:t>
            </a:r>
          </a:p>
          <a:p>
            <a:pPr>
              <a:buFont typeface="Arial" panose="020B0604020202020204" pitchFamily="34" charset="0"/>
              <a:buChar char="•"/>
            </a:pPr>
            <a:r>
              <a:rPr lang="en-US"/>
              <a:t>N-gram analysis and heuristic search remain effective.</a:t>
            </a:r>
          </a:p>
        </p:txBody>
      </p:sp>
    </p:spTree>
    <p:extLst>
      <p:ext uri="{BB962C8B-B14F-4D97-AF65-F5344CB8AC3E}">
        <p14:creationId xmlns:p14="http://schemas.microsoft.com/office/powerpoint/2010/main" val="29794530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6248" y="184228"/>
            <a:ext cx="10775752" cy="646321"/>
          </a:xfrm>
        </p:spPr>
        <p:txBody>
          <a:bodyPr wrap="square">
            <a:spAutoFit/>
          </a:bodyPr>
          <a:lstStyle/>
          <a:p>
            <a:r>
              <a:rPr lang="en-IN" altLang="en-US" b="1">
                <a:ea typeface="ヒラギノ角ゴ Pro W3" charset="-128"/>
              </a:rPr>
              <a:t>Cryptanalysis randomly Monoalphabetic cipher</a:t>
            </a:r>
            <a:endParaRPr lang="en-US" sz="2800"/>
          </a:p>
        </p:txBody>
      </p:sp>
      <p:sp>
        <p:nvSpPr>
          <p:cNvPr id="3" name="Rectangle 2">
            <a:extLst>
              <a:ext uri="{FF2B5EF4-FFF2-40B4-BE49-F238E27FC236}">
                <a16:creationId xmlns:a16="http://schemas.microsoft.com/office/drawing/2014/main" id="{A8DFB515-C7FD-414A-8631-7999039BDFC5}"/>
              </a:ext>
            </a:extLst>
          </p:cNvPr>
          <p:cNvSpPr/>
          <p:nvPr/>
        </p:nvSpPr>
        <p:spPr>
          <a:xfrm>
            <a:off x="1098711" y="992282"/>
            <a:ext cx="5440913" cy="553998"/>
          </a:xfrm>
          <a:prstGeom prst="rect">
            <a:avLst/>
          </a:prstGeom>
        </p:spPr>
        <p:txBody>
          <a:bodyPr wrap="none">
            <a:spAutoFit/>
          </a:bodyPr>
          <a:lstStyle/>
          <a:p>
            <a:r>
              <a:rPr lang="en-IN" altLang="en-US" sz="3000" b="1">
                <a:ea typeface="ヒラギノ角ゴ Pro W3" charset="-128"/>
              </a:rPr>
              <a:t>(2)</a:t>
            </a:r>
            <a:r>
              <a:rPr lang="en-US" sz="3000" b="1" i="1"/>
              <a:t> </a:t>
            </a:r>
            <a:r>
              <a:rPr lang="en-US" sz="3000" b="1"/>
              <a:t>Monoalphabetic</a:t>
            </a:r>
            <a:r>
              <a:rPr lang="en-US" sz="3000"/>
              <a:t> </a:t>
            </a:r>
            <a:r>
              <a:rPr lang="en-US" sz="3000" b="1"/>
              <a:t>substitution</a:t>
            </a:r>
            <a:endParaRPr lang="en-US" sz="3000"/>
          </a:p>
        </p:txBody>
      </p:sp>
      <p:sp>
        <p:nvSpPr>
          <p:cNvPr id="10" name="Rectangle 9">
            <a:extLst>
              <a:ext uri="{FF2B5EF4-FFF2-40B4-BE49-F238E27FC236}">
                <a16:creationId xmlns:a16="http://schemas.microsoft.com/office/drawing/2014/main" id="{BB9F26EE-E976-4EF2-97FF-AC6A4D56CAC8}"/>
              </a:ext>
            </a:extLst>
          </p:cNvPr>
          <p:cNvSpPr/>
          <p:nvPr/>
        </p:nvSpPr>
        <p:spPr>
          <a:xfrm>
            <a:off x="2034814" y="2966174"/>
            <a:ext cx="5322606" cy="553998"/>
          </a:xfrm>
          <a:prstGeom prst="rect">
            <a:avLst/>
          </a:prstGeom>
        </p:spPr>
        <p:txBody>
          <a:bodyPr wrap="square">
            <a:spAutoFit/>
          </a:bodyPr>
          <a:lstStyle/>
          <a:p>
            <a:r>
              <a:rPr lang="en-US" sz="3000"/>
              <a:t>MEET ME AT OUR SPOT</a:t>
            </a:r>
          </a:p>
        </p:txBody>
      </p:sp>
      <p:sp>
        <p:nvSpPr>
          <p:cNvPr id="11" name="Rectangle 10">
            <a:extLst>
              <a:ext uri="{FF2B5EF4-FFF2-40B4-BE49-F238E27FC236}">
                <a16:creationId xmlns:a16="http://schemas.microsoft.com/office/drawing/2014/main" id="{E50D98C7-E6F1-4F96-9560-4BEFF17E7657}"/>
              </a:ext>
            </a:extLst>
          </p:cNvPr>
          <p:cNvSpPr/>
          <p:nvPr/>
        </p:nvSpPr>
        <p:spPr>
          <a:xfrm>
            <a:off x="636946" y="4828511"/>
            <a:ext cx="10931662" cy="1384995"/>
          </a:xfrm>
          <a:prstGeom prst="rect">
            <a:avLst/>
          </a:prstGeom>
        </p:spPr>
        <p:txBody>
          <a:bodyPr wrap="square">
            <a:spAutoFit/>
          </a:bodyPr>
          <a:lstStyle/>
          <a:p>
            <a:r>
              <a:rPr lang="en-US"/>
              <a:t>If the “cipher” line can be any permutation of the 26 alphabetic characters, then there are 26! or greater than  4 x 10</a:t>
            </a:r>
            <a:r>
              <a:rPr lang="en-US" baseline="30000"/>
              <a:t>26</a:t>
            </a:r>
            <a:r>
              <a:rPr lang="en-US"/>
              <a:t> possible keys</a:t>
            </a:r>
          </a:p>
          <a:p>
            <a:r>
              <a:rPr lang="en-US"/>
              <a:t>This is 10 orders of magnitude greater than the key space for DES</a:t>
            </a:r>
          </a:p>
        </p:txBody>
      </p:sp>
      <p:sp>
        <p:nvSpPr>
          <p:cNvPr id="12" name="TextBox 11">
            <a:extLst>
              <a:ext uri="{FF2B5EF4-FFF2-40B4-BE49-F238E27FC236}">
                <a16:creationId xmlns:a16="http://schemas.microsoft.com/office/drawing/2014/main" id="{4EEC1555-D41C-461C-88B1-FDB55546BBAC}"/>
              </a:ext>
            </a:extLst>
          </p:cNvPr>
          <p:cNvSpPr txBox="1"/>
          <p:nvPr/>
        </p:nvSpPr>
        <p:spPr>
          <a:xfrm>
            <a:off x="623392" y="2719953"/>
            <a:ext cx="763351" cy="523220"/>
          </a:xfrm>
          <a:prstGeom prst="rect">
            <a:avLst/>
          </a:prstGeom>
          <a:noFill/>
        </p:spPr>
        <p:txBody>
          <a:bodyPr wrap="none" rtlCol="0">
            <a:spAutoFit/>
          </a:bodyPr>
          <a:lstStyle/>
          <a:p>
            <a:r>
              <a:rPr lang="en-US"/>
              <a:t>EX:</a:t>
            </a:r>
          </a:p>
        </p:txBody>
      </p:sp>
      <p:sp>
        <p:nvSpPr>
          <p:cNvPr id="13" name="Arrow: Down 12">
            <a:extLst>
              <a:ext uri="{FF2B5EF4-FFF2-40B4-BE49-F238E27FC236}">
                <a16:creationId xmlns:a16="http://schemas.microsoft.com/office/drawing/2014/main" id="{B1FEC017-CEFB-4142-819F-421BA2F31FE7}"/>
              </a:ext>
            </a:extLst>
          </p:cNvPr>
          <p:cNvSpPr/>
          <p:nvPr/>
        </p:nvSpPr>
        <p:spPr bwMode="auto">
          <a:xfrm>
            <a:off x="4195054" y="3573017"/>
            <a:ext cx="360040" cy="465147"/>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a:p>
        </p:txBody>
      </p:sp>
      <p:sp>
        <p:nvSpPr>
          <p:cNvPr id="14" name="Rectangle 13">
            <a:extLst>
              <a:ext uri="{FF2B5EF4-FFF2-40B4-BE49-F238E27FC236}">
                <a16:creationId xmlns:a16="http://schemas.microsoft.com/office/drawing/2014/main" id="{B0A7A404-DAC2-477E-B383-A83641370B81}"/>
              </a:ext>
            </a:extLst>
          </p:cNvPr>
          <p:cNvSpPr/>
          <p:nvPr/>
        </p:nvSpPr>
        <p:spPr>
          <a:xfrm>
            <a:off x="1968792" y="4171146"/>
            <a:ext cx="5322606" cy="553998"/>
          </a:xfrm>
          <a:prstGeom prst="rect">
            <a:avLst/>
          </a:prstGeom>
        </p:spPr>
        <p:txBody>
          <a:bodyPr wrap="square">
            <a:spAutoFit/>
          </a:bodyPr>
          <a:lstStyle/>
          <a:p>
            <a:r>
              <a:rPr lang="en-US" sz="3000"/>
              <a:t>DTTM DT  AM GWK LHGM</a:t>
            </a:r>
          </a:p>
        </p:txBody>
      </p:sp>
      <p:graphicFrame>
        <p:nvGraphicFramePr>
          <p:cNvPr id="6" name="Table 5">
            <a:extLst>
              <a:ext uri="{FF2B5EF4-FFF2-40B4-BE49-F238E27FC236}">
                <a16:creationId xmlns:a16="http://schemas.microsoft.com/office/drawing/2014/main" id="{6120B0C8-5D48-49D6-BDE7-A9C28F52FB58}"/>
              </a:ext>
            </a:extLst>
          </p:cNvPr>
          <p:cNvGraphicFramePr>
            <a:graphicFrameLocks noGrp="1"/>
          </p:cNvGraphicFramePr>
          <p:nvPr>
            <p:extLst>
              <p:ext uri="{D42A27DB-BD31-4B8C-83A1-F6EECF244321}">
                <p14:modId xmlns:p14="http://schemas.microsoft.com/office/powerpoint/2010/main" val="1103529686"/>
              </p:ext>
            </p:extLst>
          </p:nvPr>
        </p:nvGraphicFramePr>
        <p:xfrm>
          <a:off x="623392" y="1481523"/>
          <a:ext cx="10513155" cy="1105448"/>
        </p:xfrm>
        <a:graphic>
          <a:graphicData uri="http://schemas.openxmlformats.org/drawingml/2006/table">
            <a:tbl>
              <a:tblPr>
                <a:tableStyleId>{5C22544A-7EE6-4342-B048-85BDC9FD1C3A}</a:tableStyleId>
              </a:tblPr>
              <a:tblGrid>
                <a:gridCol w="1242257">
                  <a:extLst>
                    <a:ext uri="{9D8B030D-6E8A-4147-A177-3AD203B41FA5}">
                      <a16:colId xmlns:a16="http://schemas.microsoft.com/office/drawing/2014/main" val="3381421877"/>
                    </a:ext>
                  </a:extLst>
                </a:gridCol>
                <a:gridCol w="356573">
                  <a:extLst>
                    <a:ext uri="{9D8B030D-6E8A-4147-A177-3AD203B41FA5}">
                      <a16:colId xmlns:a16="http://schemas.microsoft.com/office/drawing/2014/main" val="3720222400"/>
                    </a:ext>
                  </a:extLst>
                </a:gridCol>
                <a:gridCol w="356573">
                  <a:extLst>
                    <a:ext uri="{9D8B030D-6E8A-4147-A177-3AD203B41FA5}">
                      <a16:colId xmlns:a16="http://schemas.microsoft.com/office/drawing/2014/main" val="4009381266"/>
                    </a:ext>
                  </a:extLst>
                </a:gridCol>
                <a:gridCol w="356573">
                  <a:extLst>
                    <a:ext uri="{9D8B030D-6E8A-4147-A177-3AD203B41FA5}">
                      <a16:colId xmlns:a16="http://schemas.microsoft.com/office/drawing/2014/main" val="933807522"/>
                    </a:ext>
                  </a:extLst>
                </a:gridCol>
                <a:gridCol w="356573">
                  <a:extLst>
                    <a:ext uri="{9D8B030D-6E8A-4147-A177-3AD203B41FA5}">
                      <a16:colId xmlns:a16="http://schemas.microsoft.com/office/drawing/2014/main" val="2786920907"/>
                    </a:ext>
                  </a:extLst>
                </a:gridCol>
                <a:gridCol w="356573">
                  <a:extLst>
                    <a:ext uri="{9D8B030D-6E8A-4147-A177-3AD203B41FA5}">
                      <a16:colId xmlns:a16="http://schemas.microsoft.com/office/drawing/2014/main" val="1140088519"/>
                    </a:ext>
                  </a:extLst>
                </a:gridCol>
                <a:gridCol w="356573">
                  <a:extLst>
                    <a:ext uri="{9D8B030D-6E8A-4147-A177-3AD203B41FA5}">
                      <a16:colId xmlns:a16="http://schemas.microsoft.com/office/drawing/2014/main" val="1756228542"/>
                    </a:ext>
                  </a:extLst>
                </a:gridCol>
                <a:gridCol w="356573">
                  <a:extLst>
                    <a:ext uri="{9D8B030D-6E8A-4147-A177-3AD203B41FA5}">
                      <a16:colId xmlns:a16="http://schemas.microsoft.com/office/drawing/2014/main" val="2738859305"/>
                    </a:ext>
                  </a:extLst>
                </a:gridCol>
                <a:gridCol w="356573">
                  <a:extLst>
                    <a:ext uri="{9D8B030D-6E8A-4147-A177-3AD203B41FA5}">
                      <a16:colId xmlns:a16="http://schemas.microsoft.com/office/drawing/2014/main" val="1395810924"/>
                    </a:ext>
                  </a:extLst>
                </a:gridCol>
                <a:gridCol w="356573">
                  <a:extLst>
                    <a:ext uri="{9D8B030D-6E8A-4147-A177-3AD203B41FA5}">
                      <a16:colId xmlns:a16="http://schemas.microsoft.com/office/drawing/2014/main" val="1211438755"/>
                    </a:ext>
                  </a:extLst>
                </a:gridCol>
                <a:gridCol w="356573">
                  <a:extLst>
                    <a:ext uri="{9D8B030D-6E8A-4147-A177-3AD203B41FA5}">
                      <a16:colId xmlns:a16="http://schemas.microsoft.com/office/drawing/2014/main" val="3521723968"/>
                    </a:ext>
                  </a:extLst>
                </a:gridCol>
                <a:gridCol w="356573">
                  <a:extLst>
                    <a:ext uri="{9D8B030D-6E8A-4147-A177-3AD203B41FA5}">
                      <a16:colId xmlns:a16="http://schemas.microsoft.com/office/drawing/2014/main" val="3889896056"/>
                    </a:ext>
                  </a:extLst>
                </a:gridCol>
                <a:gridCol w="356573">
                  <a:extLst>
                    <a:ext uri="{9D8B030D-6E8A-4147-A177-3AD203B41FA5}">
                      <a16:colId xmlns:a16="http://schemas.microsoft.com/office/drawing/2014/main" val="3321001052"/>
                    </a:ext>
                  </a:extLst>
                </a:gridCol>
                <a:gridCol w="356573">
                  <a:extLst>
                    <a:ext uri="{9D8B030D-6E8A-4147-A177-3AD203B41FA5}">
                      <a16:colId xmlns:a16="http://schemas.microsoft.com/office/drawing/2014/main" val="494124141"/>
                    </a:ext>
                  </a:extLst>
                </a:gridCol>
                <a:gridCol w="356573">
                  <a:extLst>
                    <a:ext uri="{9D8B030D-6E8A-4147-A177-3AD203B41FA5}">
                      <a16:colId xmlns:a16="http://schemas.microsoft.com/office/drawing/2014/main" val="2788667094"/>
                    </a:ext>
                  </a:extLst>
                </a:gridCol>
                <a:gridCol w="356573">
                  <a:extLst>
                    <a:ext uri="{9D8B030D-6E8A-4147-A177-3AD203B41FA5}">
                      <a16:colId xmlns:a16="http://schemas.microsoft.com/office/drawing/2014/main" val="429268821"/>
                    </a:ext>
                  </a:extLst>
                </a:gridCol>
                <a:gridCol w="356573">
                  <a:extLst>
                    <a:ext uri="{9D8B030D-6E8A-4147-A177-3AD203B41FA5}">
                      <a16:colId xmlns:a16="http://schemas.microsoft.com/office/drawing/2014/main" val="2364517364"/>
                    </a:ext>
                  </a:extLst>
                </a:gridCol>
                <a:gridCol w="356573">
                  <a:extLst>
                    <a:ext uri="{9D8B030D-6E8A-4147-A177-3AD203B41FA5}">
                      <a16:colId xmlns:a16="http://schemas.microsoft.com/office/drawing/2014/main" val="9061560"/>
                    </a:ext>
                  </a:extLst>
                </a:gridCol>
                <a:gridCol w="356573">
                  <a:extLst>
                    <a:ext uri="{9D8B030D-6E8A-4147-A177-3AD203B41FA5}">
                      <a16:colId xmlns:a16="http://schemas.microsoft.com/office/drawing/2014/main" val="3416970648"/>
                    </a:ext>
                  </a:extLst>
                </a:gridCol>
                <a:gridCol w="356573">
                  <a:extLst>
                    <a:ext uri="{9D8B030D-6E8A-4147-A177-3AD203B41FA5}">
                      <a16:colId xmlns:a16="http://schemas.microsoft.com/office/drawing/2014/main" val="3462195343"/>
                    </a:ext>
                  </a:extLst>
                </a:gridCol>
                <a:gridCol w="356573">
                  <a:extLst>
                    <a:ext uri="{9D8B030D-6E8A-4147-A177-3AD203B41FA5}">
                      <a16:colId xmlns:a16="http://schemas.microsoft.com/office/drawing/2014/main" val="3708186122"/>
                    </a:ext>
                  </a:extLst>
                </a:gridCol>
                <a:gridCol w="356573">
                  <a:extLst>
                    <a:ext uri="{9D8B030D-6E8A-4147-A177-3AD203B41FA5}">
                      <a16:colId xmlns:a16="http://schemas.microsoft.com/office/drawing/2014/main" val="684907459"/>
                    </a:ext>
                  </a:extLst>
                </a:gridCol>
                <a:gridCol w="356573">
                  <a:extLst>
                    <a:ext uri="{9D8B030D-6E8A-4147-A177-3AD203B41FA5}">
                      <a16:colId xmlns:a16="http://schemas.microsoft.com/office/drawing/2014/main" val="2491587696"/>
                    </a:ext>
                  </a:extLst>
                </a:gridCol>
                <a:gridCol w="356573">
                  <a:extLst>
                    <a:ext uri="{9D8B030D-6E8A-4147-A177-3AD203B41FA5}">
                      <a16:colId xmlns:a16="http://schemas.microsoft.com/office/drawing/2014/main" val="3854556890"/>
                    </a:ext>
                  </a:extLst>
                </a:gridCol>
                <a:gridCol w="356573">
                  <a:extLst>
                    <a:ext uri="{9D8B030D-6E8A-4147-A177-3AD203B41FA5}">
                      <a16:colId xmlns:a16="http://schemas.microsoft.com/office/drawing/2014/main" val="3742579501"/>
                    </a:ext>
                  </a:extLst>
                </a:gridCol>
                <a:gridCol w="356573">
                  <a:extLst>
                    <a:ext uri="{9D8B030D-6E8A-4147-A177-3AD203B41FA5}">
                      <a16:colId xmlns:a16="http://schemas.microsoft.com/office/drawing/2014/main" val="4137283052"/>
                    </a:ext>
                  </a:extLst>
                </a:gridCol>
                <a:gridCol w="356573">
                  <a:extLst>
                    <a:ext uri="{9D8B030D-6E8A-4147-A177-3AD203B41FA5}">
                      <a16:colId xmlns:a16="http://schemas.microsoft.com/office/drawing/2014/main" val="1176865582"/>
                    </a:ext>
                  </a:extLst>
                </a:gridCol>
              </a:tblGrid>
              <a:tr h="552724">
                <a:tc>
                  <a:txBody>
                    <a:bodyPr/>
                    <a:lstStyle/>
                    <a:p>
                      <a:pPr algn="ctr" fontAlgn="ctr"/>
                      <a:r>
                        <a:rPr lang="en-US" sz="1800" u="none" strike="noStrike">
                          <a:effectLst/>
                        </a:rPr>
                        <a:t>Plain:</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A</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B</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C</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D</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E</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F</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G</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H</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I</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J</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K</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L</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M</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N</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O</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P</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Q</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R</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S</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T</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U</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V</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W</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X</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Y</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Z</a:t>
                      </a:r>
                      <a:endParaRPr lang="en-US" sz="18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357721909"/>
                  </a:ext>
                </a:extLst>
              </a:tr>
              <a:tr h="552724">
                <a:tc>
                  <a:txBody>
                    <a:bodyPr/>
                    <a:lstStyle/>
                    <a:p>
                      <a:pPr algn="ctr" fontAlgn="ctr"/>
                      <a:r>
                        <a:rPr lang="en-US" sz="1800" u="none" strike="noStrike">
                          <a:effectLst/>
                        </a:rPr>
                        <a:t>Cipher:</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A</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Z</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E</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R</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T</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Y</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U</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I</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O</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P</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Q</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S</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D</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F</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G</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H</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J</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K</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L</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M</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W</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X</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C</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V</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B</a:t>
                      </a:r>
                      <a:endParaRPr lang="en-US" sz="18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en-US" sz="1800" u="none" strike="noStrike">
                          <a:effectLst/>
                        </a:rPr>
                        <a:t>N</a:t>
                      </a:r>
                      <a:endParaRPr lang="en-US" sz="1800" b="0" i="0" u="none" strike="noStrike">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4132981848"/>
                  </a:ext>
                </a:extLst>
              </a:tr>
            </a:tbl>
          </a:graphicData>
        </a:graphic>
      </p:graphicFrame>
    </p:spTree>
    <p:extLst>
      <p:ext uri="{BB962C8B-B14F-4D97-AF65-F5344CB8AC3E}">
        <p14:creationId xmlns:p14="http://schemas.microsoft.com/office/powerpoint/2010/main" val="9885630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9342" y="249330"/>
            <a:ext cx="8979146" cy="584765"/>
          </a:xfrm>
        </p:spPr>
        <p:txBody>
          <a:bodyPr wrap="square">
            <a:spAutoFit/>
          </a:bodyPr>
          <a:lstStyle/>
          <a:p>
            <a:r>
              <a:rPr lang="en-IN" altLang="en-US" sz="3200" b="1">
                <a:ea typeface="ヒラギノ角ゴ Pro W3" charset="-128"/>
              </a:rPr>
              <a:t>Relative Frequency of Letters in English Text</a:t>
            </a:r>
          </a:p>
        </p:txBody>
      </p:sp>
      <p:pic>
        <p:nvPicPr>
          <p:cNvPr id="6" name="Picture Placeholder 5" descr="A graph plots the relative frequency (%) for each letter in the English alphabet."/>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623392" y="986978"/>
            <a:ext cx="11017224" cy="5466358"/>
          </a:xfrm>
          <a:prstGeom prst="rect">
            <a:avLst/>
          </a:prstGeom>
          <a:noFill/>
          <a:ln>
            <a:noFill/>
          </a:ln>
        </p:spPr>
      </p:pic>
    </p:spTree>
    <p:extLst>
      <p:ext uri="{BB962C8B-B14F-4D97-AF65-F5344CB8AC3E}">
        <p14:creationId xmlns:p14="http://schemas.microsoft.com/office/powerpoint/2010/main" val="3980926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9342" y="249330"/>
            <a:ext cx="8979146" cy="584765"/>
          </a:xfrm>
        </p:spPr>
        <p:txBody>
          <a:bodyPr wrap="square">
            <a:spAutoFit/>
          </a:bodyPr>
          <a:lstStyle/>
          <a:p>
            <a:r>
              <a:rPr lang="en-IN" altLang="en-US" sz="3200" b="1">
                <a:ea typeface="ヒラギノ角ゴ Pro W3" charset="-128"/>
              </a:rPr>
              <a:t>Relative Frequency of Letters in English Text</a:t>
            </a:r>
          </a:p>
        </p:txBody>
      </p:sp>
      <p:pic>
        <p:nvPicPr>
          <p:cNvPr id="8" name="Picture 7">
            <a:extLst>
              <a:ext uri="{FF2B5EF4-FFF2-40B4-BE49-F238E27FC236}">
                <a16:creationId xmlns:a16="http://schemas.microsoft.com/office/drawing/2014/main" id="{76D1976A-1F09-BF83-ADFC-25C6A80B271B}"/>
              </a:ext>
            </a:extLst>
          </p:cNvPr>
          <p:cNvPicPr>
            <a:picLocks noChangeAspect="1"/>
          </p:cNvPicPr>
          <p:nvPr/>
        </p:nvPicPr>
        <p:blipFill>
          <a:blip r:embed="rId3"/>
          <a:stretch>
            <a:fillRect/>
          </a:stretch>
        </p:blipFill>
        <p:spPr>
          <a:xfrm>
            <a:off x="587388" y="1052736"/>
            <a:ext cx="11017224" cy="5405647"/>
          </a:xfrm>
          <a:prstGeom prst="rect">
            <a:avLst/>
          </a:prstGeom>
        </p:spPr>
      </p:pic>
    </p:spTree>
    <p:extLst>
      <p:ext uri="{BB962C8B-B14F-4D97-AF65-F5344CB8AC3E}">
        <p14:creationId xmlns:p14="http://schemas.microsoft.com/office/powerpoint/2010/main" val="1690055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9496" y="205354"/>
            <a:ext cx="8291264" cy="584765"/>
          </a:xfrm>
        </p:spPr>
        <p:txBody>
          <a:bodyPr wrap="square">
            <a:spAutoFit/>
          </a:bodyPr>
          <a:lstStyle/>
          <a:p>
            <a:r>
              <a:rPr lang="en-IN" altLang="en-US" sz="3200">
                <a:ea typeface="ヒラギノ角ゴ Pro W3" charset="-128"/>
              </a:rPr>
              <a:t>Cryptanalysis on monoalphabetic cipher</a:t>
            </a:r>
          </a:p>
        </p:txBody>
      </p:sp>
      <p:sp>
        <p:nvSpPr>
          <p:cNvPr id="7" name="Rectangle 6">
            <a:extLst>
              <a:ext uri="{FF2B5EF4-FFF2-40B4-BE49-F238E27FC236}">
                <a16:creationId xmlns:a16="http://schemas.microsoft.com/office/drawing/2014/main" id="{8B169539-2419-426F-8C4A-828E5ADE1865}"/>
              </a:ext>
            </a:extLst>
          </p:cNvPr>
          <p:cNvSpPr/>
          <p:nvPr/>
        </p:nvSpPr>
        <p:spPr>
          <a:xfrm>
            <a:off x="839416" y="1197620"/>
            <a:ext cx="10729192" cy="4893647"/>
          </a:xfrm>
          <a:prstGeom prst="rect">
            <a:avLst/>
          </a:prstGeom>
        </p:spPr>
        <p:txBody>
          <a:bodyPr wrap="square">
            <a:spAutoFit/>
          </a:bodyPr>
          <a:lstStyle/>
          <a:p>
            <a:r>
              <a:rPr lang="en-US" err="1">
                <a:latin typeface="Times New Roman" panose="02020603050405020304" pitchFamily="18" charset="0"/>
                <a:cs typeface="Times New Roman" panose="02020603050405020304" pitchFamily="18" charset="0"/>
              </a:rPr>
              <a:t>hzsrnqc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klyy</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wqc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flo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mflwf</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ol</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zqdn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nsoznj</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wskn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lj</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xzsrbjnf</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wzsxz</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gqv</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zqhhnf</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ol</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ozn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glco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zlfnco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hnlhrn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nsoznj</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jnrqosdnc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lj</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fnqj</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kjsnfbc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wzsxz</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sc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xnjoqsfrv</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gljn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efeceqr</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zn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rsdnb</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qrlfn</a:t>
            </a:r>
            <a:r>
              <a:rPr lang="en-US">
                <a:latin typeface="Times New Roman" panose="02020603050405020304" pitchFamily="18" charset="0"/>
                <a:cs typeface="Times New Roman" panose="02020603050405020304" pitchFamily="18" charset="0"/>
              </a:rPr>
              <a:t> sf </a:t>
            </a:r>
            <a:r>
              <a:rPr lang="en-US" err="1">
                <a:latin typeface="Times New Roman" panose="02020603050405020304" pitchFamily="18" charset="0"/>
                <a:cs typeface="Times New Roman" panose="02020603050405020304" pitchFamily="18" charset="0"/>
              </a:rPr>
              <a:t>zsc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zlecn</a:t>
            </a:r>
            <a:r>
              <a:rPr lang="en-US">
                <a:latin typeface="Times New Roman" panose="02020603050405020304" pitchFamily="18" charset="0"/>
                <a:cs typeface="Times New Roman" panose="02020603050405020304" pitchFamily="18" charset="0"/>
              </a:rPr>
              <a:t> sf </a:t>
            </a:r>
            <a:r>
              <a:rPr lang="en-US" err="1">
                <a:latin typeface="Times New Roman" panose="02020603050405020304" pitchFamily="18" charset="0"/>
                <a:cs typeface="Times New Roman" panose="02020603050405020304" pitchFamily="18" charset="0"/>
              </a:rPr>
              <a:t>cqdsrrn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jlw</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wzsoznj</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flfn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hnfnojqonb</a:t>
            </a:r>
            <a:r>
              <a:rPr lang="en-US">
                <a:latin typeface="Times New Roman" panose="02020603050405020304" pitchFamily="18" charset="0"/>
                <a:cs typeface="Times New Roman" panose="02020603050405020304" pitchFamily="18" charset="0"/>
              </a:rPr>
              <a:t>. q </a:t>
            </a:r>
            <a:r>
              <a:rPr lang="en-US" err="1">
                <a:latin typeface="Times New Roman" panose="02020603050405020304" pitchFamily="18" charset="0"/>
                <a:cs typeface="Times New Roman" panose="02020603050405020304" pitchFamily="18" charset="0"/>
              </a:rPr>
              <a:t>csfyrn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blgncosx</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cekksxnb</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ol</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cnjdn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zsg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zn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pjnqmkqconb</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qfb</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bsfnb</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qo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ozn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xrep</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qo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zlejc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gqozngqosxqrrv</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ksanb</a:t>
            </a:r>
            <a:r>
              <a:rPr lang="en-US">
                <a:latin typeface="Times New Roman" panose="02020603050405020304" pitchFamily="18" charset="0"/>
                <a:cs typeface="Times New Roman" panose="02020603050405020304" pitchFamily="18" charset="0"/>
              </a:rPr>
              <a:t>, sf </a:t>
            </a:r>
            <a:r>
              <a:rPr lang="en-US" err="1">
                <a:latin typeface="Times New Roman" panose="02020603050405020304" pitchFamily="18" charset="0"/>
                <a:cs typeface="Times New Roman" panose="02020603050405020304" pitchFamily="18" charset="0"/>
              </a:rPr>
              <a:t>ozn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cqgn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jllg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qo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ozn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cqgn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oqprn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fndnj</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oqmsfy</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zsc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gnqrc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wsoz</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loznj</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gngpnjc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gexz</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rncc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pjsfysfy</a:t>
            </a:r>
            <a:r>
              <a:rPr lang="en-US">
                <a:latin typeface="Times New Roman" panose="02020603050405020304" pitchFamily="18" charset="0"/>
                <a:cs typeface="Times New Roman" panose="02020603050405020304" pitchFamily="18" charset="0"/>
              </a:rPr>
              <a:t> q </a:t>
            </a:r>
            <a:r>
              <a:rPr lang="en-US" err="1">
                <a:latin typeface="Times New Roman" panose="02020603050405020304" pitchFamily="18" charset="0"/>
                <a:cs typeface="Times New Roman" panose="02020603050405020304" pitchFamily="18" charset="0"/>
              </a:rPr>
              <a:t>yenco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wsoz</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zsg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qfb</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wnfo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zlgn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qo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naqxorv</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gsbfsyzo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lfrv</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ol</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jnosjn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qo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lfxn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ol</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pnb</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zn</a:t>
            </a:r>
            <a:r>
              <a:rPr lang="en-US">
                <a:latin typeface="Times New Roman" panose="02020603050405020304" pitchFamily="18" charset="0"/>
                <a:cs typeface="Times New Roman" panose="02020603050405020304" pitchFamily="18" charset="0"/>
              </a:rPr>
              <a:t> </a:t>
            </a:r>
            <a:r>
              <a:rPr lang="en-US" sz="3200" err="1">
                <a:latin typeface="Times New Roman" panose="02020603050405020304" pitchFamily="18" charset="0"/>
                <a:cs typeface="Times New Roman" panose="02020603050405020304" pitchFamily="18" charset="0"/>
              </a:rPr>
              <a:t>fndnj</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ecnb</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ozn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xlcv</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xzqgpnjc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wzsxz</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ozn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jnkljg</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hjldsbnc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klj</a:t>
            </a:r>
            <a:r>
              <a:rPr lang="en-US">
                <a:latin typeface="Times New Roman" panose="02020603050405020304" pitchFamily="18" charset="0"/>
                <a:cs typeface="Times New Roman" panose="02020603050405020304" pitchFamily="18" charset="0"/>
              </a:rPr>
              <a:t> soc </a:t>
            </a:r>
            <a:r>
              <a:rPr lang="en-US" err="1">
                <a:latin typeface="Times New Roman" panose="02020603050405020304" pitchFamily="18" charset="0"/>
                <a:cs typeface="Times New Roman" panose="02020603050405020304" pitchFamily="18" charset="0"/>
              </a:rPr>
              <a:t>kqdlejnb</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gngpnjc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zn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hqccnb</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onf</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zlejc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leo</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lk</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ozn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ownfov-klej</a:t>
            </a:r>
            <a:r>
              <a:rPr lang="en-US">
                <a:latin typeface="Times New Roman" panose="02020603050405020304" pitchFamily="18" charset="0"/>
                <a:cs typeface="Times New Roman" panose="02020603050405020304" pitchFamily="18" charset="0"/>
              </a:rPr>
              <a:t> sf </a:t>
            </a:r>
            <a:r>
              <a:rPr lang="en-US" err="1">
                <a:latin typeface="Times New Roman" panose="02020603050405020304" pitchFamily="18" charset="0"/>
                <a:cs typeface="Times New Roman" panose="02020603050405020304" pitchFamily="18" charset="0"/>
              </a:rPr>
              <a:t>cqdsrrn</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jlw</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nsoznj</a:t>
            </a:r>
            <a:r>
              <a:rPr lang="en-US">
                <a:latin typeface="Times New Roman" panose="02020603050405020304" pitchFamily="18" charset="0"/>
                <a:cs typeface="Times New Roman" panose="02020603050405020304" pitchFamily="18" charset="0"/>
              </a:rPr>
              <a:t> sf </a:t>
            </a:r>
            <a:r>
              <a:rPr lang="en-US" err="1">
                <a:latin typeface="Times New Roman" panose="02020603050405020304" pitchFamily="18" charset="0"/>
                <a:cs typeface="Times New Roman" panose="02020603050405020304" pitchFamily="18" charset="0"/>
              </a:rPr>
              <a:t>crnnhsfy</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lj</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gqmsfy</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zsc</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olsrno</a:t>
            </a:r>
            <a:r>
              <a:rPr lang="en-US">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1813026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9342" y="249330"/>
            <a:ext cx="8979146" cy="584765"/>
          </a:xfrm>
        </p:spPr>
        <p:txBody>
          <a:bodyPr wrap="square">
            <a:spAutoFit/>
          </a:bodyPr>
          <a:lstStyle/>
          <a:p>
            <a:r>
              <a:rPr lang="en-IN" altLang="en-US" sz="3200" b="1">
                <a:ea typeface="ヒラギノ角ゴ Pro W3" charset="-128"/>
              </a:rPr>
              <a:t>Relative Frequency of Letters in Ciphertext</a:t>
            </a:r>
          </a:p>
        </p:txBody>
      </p:sp>
      <p:pic>
        <p:nvPicPr>
          <p:cNvPr id="8" name="Picture 7">
            <a:extLst>
              <a:ext uri="{FF2B5EF4-FFF2-40B4-BE49-F238E27FC236}">
                <a16:creationId xmlns:a16="http://schemas.microsoft.com/office/drawing/2014/main" id="{10CE389D-EC67-9A52-3F34-694BCD1DF7D6}"/>
              </a:ext>
            </a:extLst>
          </p:cNvPr>
          <p:cNvPicPr>
            <a:picLocks noChangeAspect="1"/>
          </p:cNvPicPr>
          <p:nvPr/>
        </p:nvPicPr>
        <p:blipFill>
          <a:blip r:embed="rId3"/>
          <a:stretch>
            <a:fillRect/>
          </a:stretch>
        </p:blipFill>
        <p:spPr>
          <a:xfrm>
            <a:off x="623391" y="980728"/>
            <a:ext cx="10870821" cy="5400600"/>
          </a:xfrm>
          <a:prstGeom prst="rect">
            <a:avLst/>
          </a:prstGeom>
        </p:spPr>
      </p:pic>
    </p:spTree>
    <p:extLst>
      <p:ext uri="{BB962C8B-B14F-4D97-AF65-F5344CB8AC3E}">
        <p14:creationId xmlns:p14="http://schemas.microsoft.com/office/powerpoint/2010/main" val="19926853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9342" y="249330"/>
            <a:ext cx="9987258" cy="584765"/>
          </a:xfrm>
        </p:spPr>
        <p:txBody>
          <a:bodyPr wrap="square">
            <a:spAutoFit/>
          </a:bodyPr>
          <a:lstStyle/>
          <a:p>
            <a:r>
              <a:rPr lang="en-IN" altLang="en-US" sz="3200" b="1">
                <a:ea typeface="ヒラギノ角ゴ Pro W3" charset="-128"/>
              </a:rPr>
              <a:t>Relative Frequency of Plaintext and Ciphertext</a:t>
            </a:r>
          </a:p>
        </p:txBody>
      </p:sp>
      <p:pic>
        <p:nvPicPr>
          <p:cNvPr id="8" name="Picture 7">
            <a:extLst>
              <a:ext uri="{FF2B5EF4-FFF2-40B4-BE49-F238E27FC236}">
                <a16:creationId xmlns:a16="http://schemas.microsoft.com/office/drawing/2014/main" id="{10CE389D-EC67-9A52-3F34-694BCD1DF7D6}"/>
              </a:ext>
            </a:extLst>
          </p:cNvPr>
          <p:cNvPicPr>
            <a:picLocks noChangeAspect="1"/>
          </p:cNvPicPr>
          <p:nvPr/>
        </p:nvPicPr>
        <p:blipFill>
          <a:blip r:embed="rId3"/>
          <a:stretch>
            <a:fillRect/>
          </a:stretch>
        </p:blipFill>
        <p:spPr>
          <a:xfrm>
            <a:off x="6528048" y="932105"/>
            <a:ext cx="5076564" cy="5510252"/>
          </a:xfrm>
          <a:prstGeom prst="rect">
            <a:avLst/>
          </a:prstGeom>
        </p:spPr>
      </p:pic>
      <p:pic>
        <p:nvPicPr>
          <p:cNvPr id="3" name="Picture 2">
            <a:extLst>
              <a:ext uri="{FF2B5EF4-FFF2-40B4-BE49-F238E27FC236}">
                <a16:creationId xmlns:a16="http://schemas.microsoft.com/office/drawing/2014/main" id="{48C7A51C-7AFF-DFD0-1A42-369296ADAB05}"/>
              </a:ext>
            </a:extLst>
          </p:cNvPr>
          <p:cNvPicPr>
            <a:picLocks noChangeAspect="1"/>
          </p:cNvPicPr>
          <p:nvPr/>
        </p:nvPicPr>
        <p:blipFill>
          <a:blip r:embed="rId4"/>
          <a:stretch>
            <a:fillRect/>
          </a:stretch>
        </p:blipFill>
        <p:spPr>
          <a:xfrm>
            <a:off x="587388" y="948130"/>
            <a:ext cx="5220580" cy="5510253"/>
          </a:xfrm>
          <a:prstGeom prst="rect">
            <a:avLst/>
          </a:prstGeom>
        </p:spPr>
      </p:pic>
    </p:spTree>
    <p:extLst>
      <p:ext uri="{BB962C8B-B14F-4D97-AF65-F5344CB8AC3E}">
        <p14:creationId xmlns:p14="http://schemas.microsoft.com/office/powerpoint/2010/main" val="6583215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3472" y="188640"/>
            <a:ext cx="10657184" cy="646321"/>
          </a:xfrm>
        </p:spPr>
        <p:txBody>
          <a:bodyPr wrap="square">
            <a:spAutoFit/>
          </a:bodyPr>
          <a:lstStyle/>
          <a:p>
            <a:r>
              <a:rPr lang="en-IN" altLang="en-US" b="1">
                <a:ea typeface="ヒラギノ角ゴ Pro W3" charset="-128"/>
              </a:rPr>
              <a:t>Cryptanalysis randomly Monoalphabetic cipher</a:t>
            </a:r>
            <a:endParaRPr lang="en-US" sz="2800"/>
          </a:p>
        </p:txBody>
      </p:sp>
      <p:sp>
        <p:nvSpPr>
          <p:cNvPr id="4" name="Content Placeholder 3"/>
          <p:cNvSpPr>
            <a:spLocks noGrp="1"/>
          </p:cNvSpPr>
          <p:nvPr>
            <p:ph sz="quarter" idx="16"/>
          </p:nvPr>
        </p:nvSpPr>
        <p:spPr>
          <a:xfrm>
            <a:off x="479376" y="1052736"/>
            <a:ext cx="11712624" cy="2683994"/>
          </a:xfrm>
        </p:spPr>
        <p:txBody>
          <a:bodyPr wrap="square">
            <a:spAutoFit/>
          </a:bodyPr>
          <a:lstStyle/>
          <a:p>
            <a:pPr>
              <a:lnSpc>
                <a:spcPct val="150000"/>
              </a:lnSpc>
            </a:pPr>
            <a:r>
              <a:rPr lang="en-US" sz="2800">
                <a:solidFill>
                  <a:srgbClr val="FF0000"/>
                </a:solidFill>
              </a:rPr>
              <a:t>Easy to break </a:t>
            </a:r>
            <a:r>
              <a:rPr lang="en-US" sz="2800"/>
              <a:t>because they reflect the frequency data of the original alphabet</a:t>
            </a:r>
          </a:p>
          <a:p>
            <a:pPr>
              <a:lnSpc>
                <a:spcPct val="150000"/>
              </a:lnSpc>
            </a:pPr>
            <a:r>
              <a:rPr lang="en-US" sz="2800">
                <a:solidFill>
                  <a:srgbClr val="FF0000"/>
                </a:solidFill>
              </a:rPr>
              <a:t>Countermeasure</a:t>
            </a:r>
            <a:r>
              <a:rPr lang="en-US" sz="2800"/>
              <a:t> is to provide multiple substitutes (homophones) for a single letter</a:t>
            </a:r>
          </a:p>
        </p:txBody>
      </p:sp>
    </p:spTree>
    <p:extLst>
      <p:ext uri="{BB962C8B-B14F-4D97-AF65-F5344CB8AC3E}">
        <p14:creationId xmlns:p14="http://schemas.microsoft.com/office/powerpoint/2010/main" val="20034754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1177D-4FD0-AB64-310D-270DF4560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E3ED6C-0359-02FE-93C4-4A2C95FF5595}"/>
              </a:ext>
            </a:extLst>
          </p:cNvPr>
          <p:cNvSpPr>
            <a:spLocks noGrp="1"/>
          </p:cNvSpPr>
          <p:nvPr>
            <p:ph type="title"/>
          </p:nvPr>
        </p:nvSpPr>
        <p:spPr>
          <a:xfrm>
            <a:off x="1378279" y="205780"/>
            <a:ext cx="7704856" cy="646321"/>
          </a:xfrm>
        </p:spPr>
        <p:txBody>
          <a:bodyPr wrap="square">
            <a:spAutoFit/>
          </a:bodyPr>
          <a:lstStyle/>
          <a:p>
            <a:pPr lvl="1"/>
            <a:r>
              <a:rPr lang="en-US" sz="3600" b="1" kern="100">
                <a:effectLst/>
                <a:latin typeface="Aptos" panose="020B0004020202020204" pitchFamily="34" charset="0"/>
                <a:ea typeface="Aptos" panose="020B0004020202020204" pitchFamily="34" charset="0"/>
                <a:cs typeface="Times New Roman" panose="02020603050405020304" pitchFamily="18" charset="0"/>
              </a:rPr>
              <a:t>Homophonic</a:t>
            </a:r>
            <a:r>
              <a:rPr lang="en-IN" altLang="en-US" sz="3400" b="1">
                <a:ea typeface="ヒラギノ角ゴ Pro W3" charset="-128"/>
              </a:rPr>
              <a:t> ciphers</a:t>
            </a:r>
          </a:p>
        </p:txBody>
      </p:sp>
      <p:sp>
        <p:nvSpPr>
          <p:cNvPr id="5" name="Content Placeholder 3">
            <a:extLst>
              <a:ext uri="{FF2B5EF4-FFF2-40B4-BE49-F238E27FC236}">
                <a16:creationId xmlns:a16="http://schemas.microsoft.com/office/drawing/2014/main" id="{D83D755B-D429-D315-3184-AE27C2DFAB1A}"/>
              </a:ext>
            </a:extLst>
          </p:cNvPr>
          <p:cNvSpPr txBox="1">
            <a:spLocks/>
          </p:cNvSpPr>
          <p:nvPr/>
        </p:nvSpPr>
        <p:spPr bwMode="auto">
          <a:xfrm>
            <a:off x="335360" y="939974"/>
            <a:ext cx="12097344" cy="5323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t" anchorCtr="0" compatLnSpc="1">
            <a:prstTxWarp prst="textNoShape">
              <a:avLst/>
            </a:prstTxWarp>
            <a:spAutoFit/>
          </a:bodyPr>
          <a:lstStyle>
            <a:lvl1pPr marL="342900" indent="-342900" algn="l" rtl="0" eaLnBrk="0" fontAlgn="base" hangingPunct="0">
              <a:spcBef>
                <a:spcPct val="20000"/>
              </a:spcBef>
              <a:spcAft>
                <a:spcPct val="0"/>
              </a:spcAft>
              <a:buClr>
                <a:srgbClr val="16AFC2"/>
              </a:buClr>
              <a:buSzPct val="125000"/>
              <a:buFont typeface="Wingdings" panose="05000000000000000000" pitchFamily="2" charset="2"/>
              <a:buChar char="§"/>
              <a:defRPr sz="1600">
                <a:solidFill>
                  <a:schemeClr val="tx1"/>
                </a:solidFill>
                <a:latin typeface="+mn-lt"/>
                <a:ea typeface="+mn-ea"/>
                <a:cs typeface="+mn-cs"/>
              </a:defRPr>
            </a:lvl1pPr>
            <a:lvl2pPr marL="742950" indent="-285750" algn="l" rtl="0" eaLnBrk="0" fontAlgn="base" hangingPunct="0">
              <a:spcBef>
                <a:spcPct val="20000"/>
              </a:spcBef>
              <a:spcAft>
                <a:spcPct val="0"/>
              </a:spcAft>
              <a:buClr>
                <a:srgbClr val="339966"/>
              </a:buClr>
              <a:buSzPct val="85000"/>
              <a:buFont typeface="Wingdings" panose="05000000000000000000" pitchFamily="2" charset="2"/>
              <a:buChar char="Ø"/>
              <a:defRPr sz="1600">
                <a:solidFill>
                  <a:schemeClr val="tx1"/>
                </a:solidFill>
                <a:latin typeface="+mn-lt"/>
              </a:defRPr>
            </a:lvl2pPr>
            <a:lvl3pPr marL="1143000" indent="-228600" algn="l" rtl="0" eaLnBrk="0" fontAlgn="base" hangingPunct="0">
              <a:spcBef>
                <a:spcPct val="20000"/>
              </a:spcBef>
              <a:spcAft>
                <a:spcPct val="0"/>
              </a:spcAft>
              <a:buSzPct val="150000"/>
              <a:buChar char="•"/>
              <a:defRPr sz="1600">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400">
                <a:solidFill>
                  <a:schemeClr val="tx1"/>
                </a:solidFill>
                <a:latin typeface="+mn-lt"/>
              </a:defRPr>
            </a:lvl6pPr>
            <a:lvl7pPr marL="2971800" indent="-228600" algn="l" rtl="0" fontAlgn="base">
              <a:spcBef>
                <a:spcPct val="20000"/>
              </a:spcBef>
              <a:spcAft>
                <a:spcPct val="0"/>
              </a:spcAft>
              <a:buChar char="»"/>
              <a:defRPr sz="1400">
                <a:solidFill>
                  <a:schemeClr val="tx1"/>
                </a:solidFill>
                <a:latin typeface="+mn-lt"/>
              </a:defRPr>
            </a:lvl7pPr>
            <a:lvl8pPr marL="3429000" indent="-228600" algn="l" rtl="0" fontAlgn="base">
              <a:spcBef>
                <a:spcPct val="20000"/>
              </a:spcBef>
              <a:spcAft>
                <a:spcPct val="0"/>
              </a:spcAft>
              <a:buChar char="»"/>
              <a:defRPr sz="1400">
                <a:solidFill>
                  <a:schemeClr val="tx1"/>
                </a:solidFill>
                <a:latin typeface="+mn-lt"/>
              </a:defRPr>
            </a:lvl8pPr>
            <a:lvl9pPr marL="3886200" indent="-228600" algn="l" rtl="0" fontAlgn="base">
              <a:spcBef>
                <a:spcPct val="20000"/>
              </a:spcBef>
              <a:spcAft>
                <a:spcPct val="0"/>
              </a:spcAft>
              <a:buChar char="»"/>
              <a:defRPr sz="1400">
                <a:solidFill>
                  <a:schemeClr val="tx1"/>
                </a:solidFill>
                <a:latin typeface="+mn-lt"/>
              </a:defRPr>
            </a:lvl9pPr>
          </a:lstStyle>
          <a:p>
            <a:pPr marL="0" marR="0" lvl="0" indent="0">
              <a:lnSpc>
                <a:spcPct val="115000"/>
              </a:lnSpc>
              <a:spcAft>
                <a:spcPts val="800"/>
              </a:spcAft>
              <a:buNone/>
              <a:tabLst>
                <a:tab pos="457200" algn="l"/>
              </a:tabLst>
            </a:pPr>
            <a:r>
              <a:rPr lang="en-US" sz="2800" b="1" kern="100">
                <a:effectLst/>
                <a:latin typeface="Aptos" panose="020B0004020202020204" pitchFamily="34" charset="0"/>
                <a:ea typeface="Aptos" panose="020B0004020202020204" pitchFamily="34" charset="0"/>
                <a:cs typeface="Times New Roman" panose="02020603050405020304" pitchFamily="18" charset="0"/>
              </a:rPr>
              <a:t>Homophonic Substitution Cipher</a:t>
            </a:r>
            <a:br>
              <a:rPr lang="en-US" sz="2800" kern="100">
                <a:effectLst/>
                <a:latin typeface="Aptos" panose="020B0004020202020204" pitchFamily="34" charset="0"/>
                <a:ea typeface="Aptos" panose="020B0004020202020204" pitchFamily="34" charset="0"/>
                <a:cs typeface="Times New Roman" panose="02020603050405020304" pitchFamily="18" charset="0"/>
              </a:rPr>
            </a:br>
            <a:r>
              <a:rPr lang="en-US" sz="2800" kern="100">
                <a:effectLst/>
                <a:latin typeface="Aptos" panose="020B0004020202020204" pitchFamily="34" charset="0"/>
                <a:ea typeface="Aptos" panose="020B0004020202020204" pitchFamily="34" charset="0"/>
                <a:cs typeface="Times New Roman" panose="02020603050405020304" pitchFamily="18" charset="0"/>
              </a:rPr>
              <a:t>Instead of a one-to-one mapping, each plaintext letter is </a:t>
            </a:r>
            <a:r>
              <a:rPr lang="en-US" sz="2800" kern="100">
                <a:solidFill>
                  <a:srgbClr val="FF0000"/>
                </a:solidFill>
                <a:effectLst/>
                <a:latin typeface="Aptos" panose="020B0004020202020204" pitchFamily="34" charset="0"/>
                <a:ea typeface="Aptos" panose="020B0004020202020204" pitchFamily="34" charset="0"/>
                <a:cs typeface="Times New Roman" panose="02020603050405020304" pitchFamily="18" charset="0"/>
              </a:rPr>
              <a:t>replaced by one of several possible ciphertext symbols</a:t>
            </a:r>
            <a:r>
              <a:rPr lang="en-US" sz="2800" kern="100">
                <a:effectLst/>
                <a:latin typeface="Aptos" panose="020B0004020202020204" pitchFamily="34" charset="0"/>
                <a:ea typeface="Aptos" panose="020B0004020202020204" pitchFamily="34" charset="0"/>
                <a:cs typeface="Times New Roman" panose="02020603050405020304" pitchFamily="18" charset="0"/>
              </a:rPr>
              <a:t>. The set of possible symbols for each letter remains fixed, but a different symbol is chosen each time the letter appears, which can help mask letter frequencies.</a:t>
            </a:r>
          </a:p>
          <a:p>
            <a:pPr marL="0" marR="0" lvl="0" indent="0">
              <a:lnSpc>
                <a:spcPct val="115000"/>
              </a:lnSpc>
              <a:spcAft>
                <a:spcPts val="800"/>
              </a:spcAft>
              <a:buNone/>
              <a:tabLst>
                <a:tab pos="457200" algn="l"/>
              </a:tabLst>
            </a:pPr>
            <a:r>
              <a:rPr lang="en-US" sz="2800" b="1" kern="100">
                <a:effectLst/>
                <a:latin typeface="Aptos" panose="020B0004020202020204" pitchFamily="34" charset="0"/>
                <a:ea typeface="Aptos" panose="020B0004020202020204" pitchFamily="34" charset="0"/>
                <a:cs typeface="Times New Roman" panose="02020603050405020304" pitchFamily="18" charset="0"/>
              </a:rPr>
              <a:t>Example: Pigpen Cipher</a:t>
            </a:r>
            <a:br>
              <a:rPr lang="en-US" sz="2800" kern="100">
                <a:effectLst/>
                <a:latin typeface="Aptos" panose="020B0004020202020204" pitchFamily="34" charset="0"/>
                <a:ea typeface="Aptos" panose="020B0004020202020204" pitchFamily="34" charset="0"/>
                <a:cs typeface="Times New Roman" panose="02020603050405020304" pitchFamily="18" charset="0"/>
              </a:rPr>
            </a:br>
            <a:r>
              <a:rPr lang="en-US" sz="2800" kern="100">
                <a:effectLst/>
                <a:latin typeface="Aptos" panose="020B0004020202020204" pitchFamily="34" charset="0"/>
                <a:ea typeface="Aptos" panose="020B0004020202020204" pitchFamily="34" charset="0"/>
                <a:cs typeface="Times New Roman" panose="02020603050405020304" pitchFamily="18" charset="0"/>
              </a:rPr>
              <a:t>Uses a set of geometric symbols (often based on a grid or “pigpen”) to substitute for letters. Each letter corresponds to a specific symbol derived from a simple visual pattern.</a:t>
            </a:r>
          </a:p>
          <a:p>
            <a:pPr marL="400050" lvl="1" indent="0">
              <a:buNone/>
            </a:pPr>
            <a:endParaRPr lang="en-US" sz="2600" kern="0"/>
          </a:p>
        </p:txBody>
      </p:sp>
    </p:spTree>
    <p:extLst>
      <p:ext uri="{BB962C8B-B14F-4D97-AF65-F5344CB8AC3E}">
        <p14:creationId xmlns:p14="http://schemas.microsoft.com/office/powerpoint/2010/main" val="40348760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8279" y="72387"/>
            <a:ext cx="7704856" cy="615543"/>
          </a:xfrm>
        </p:spPr>
        <p:txBody>
          <a:bodyPr wrap="square">
            <a:spAutoFit/>
          </a:bodyPr>
          <a:lstStyle/>
          <a:p>
            <a:pPr lvl="1"/>
            <a:r>
              <a:rPr lang="en-IN" altLang="en-US" sz="3400" b="1">
                <a:ea typeface="ヒラギノ角ゴ Pro W3" charset="-128"/>
              </a:rPr>
              <a:t>Polyalphabetic Cipher</a:t>
            </a:r>
          </a:p>
        </p:txBody>
      </p:sp>
      <p:pic>
        <p:nvPicPr>
          <p:cNvPr id="8" name="Picture Placeholder 7">
            <a:extLst>
              <a:ext uri="{C183D7F6-B498-43B3-948B-1728B52AA6E4}">
                <adec:decorative xmlns:adec="http://schemas.microsoft.com/office/drawing/2017/decorative" val="1"/>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tretch>
            <a:fillRect/>
          </a:stretch>
        </p:blipFill>
        <p:spPr>
          <a:xfrm>
            <a:off x="9083135" y="5228467"/>
            <a:ext cx="1119352" cy="1087821"/>
          </a:xfrm>
          <a:prstGeom prst="rect">
            <a:avLst/>
          </a:prstGeom>
          <a:noFill/>
          <a:ln>
            <a:noFill/>
          </a:ln>
        </p:spPr>
      </p:pic>
      <p:sp>
        <p:nvSpPr>
          <p:cNvPr id="5" name="Content Placeholder 3">
            <a:extLst>
              <a:ext uri="{FF2B5EF4-FFF2-40B4-BE49-F238E27FC236}">
                <a16:creationId xmlns:a16="http://schemas.microsoft.com/office/drawing/2014/main" id="{2334BADB-F0AB-4FDB-B5AC-CE8DEB77F836}"/>
              </a:ext>
            </a:extLst>
          </p:cNvPr>
          <p:cNvSpPr txBox="1">
            <a:spLocks/>
          </p:cNvSpPr>
          <p:nvPr/>
        </p:nvSpPr>
        <p:spPr bwMode="auto">
          <a:xfrm>
            <a:off x="326740" y="1087295"/>
            <a:ext cx="11313876" cy="334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t" anchorCtr="0" compatLnSpc="1">
            <a:prstTxWarp prst="textNoShape">
              <a:avLst/>
            </a:prstTxWarp>
            <a:spAutoFit/>
          </a:bodyPr>
          <a:lstStyle>
            <a:lvl1pPr marL="342900" indent="-342900" algn="l" rtl="0" eaLnBrk="0" fontAlgn="base" hangingPunct="0">
              <a:spcBef>
                <a:spcPct val="20000"/>
              </a:spcBef>
              <a:spcAft>
                <a:spcPct val="0"/>
              </a:spcAft>
              <a:buClr>
                <a:srgbClr val="16AFC2"/>
              </a:buClr>
              <a:buSzPct val="125000"/>
              <a:buFont typeface="Wingdings" panose="05000000000000000000" pitchFamily="2" charset="2"/>
              <a:buChar char="§"/>
              <a:defRPr sz="1600">
                <a:solidFill>
                  <a:schemeClr val="tx1"/>
                </a:solidFill>
                <a:latin typeface="+mn-lt"/>
                <a:ea typeface="+mn-ea"/>
                <a:cs typeface="+mn-cs"/>
              </a:defRPr>
            </a:lvl1pPr>
            <a:lvl2pPr marL="742950" indent="-285750" algn="l" rtl="0" eaLnBrk="0" fontAlgn="base" hangingPunct="0">
              <a:spcBef>
                <a:spcPct val="20000"/>
              </a:spcBef>
              <a:spcAft>
                <a:spcPct val="0"/>
              </a:spcAft>
              <a:buClr>
                <a:srgbClr val="339966"/>
              </a:buClr>
              <a:buSzPct val="85000"/>
              <a:buFont typeface="Wingdings" panose="05000000000000000000" pitchFamily="2" charset="2"/>
              <a:buChar char="Ø"/>
              <a:defRPr sz="1600">
                <a:solidFill>
                  <a:schemeClr val="tx1"/>
                </a:solidFill>
                <a:latin typeface="+mn-lt"/>
              </a:defRPr>
            </a:lvl2pPr>
            <a:lvl3pPr marL="1143000" indent="-228600" algn="l" rtl="0" eaLnBrk="0" fontAlgn="base" hangingPunct="0">
              <a:spcBef>
                <a:spcPct val="20000"/>
              </a:spcBef>
              <a:spcAft>
                <a:spcPct val="0"/>
              </a:spcAft>
              <a:buSzPct val="150000"/>
              <a:buChar char="•"/>
              <a:defRPr sz="1600">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400">
                <a:solidFill>
                  <a:schemeClr val="tx1"/>
                </a:solidFill>
                <a:latin typeface="+mn-lt"/>
              </a:defRPr>
            </a:lvl6pPr>
            <a:lvl7pPr marL="2971800" indent="-228600" algn="l" rtl="0" fontAlgn="base">
              <a:spcBef>
                <a:spcPct val="20000"/>
              </a:spcBef>
              <a:spcAft>
                <a:spcPct val="0"/>
              </a:spcAft>
              <a:buChar char="»"/>
              <a:defRPr sz="1400">
                <a:solidFill>
                  <a:schemeClr val="tx1"/>
                </a:solidFill>
                <a:latin typeface="+mn-lt"/>
              </a:defRPr>
            </a:lvl7pPr>
            <a:lvl8pPr marL="3429000" indent="-228600" algn="l" rtl="0" fontAlgn="base">
              <a:spcBef>
                <a:spcPct val="20000"/>
              </a:spcBef>
              <a:spcAft>
                <a:spcPct val="0"/>
              </a:spcAft>
              <a:buChar char="»"/>
              <a:defRPr sz="1400">
                <a:solidFill>
                  <a:schemeClr val="tx1"/>
                </a:solidFill>
                <a:latin typeface="+mn-lt"/>
              </a:defRPr>
            </a:lvl8pPr>
            <a:lvl9pPr marL="3886200" indent="-228600" algn="l" rtl="0" fontAlgn="base">
              <a:spcBef>
                <a:spcPct val="20000"/>
              </a:spcBef>
              <a:spcAft>
                <a:spcPct val="0"/>
              </a:spcAft>
              <a:buChar char="»"/>
              <a:defRPr sz="1400">
                <a:solidFill>
                  <a:schemeClr val="tx1"/>
                </a:solidFill>
                <a:latin typeface="+mn-lt"/>
              </a:defRPr>
            </a:lvl9pPr>
          </a:lstStyle>
          <a:p>
            <a:pPr algn="just"/>
            <a:r>
              <a:rPr lang="en-US" sz="3200" kern="0"/>
              <a:t>Polyalphabetic Cipher is a </a:t>
            </a:r>
            <a:r>
              <a:rPr lang="en-US" sz="3200" kern="0">
                <a:solidFill>
                  <a:srgbClr val="FF0000"/>
                </a:solidFill>
              </a:rPr>
              <a:t>substitution</a:t>
            </a:r>
            <a:r>
              <a:rPr lang="en-US" sz="3200" kern="0"/>
              <a:t> cipher in which the cipher alphabet for the plain alphabet may be </a:t>
            </a:r>
            <a:r>
              <a:rPr lang="en-US" sz="3200" kern="0">
                <a:solidFill>
                  <a:srgbClr val="FF0000"/>
                </a:solidFill>
              </a:rPr>
              <a:t>different at different places </a:t>
            </a:r>
            <a:r>
              <a:rPr lang="en-US" sz="3200" kern="0"/>
              <a:t>during the encryption process;</a:t>
            </a:r>
          </a:p>
          <a:p>
            <a:pPr lvl="1" algn="just"/>
            <a:r>
              <a:rPr lang="en-US" sz="3200"/>
              <a:t>Playfair Cipher  ( Replace 2 characters  by 2 charector  )</a:t>
            </a:r>
          </a:p>
          <a:p>
            <a:pPr lvl="1" algn="just"/>
            <a:r>
              <a:rPr lang="en-US" sz="3200"/>
              <a:t>Hill Cipher</a:t>
            </a:r>
          </a:p>
          <a:p>
            <a:pPr lvl="1" algn="just"/>
            <a:r>
              <a:rPr lang="en-US" sz="3200"/>
              <a:t>Vigenere  Cipher </a:t>
            </a:r>
            <a:endParaRPr lang="en-US" sz="3200" kern="0"/>
          </a:p>
        </p:txBody>
      </p:sp>
    </p:spTree>
    <p:extLst>
      <p:ext uri="{BB962C8B-B14F-4D97-AF65-F5344CB8AC3E}">
        <p14:creationId xmlns:p14="http://schemas.microsoft.com/office/powerpoint/2010/main" val="31082357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9496" y="233940"/>
            <a:ext cx="7704856" cy="615543"/>
          </a:xfrm>
        </p:spPr>
        <p:txBody>
          <a:bodyPr wrap="square">
            <a:spAutoFit/>
          </a:bodyPr>
          <a:lstStyle/>
          <a:p>
            <a:pPr lvl="1"/>
            <a:r>
              <a:rPr lang="en-IN" altLang="en-US" sz="3400" b="1">
                <a:ea typeface="ヒラギノ角ゴ Pro W3" charset="-128"/>
              </a:rPr>
              <a:t>Polyalphabetic Cipher</a:t>
            </a:r>
          </a:p>
        </p:txBody>
      </p:sp>
      <p:pic>
        <p:nvPicPr>
          <p:cNvPr id="8" name="Picture Placeholder 7">
            <a:extLst>
              <a:ext uri="{C183D7F6-B498-43B3-948B-1728B52AA6E4}">
                <adec:decorative xmlns:adec="http://schemas.microsoft.com/office/drawing/2017/decorative" val="1"/>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tretch>
            <a:fillRect/>
          </a:stretch>
        </p:blipFill>
        <p:spPr>
          <a:xfrm>
            <a:off x="9083135" y="5228467"/>
            <a:ext cx="1119352" cy="1087821"/>
          </a:xfrm>
          <a:prstGeom prst="rect">
            <a:avLst/>
          </a:prstGeom>
          <a:noFill/>
          <a:ln>
            <a:noFill/>
          </a:ln>
        </p:spPr>
      </p:pic>
      <p:sp>
        <p:nvSpPr>
          <p:cNvPr id="5" name="Content Placeholder 3">
            <a:extLst>
              <a:ext uri="{FF2B5EF4-FFF2-40B4-BE49-F238E27FC236}">
                <a16:creationId xmlns:a16="http://schemas.microsoft.com/office/drawing/2014/main" id="{2334BADB-F0AB-4FDB-B5AC-CE8DEB77F836}"/>
              </a:ext>
            </a:extLst>
          </p:cNvPr>
          <p:cNvSpPr txBox="1">
            <a:spLocks/>
          </p:cNvSpPr>
          <p:nvPr/>
        </p:nvSpPr>
        <p:spPr bwMode="auto">
          <a:xfrm>
            <a:off x="326740" y="1087295"/>
            <a:ext cx="11313876" cy="334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t" anchorCtr="0" compatLnSpc="1">
            <a:prstTxWarp prst="textNoShape">
              <a:avLst/>
            </a:prstTxWarp>
            <a:spAutoFit/>
          </a:bodyPr>
          <a:lstStyle>
            <a:lvl1pPr marL="342900" indent="-342900" algn="l" rtl="0" eaLnBrk="0" fontAlgn="base" hangingPunct="0">
              <a:spcBef>
                <a:spcPct val="20000"/>
              </a:spcBef>
              <a:spcAft>
                <a:spcPct val="0"/>
              </a:spcAft>
              <a:buClr>
                <a:srgbClr val="16AFC2"/>
              </a:buClr>
              <a:buSzPct val="125000"/>
              <a:buFont typeface="Wingdings" panose="05000000000000000000" pitchFamily="2" charset="2"/>
              <a:buChar char="§"/>
              <a:defRPr sz="1600">
                <a:solidFill>
                  <a:schemeClr val="tx1"/>
                </a:solidFill>
                <a:latin typeface="+mn-lt"/>
                <a:ea typeface="+mn-ea"/>
                <a:cs typeface="+mn-cs"/>
              </a:defRPr>
            </a:lvl1pPr>
            <a:lvl2pPr marL="742950" indent="-285750" algn="l" rtl="0" eaLnBrk="0" fontAlgn="base" hangingPunct="0">
              <a:spcBef>
                <a:spcPct val="20000"/>
              </a:spcBef>
              <a:spcAft>
                <a:spcPct val="0"/>
              </a:spcAft>
              <a:buClr>
                <a:srgbClr val="339966"/>
              </a:buClr>
              <a:buSzPct val="85000"/>
              <a:buFont typeface="Wingdings" panose="05000000000000000000" pitchFamily="2" charset="2"/>
              <a:buChar char="Ø"/>
              <a:defRPr sz="1600">
                <a:solidFill>
                  <a:schemeClr val="tx1"/>
                </a:solidFill>
                <a:latin typeface="+mn-lt"/>
              </a:defRPr>
            </a:lvl2pPr>
            <a:lvl3pPr marL="1143000" indent="-228600" algn="l" rtl="0" eaLnBrk="0" fontAlgn="base" hangingPunct="0">
              <a:spcBef>
                <a:spcPct val="20000"/>
              </a:spcBef>
              <a:spcAft>
                <a:spcPct val="0"/>
              </a:spcAft>
              <a:buSzPct val="150000"/>
              <a:buChar char="•"/>
              <a:defRPr sz="1600">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400">
                <a:solidFill>
                  <a:schemeClr val="tx1"/>
                </a:solidFill>
                <a:latin typeface="+mn-lt"/>
              </a:defRPr>
            </a:lvl6pPr>
            <a:lvl7pPr marL="2971800" indent="-228600" algn="l" rtl="0" fontAlgn="base">
              <a:spcBef>
                <a:spcPct val="20000"/>
              </a:spcBef>
              <a:spcAft>
                <a:spcPct val="0"/>
              </a:spcAft>
              <a:buChar char="»"/>
              <a:defRPr sz="1400">
                <a:solidFill>
                  <a:schemeClr val="tx1"/>
                </a:solidFill>
                <a:latin typeface="+mn-lt"/>
              </a:defRPr>
            </a:lvl7pPr>
            <a:lvl8pPr marL="3429000" indent="-228600" algn="l" rtl="0" fontAlgn="base">
              <a:spcBef>
                <a:spcPct val="20000"/>
              </a:spcBef>
              <a:spcAft>
                <a:spcPct val="0"/>
              </a:spcAft>
              <a:buChar char="»"/>
              <a:defRPr sz="1400">
                <a:solidFill>
                  <a:schemeClr val="tx1"/>
                </a:solidFill>
                <a:latin typeface="+mn-lt"/>
              </a:defRPr>
            </a:lvl8pPr>
            <a:lvl9pPr marL="3886200" indent="-228600" algn="l" rtl="0" fontAlgn="base">
              <a:spcBef>
                <a:spcPct val="20000"/>
              </a:spcBef>
              <a:spcAft>
                <a:spcPct val="0"/>
              </a:spcAft>
              <a:buChar char="»"/>
              <a:defRPr sz="1400">
                <a:solidFill>
                  <a:schemeClr val="tx1"/>
                </a:solidFill>
                <a:latin typeface="+mn-lt"/>
              </a:defRPr>
            </a:lvl9pPr>
          </a:lstStyle>
          <a:p>
            <a:pPr algn="just"/>
            <a:r>
              <a:rPr lang="en-US" sz="3200" kern="0"/>
              <a:t>Polyalphabetic Cipher is a </a:t>
            </a:r>
            <a:r>
              <a:rPr lang="en-US" sz="3200" kern="0">
                <a:solidFill>
                  <a:srgbClr val="FF0000"/>
                </a:solidFill>
              </a:rPr>
              <a:t>substitution</a:t>
            </a:r>
            <a:r>
              <a:rPr lang="en-US" sz="3200" kern="0"/>
              <a:t> cipher in which the cipher alphabet for the plain alphabet may be </a:t>
            </a:r>
            <a:r>
              <a:rPr lang="en-US" sz="3200" kern="0">
                <a:solidFill>
                  <a:srgbClr val="FF0000"/>
                </a:solidFill>
              </a:rPr>
              <a:t>different at different places </a:t>
            </a:r>
            <a:r>
              <a:rPr lang="en-US" sz="3200" kern="0"/>
              <a:t>during the encryption process;</a:t>
            </a:r>
          </a:p>
          <a:p>
            <a:pPr lvl="1" algn="just"/>
            <a:r>
              <a:rPr lang="en-US" sz="3200"/>
              <a:t>Playfair Cipher </a:t>
            </a:r>
          </a:p>
          <a:p>
            <a:pPr lvl="1" algn="just"/>
            <a:r>
              <a:rPr lang="en-US" sz="3200"/>
              <a:t>Hill Cipher</a:t>
            </a:r>
          </a:p>
          <a:p>
            <a:pPr lvl="1" algn="just"/>
            <a:r>
              <a:rPr lang="en-US" sz="3200"/>
              <a:t>Vigenere  Cipher </a:t>
            </a:r>
            <a:endParaRPr lang="en-US" sz="3200" kern="0"/>
          </a:p>
        </p:txBody>
      </p:sp>
    </p:spTree>
    <p:extLst>
      <p:ext uri="{BB962C8B-B14F-4D97-AF65-F5344CB8AC3E}">
        <p14:creationId xmlns:p14="http://schemas.microsoft.com/office/powerpoint/2010/main" val="14253984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7488" y="118383"/>
            <a:ext cx="7272808" cy="646321"/>
          </a:xfrm>
        </p:spPr>
        <p:txBody>
          <a:bodyPr wrap="square">
            <a:spAutoFit/>
          </a:bodyPr>
          <a:lstStyle/>
          <a:p>
            <a:r>
              <a:rPr lang="en-IN" altLang="en-US" sz="3600">
                <a:ea typeface="ヒラギノ角ゴ Pro W3" charset="-128"/>
              </a:rPr>
              <a:t>Polyalphabetic Ciphers</a:t>
            </a:r>
            <a:endParaRPr lang="en-US" sz="2800"/>
          </a:p>
        </p:txBody>
      </p:sp>
      <p:sp>
        <p:nvSpPr>
          <p:cNvPr id="4" name="Content Placeholder 3"/>
          <p:cNvSpPr>
            <a:spLocks noGrp="1"/>
          </p:cNvSpPr>
          <p:nvPr>
            <p:ph idx="1"/>
          </p:nvPr>
        </p:nvSpPr>
        <p:spPr>
          <a:xfrm>
            <a:off x="623392" y="1196752"/>
            <a:ext cx="10729192" cy="1902049"/>
          </a:xfrm>
        </p:spPr>
        <p:txBody>
          <a:bodyPr wrap="square">
            <a:spAutoFit/>
          </a:bodyPr>
          <a:lstStyle/>
          <a:p>
            <a:r>
              <a:rPr lang="en-US" sz="2800"/>
              <a:t>Polyalphabetic substitution cipher</a:t>
            </a:r>
          </a:p>
          <a:p>
            <a:pPr lvl="1"/>
            <a:r>
              <a:rPr lang="en-US" sz="2800"/>
              <a:t>Improves on the simple </a:t>
            </a:r>
            <a:r>
              <a:rPr lang="en-US" sz="2800" err="1"/>
              <a:t>monoalphabetic</a:t>
            </a:r>
            <a:r>
              <a:rPr lang="en-US" sz="2800"/>
              <a:t> technique by using different </a:t>
            </a:r>
            <a:r>
              <a:rPr lang="en-US" sz="2800" err="1"/>
              <a:t>monoalphabetic</a:t>
            </a:r>
            <a:r>
              <a:rPr lang="en-US" sz="2800"/>
              <a:t> substitutions as one proceeds through the plaintext message</a:t>
            </a:r>
          </a:p>
        </p:txBody>
      </p:sp>
      <p:sp>
        <p:nvSpPr>
          <p:cNvPr id="3" name="Content Placeholder 2"/>
          <p:cNvSpPr>
            <a:spLocks noGrp="1"/>
          </p:cNvSpPr>
          <p:nvPr>
            <p:ph idx="13"/>
          </p:nvPr>
        </p:nvSpPr>
        <p:spPr>
          <a:xfrm>
            <a:off x="563271" y="3684399"/>
            <a:ext cx="11065457" cy="1988226"/>
          </a:xfrm>
        </p:spPr>
        <p:txBody>
          <a:bodyPr wrap="square">
            <a:spAutoFit/>
          </a:bodyPr>
          <a:lstStyle/>
          <a:p>
            <a:pPr lvl="0"/>
            <a:r>
              <a:rPr lang="en-US" sz="2800">
                <a:cs typeface="ＭＳ Ｐゴシック" pitchFamily="-1" charset="-128"/>
              </a:rPr>
              <a:t>All these techniques have the following features in common:</a:t>
            </a:r>
            <a:endParaRPr lang="en-US" sz="2800"/>
          </a:p>
          <a:p>
            <a:pPr lvl="1"/>
            <a:r>
              <a:rPr lang="en-US" sz="2800"/>
              <a:t>A set of related </a:t>
            </a:r>
            <a:r>
              <a:rPr lang="en-US" sz="2800" err="1"/>
              <a:t>monoalphabetic</a:t>
            </a:r>
            <a:r>
              <a:rPr lang="en-US" sz="2800"/>
              <a:t> substitution rules is used</a:t>
            </a:r>
          </a:p>
          <a:p>
            <a:pPr lvl="1"/>
            <a:r>
              <a:rPr lang="en-US" sz="2800"/>
              <a:t>A key determines which particular rule is chosen for a given transformation</a:t>
            </a:r>
          </a:p>
        </p:txBody>
      </p:sp>
    </p:spTree>
    <p:extLst>
      <p:ext uri="{BB962C8B-B14F-4D97-AF65-F5344CB8AC3E}">
        <p14:creationId xmlns:p14="http://schemas.microsoft.com/office/powerpoint/2010/main" val="32805077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4568" y="1088532"/>
            <a:ext cx="7643192" cy="646321"/>
          </a:xfrm>
        </p:spPr>
        <p:txBody>
          <a:bodyPr wrap="square">
            <a:spAutoFit/>
          </a:bodyPr>
          <a:lstStyle/>
          <a:p>
            <a:r>
              <a:rPr lang="en-IN" altLang="en-US" sz="3600">
                <a:ea typeface="ヒラギノ角ゴ Pro W3" charset="-128"/>
              </a:rPr>
              <a:t>(3) Playfair Cipher</a:t>
            </a:r>
            <a:endParaRPr lang="en-US" sz="2800"/>
          </a:p>
        </p:txBody>
      </p:sp>
      <p:sp>
        <p:nvSpPr>
          <p:cNvPr id="4" name="Content Placeholder 3"/>
          <p:cNvSpPr>
            <a:spLocks noGrp="1"/>
          </p:cNvSpPr>
          <p:nvPr>
            <p:ph idx="13"/>
          </p:nvPr>
        </p:nvSpPr>
        <p:spPr>
          <a:xfrm>
            <a:off x="798240" y="1916832"/>
            <a:ext cx="10595520" cy="4315017"/>
          </a:xfrm>
        </p:spPr>
        <p:txBody>
          <a:bodyPr wrap="square">
            <a:spAutoFit/>
          </a:bodyPr>
          <a:lstStyle/>
          <a:p>
            <a:r>
              <a:rPr lang="en-US" sz="2800"/>
              <a:t>Best-known multiple-letter encryption cipher (two</a:t>
            </a:r>
            <a:r>
              <a:rPr lang="en-US" sz="2800">
                <a:sym typeface="Wingdings" panose="05000000000000000000" pitchFamily="2" charset="2"/>
              </a:rPr>
              <a:t> two</a:t>
            </a:r>
            <a:r>
              <a:rPr lang="en-US" sz="2800"/>
              <a:t>)</a:t>
            </a:r>
          </a:p>
          <a:p>
            <a:r>
              <a:rPr lang="en-US" sz="2800"/>
              <a:t>Treats </a:t>
            </a:r>
            <a:r>
              <a:rPr lang="en-US" sz="2800" err="1"/>
              <a:t>digrams</a:t>
            </a:r>
            <a:r>
              <a:rPr lang="en-US" sz="2800"/>
              <a:t> in the plaintext as single units and translates these units into </a:t>
            </a:r>
            <a:r>
              <a:rPr lang="en-US" sz="2800" err="1"/>
              <a:t>ciphertext</a:t>
            </a:r>
            <a:r>
              <a:rPr lang="en-US" sz="2800"/>
              <a:t> </a:t>
            </a:r>
            <a:r>
              <a:rPr lang="en-US" sz="2800" err="1"/>
              <a:t>digrams</a:t>
            </a:r>
            <a:endParaRPr lang="en-US" sz="2800"/>
          </a:p>
          <a:p>
            <a:r>
              <a:rPr lang="en-US" sz="2800"/>
              <a:t>Based on the use of a 5 × 5 matrix of letters constructed using a keyword</a:t>
            </a:r>
          </a:p>
          <a:p>
            <a:r>
              <a:rPr lang="en-US" sz="2800"/>
              <a:t>Invented by British scientist Sir Charles Wheatstone in 1854</a:t>
            </a:r>
          </a:p>
          <a:p>
            <a:r>
              <a:rPr lang="en-US" sz="2800"/>
              <a:t>Used as the standard field system by the British Army in World War I and the U.S. Army and other Allied forces during World War II</a:t>
            </a:r>
          </a:p>
        </p:txBody>
      </p:sp>
      <p:sp>
        <p:nvSpPr>
          <p:cNvPr id="5" name="Title 1">
            <a:extLst>
              <a:ext uri="{FF2B5EF4-FFF2-40B4-BE49-F238E27FC236}">
                <a16:creationId xmlns:a16="http://schemas.microsoft.com/office/drawing/2014/main" id="{8E78324F-EBA5-4FB6-A100-5AC8077461C9}"/>
              </a:ext>
            </a:extLst>
          </p:cNvPr>
          <p:cNvSpPr txBox="1">
            <a:spLocks/>
          </p:cNvSpPr>
          <p:nvPr/>
        </p:nvSpPr>
        <p:spPr bwMode="auto">
          <a:xfrm>
            <a:off x="1631504" y="188640"/>
            <a:ext cx="7704856" cy="615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ctr" anchorCtr="0" compatLnSpc="1">
            <a:prstTxWarp prst="textNoShape">
              <a:avLst/>
            </a:prstTxWarp>
            <a:spAutoFit/>
          </a:bodyP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charset="0"/>
              </a:defRPr>
            </a:lvl2pPr>
            <a:lvl3pPr algn="l" rtl="0" eaLnBrk="0" fontAlgn="base" hangingPunct="0">
              <a:spcBef>
                <a:spcPct val="0"/>
              </a:spcBef>
              <a:spcAft>
                <a:spcPct val="0"/>
              </a:spcAft>
              <a:defRPr sz="4400">
                <a:solidFill>
                  <a:schemeClr val="tx2"/>
                </a:solidFill>
                <a:latin typeface="Arial" charset="0"/>
              </a:defRPr>
            </a:lvl3pPr>
            <a:lvl4pPr algn="l" rtl="0" eaLnBrk="0" fontAlgn="base" hangingPunct="0">
              <a:spcBef>
                <a:spcPct val="0"/>
              </a:spcBef>
              <a:spcAft>
                <a:spcPct val="0"/>
              </a:spcAft>
              <a:defRPr sz="4400">
                <a:solidFill>
                  <a:schemeClr val="tx2"/>
                </a:solidFill>
                <a:latin typeface="Arial" charset="0"/>
              </a:defRPr>
            </a:lvl4pPr>
            <a:lvl5pPr algn="l" rtl="0" eaLnBrk="0" fontAlgn="base" hangingPunct="0">
              <a:spcBef>
                <a:spcPct val="0"/>
              </a:spcBef>
              <a:spcAft>
                <a:spcPct val="0"/>
              </a:spcAft>
              <a:defRPr sz="4400">
                <a:solidFill>
                  <a:schemeClr val="tx2"/>
                </a:solidFill>
                <a:latin typeface="Arial" charset="0"/>
              </a:defRPr>
            </a:lvl5pPr>
            <a:lvl6pPr marL="457200" algn="l" rtl="0" fontAlgn="base">
              <a:spcBef>
                <a:spcPct val="0"/>
              </a:spcBef>
              <a:spcAft>
                <a:spcPct val="0"/>
              </a:spcAft>
              <a:defRPr sz="4400">
                <a:solidFill>
                  <a:schemeClr val="tx2"/>
                </a:solidFill>
                <a:latin typeface="Arial" charset="0"/>
              </a:defRPr>
            </a:lvl6pPr>
            <a:lvl7pPr marL="914400" algn="l" rtl="0" fontAlgn="base">
              <a:spcBef>
                <a:spcPct val="0"/>
              </a:spcBef>
              <a:spcAft>
                <a:spcPct val="0"/>
              </a:spcAft>
              <a:defRPr sz="4400">
                <a:solidFill>
                  <a:schemeClr val="tx2"/>
                </a:solidFill>
                <a:latin typeface="Arial" charset="0"/>
              </a:defRPr>
            </a:lvl7pPr>
            <a:lvl8pPr marL="1371600" algn="l" rtl="0" fontAlgn="base">
              <a:spcBef>
                <a:spcPct val="0"/>
              </a:spcBef>
              <a:spcAft>
                <a:spcPct val="0"/>
              </a:spcAft>
              <a:defRPr sz="4400">
                <a:solidFill>
                  <a:schemeClr val="tx2"/>
                </a:solidFill>
                <a:latin typeface="Arial" charset="0"/>
              </a:defRPr>
            </a:lvl8pPr>
            <a:lvl9pPr marL="1828800" algn="l" rtl="0" fontAlgn="base">
              <a:spcBef>
                <a:spcPct val="0"/>
              </a:spcBef>
              <a:spcAft>
                <a:spcPct val="0"/>
              </a:spcAft>
              <a:defRPr sz="4400">
                <a:solidFill>
                  <a:schemeClr val="tx2"/>
                </a:solidFill>
                <a:latin typeface="Arial" charset="0"/>
              </a:defRPr>
            </a:lvl9pPr>
          </a:lstStyle>
          <a:p>
            <a:pPr marL="0" lvl="1"/>
            <a:r>
              <a:rPr lang="en-IN" altLang="en-US" sz="3400" b="1" kern="0">
                <a:ea typeface="ヒラギノ角ゴ Pro W3" charset="-128"/>
              </a:rPr>
              <a:t>Polyalphabetic Cipher</a:t>
            </a:r>
          </a:p>
        </p:txBody>
      </p:sp>
    </p:spTree>
    <p:extLst>
      <p:ext uri="{BB962C8B-B14F-4D97-AF65-F5344CB8AC3E}">
        <p14:creationId xmlns:p14="http://schemas.microsoft.com/office/powerpoint/2010/main" val="39053786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1384" y="976378"/>
            <a:ext cx="7416824" cy="615543"/>
          </a:xfrm>
        </p:spPr>
        <p:txBody>
          <a:bodyPr wrap="square">
            <a:spAutoFit/>
          </a:bodyPr>
          <a:lstStyle/>
          <a:p>
            <a:r>
              <a:rPr lang="en-IN" altLang="en-US" sz="3400">
                <a:ea typeface="ヒラギノ角ゴ Pro W3" charset="-128"/>
              </a:rPr>
              <a:t>Playfair Key Matrix</a:t>
            </a:r>
            <a:endParaRPr lang="en-US" sz="3400"/>
          </a:p>
        </p:txBody>
      </p:sp>
      <p:sp>
        <p:nvSpPr>
          <p:cNvPr id="4" name="Content Placeholder 3"/>
          <p:cNvSpPr>
            <a:spLocks noGrp="1"/>
          </p:cNvSpPr>
          <p:nvPr>
            <p:ph idx="13"/>
          </p:nvPr>
        </p:nvSpPr>
        <p:spPr>
          <a:xfrm>
            <a:off x="767408" y="1692784"/>
            <a:ext cx="11017224" cy="1669688"/>
          </a:xfrm>
        </p:spPr>
        <p:txBody>
          <a:bodyPr wrap="square">
            <a:spAutoFit/>
          </a:bodyPr>
          <a:lstStyle/>
          <a:p>
            <a:r>
              <a:rPr lang="en-AU" sz="2400"/>
              <a:t>Fill in letters of keyword (minus duplicates) from left to right and from top to bottom, then fill in the remainder of the matrix with the remaining letters in alphabetic order</a:t>
            </a:r>
          </a:p>
          <a:p>
            <a:r>
              <a:rPr lang="en-AU" sz="2400"/>
              <a:t>Using the keyword </a:t>
            </a:r>
            <a:r>
              <a:rPr lang="en-AU" sz="2400" b="1"/>
              <a:t>MONARCHY</a:t>
            </a:r>
            <a:r>
              <a:rPr lang="en-AU" sz="2400"/>
              <a:t>:</a:t>
            </a:r>
          </a:p>
        </p:txBody>
      </p:sp>
      <p:graphicFrame>
        <p:nvGraphicFramePr>
          <p:cNvPr id="3" name="Table 2">
            <a:extLst>
              <a:ext uri="{FF2B5EF4-FFF2-40B4-BE49-F238E27FC236}">
                <a16:creationId xmlns:a16="http://schemas.microsoft.com/office/drawing/2014/main" id="{996A7C99-A206-4801-A27B-DAEAA64F1F19}"/>
              </a:ext>
            </a:extLst>
          </p:cNvPr>
          <p:cNvGraphicFramePr>
            <a:graphicFrameLocks noGrp="1"/>
          </p:cNvGraphicFramePr>
          <p:nvPr>
            <p:extLst>
              <p:ext uri="{D42A27DB-BD31-4B8C-83A1-F6EECF244321}">
                <p14:modId xmlns:p14="http://schemas.microsoft.com/office/powerpoint/2010/main" val="47390207"/>
              </p:ext>
            </p:extLst>
          </p:nvPr>
        </p:nvGraphicFramePr>
        <p:xfrm>
          <a:off x="1369132" y="3854577"/>
          <a:ext cx="8229600" cy="1991216"/>
        </p:xfrm>
        <a:graphic>
          <a:graphicData uri="http://schemas.openxmlformats.org/drawingml/2006/table">
            <a:tbl>
              <a:tblPr firstRow="1" bandRow="1">
                <a:tableStyleId>{3B4B98B0-60AC-42C2-AFA5-B58CD77FA1E5}</a:tableStyleId>
              </a:tblPr>
              <a:tblGrid>
                <a:gridCol w="1645920">
                  <a:extLst>
                    <a:ext uri="{9D8B030D-6E8A-4147-A177-3AD203B41FA5}">
                      <a16:colId xmlns:a16="http://schemas.microsoft.com/office/drawing/2014/main" val="479463308"/>
                    </a:ext>
                  </a:extLst>
                </a:gridCol>
                <a:gridCol w="1645920">
                  <a:extLst>
                    <a:ext uri="{9D8B030D-6E8A-4147-A177-3AD203B41FA5}">
                      <a16:colId xmlns:a16="http://schemas.microsoft.com/office/drawing/2014/main" val="1171542012"/>
                    </a:ext>
                  </a:extLst>
                </a:gridCol>
                <a:gridCol w="1645920">
                  <a:extLst>
                    <a:ext uri="{9D8B030D-6E8A-4147-A177-3AD203B41FA5}">
                      <a16:colId xmlns:a16="http://schemas.microsoft.com/office/drawing/2014/main" val="2683890524"/>
                    </a:ext>
                  </a:extLst>
                </a:gridCol>
                <a:gridCol w="1645920">
                  <a:extLst>
                    <a:ext uri="{9D8B030D-6E8A-4147-A177-3AD203B41FA5}">
                      <a16:colId xmlns:a16="http://schemas.microsoft.com/office/drawing/2014/main" val="1720397609"/>
                    </a:ext>
                  </a:extLst>
                </a:gridCol>
                <a:gridCol w="1645920">
                  <a:extLst>
                    <a:ext uri="{9D8B030D-6E8A-4147-A177-3AD203B41FA5}">
                      <a16:colId xmlns:a16="http://schemas.microsoft.com/office/drawing/2014/main" val="951123849"/>
                    </a:ext>
                  </a:extLst>
                </a:gridCol>
              </a:tblGrid>
              <a:tr h="37084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M</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O</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N</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A</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R</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44326362"/>
                  </a:ext>
                </a:extLst>
              </a:tr>
              <a:tr h="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C</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H</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Y</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B</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D</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209807293"/>
                  </a:ext>
                </a:extLst>
              </a:tr>
              <a:tr h="406256">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E</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F</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G</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I/J</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K</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60471849"/>
                  </a:ext>
                </a:extLst>
              </a:tr>
              <a:tr h="37084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L</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P</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Q</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S</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T</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649540049"/>
                  </a:ext>
                </a:extLst>
              </a:tr>
              <a:tr h="37084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U</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V</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W</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X</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Z</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726903862"/>
                  </a:ext>
                </a:extLst>
              </a:tr>
            </a:tbl>
          </a:graphicData>
        </a:graphic>
      </p:graphicFrame>
      <p:sp>
        <p:nvSpPr>
          <p:cNvPr id="5" name="Title 1">
            <a:extLst>
              <a:ext uri="{FF2B5EF4-FFF2-40B4-BE49-F238E27FC236}">
                <a16:creationId xmlns:a16="http://schemas.microsoft.com/office/drawing/2014/main" id="{4F734858-655D-4841-BC9B-BA18A96CE407}"/>
              </a:ext>
            </a:extLst>
          </p:cNvPr>
          <p:cNvSpPr txBox="1">
            <a:spLocks/>
          </p:cNvSpPr>
          <p:nvPr/>
        </p:nvSpPr>
        <p:spPr bwMode="auto">
          <a:xfrm>
            <a:off x="1631504" y="233442"/>
            <a:ext cx="7704856" cy="615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ctr" anchorCtr="0" compatLnSpc="1">
            <a:prstTxWarp prst="textNoShape">
              <a:avLst/>
            </a:prstTxWarp>
            <a:spAutoFit/>
          </a:bodyP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charset="0"/>
              </a:defRPr>
            </a:lvl2pPr>
            <a:lvl3pPr algn="l" rtl="0" eaLnBrk="0" fontAlgn="base" hangingPunct="0">
              <a:spcBef>
                <a:spcPct val="0"/>
              </a:spcBef>
              <a:spcAft>
                <a:spcPct val="0"/>
              </a:spcAft>
              <a:defRPr sz="4400">
                <a:solidFill>
                  <a:schemeClr val="tx2"/>
                </a:solidFill>
                <a:latin typeface="Arial" charset="0"/>
              </a:defRPr>
            </a:lvl3pPr>
            <a:lvl4pPr algn="l" rtl="0" eaLnBrk="0" fontAlgn="base" hangingPunct="0">
              <a:spcBef>
                <a:spcPct val="0"/>
              </a:spcBef>
              <a:spcAft>
                <a:spcPct val="0"/>
              </a:spcAft>
              <a:defRPr sz="4400">
                <a:solidFill>
                  <a:schemeClr val="tx2"/>
                </a:solidFill>
                <a:latin typeface="Arial" charset="0"/>
              </a:defRPr>
            </a:lvl4pPr>
            <a:lvl5pPr algn="l" rtl="0" eaLnBrk="0" fontAlgn="base" hangingPunct="0">
              <a:spcBef>
                <a:spcPct val="0"/>
              </a:spcBef>
              <a:spcAft>
                <a:spcPct val="0"/>
              </a:spcAft>
              <a:defRPr sz="4400">
                <a:solidFill>
                  <a:schemeClr val="tx2"/>
                </a:solidFill>
                <a:latin typeface="Arial" charset="0"/>
              </a:defRPr>
            </a:lvl5pPr>
            <a:lvl6pPr marL="457200" algn="l" rtl="0" fontAlgn="base">
              <a:spcBef>
                <a:spcPct val="0"/>
              </a:spcBef>
              <a:spcAft>
                <a:spcPct val="0"/>
              </a:spcAft>
              <a:defRPr sz="4400">
                <a:solidFill>
                  <a:schemeClr val="tx2"/>
                </a:solidFill>
                <a:latin typeface="Arial" charset="0"/>
              </a:defRPr>
            </a:lvl6pPr>
            <a:lvl7pPr marL="914400" algn="l" rtl="0" fontAlgn="base">
              <a:spcBef>
                <a:spcPct val="0"/>
              </a:spcBef>
              <a:spcAft>
                <a:spcPct val="0"/>
              </a:spcAft>
              <a:defRPr sz="4400">
                <a:solidFill>
                  <a:schemeClr val="tx2"/>
                </a:solidFill>
                <a:latin typeface="Arial" charset="0"/>
              </a:defRPr>
            </a:lvl7pPr>
            <a:lvl8pPr marL="1371600" algn="l" rtl="0" fontAlgn="base">
              <a:spcBef>
                <a:spcPct val="0"/>
              </a:spcBef>
              <a:spcAft>
                <a:spcPct val="0"/>
              </a:spcAft>
              <a:defRPr sz="4400">
                <a:solidFill>
                  <a:schemeClr val="tx2"/>
                </a:solidFill>
                <a:latin typeface="Arial" charset="0"/>
              </a:defRPr>
            </a:lvl8pPr>
            <a:lvl9pPr marL="1828800" algn="l" rtl="0" fontAlgn="base">
              <a:spcBef>
                <a:spcPct val="0"/>
              </a:spcBef>
              <a:spcAft>
                <a:spcPct val="0"/>
              </a:spcAft>
              <a:defRPr sz="4400">
                <a:solidFill>
                  <a:schemeClr val="tx2"/>
                </a:solidFill>
                <a:latin typeface="Arial" charset="0"/>
              </a:defRPr>
            </a:lvl9pPr>
          </a:lstStyle>
          <a:p>
            <a:pPr marL="0" lvl="1"/>
            <a:r>
              <a:rPr lang="en-IN" altLang="en-US" sz="3400" b="1" kern="0">
                <a:ea typeface="ヒラギノ角ゴ Pro W3" charset="-128"/>
              </a:rPr>
              <a:t>Polyalphabetic Cipher</a:t>
            </a:r>
          </a:p>
        </p:txBody>
      </p:sp>
    </p:spTree>
    <p:extLst>
      <p:ext uri="{BB962C8B-B14F-4D97-AF65-F5344CB8AC3E}">
        <p14:creationId xmlns:p14="http://schemas.microsoft.com/office/powerpoint/2010/main" val="13325309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544" y="206799"/>
            <a:ext cx="7416824" cy="646321"/>
          </a:xfrm>
        </p:spPr>
        <p:txBody>
          <a:bodyPr wrap="square">
            <a:spAutoFit/>
          </a:bodyPr>
          <a:lstStyle/>
          <a:p>
            <a:r>
              <a:rPr lang="en-IN" altLang="en-US" sz="3600" err="1">
                <a:ea typeface="ヒラギノ角ゴ Pro W3" charset="-128"/>
              </a:rPr>
              <a:t>Playfair</a:t>
            </a:r>
            <a:r>
              <a:rPr lang="en-IN" altLang="en-US" sz="3600">
                <a:ea typeface="ヒラギノ角ゴ Pro W3" charset="-128"/>
              </a:rPr>
              <a:t> encryption</a:t>
            </a:r>
            <a:endParaRPr lang="en-US" sz="2800"/>
          </a:p>
        </p:txBody>
      </p:sp>
      <p:graphicFrame>
        <p:nvGraphicFramePr>
          <p:cNvPr id="3" name="Table 2">
            <a:extLst>
              <a:ext uri="{FF2B5EF4-FFF2-40B4-BE49-F238E27FC236}">
                <a16:creationId xmlns:a16="http://schemas.microsoft.com/office/drawing/2014/main" id="{996A7C99-A206-4801-A27B-DAEAA64F1F19}"/>
              </a:ext>
            </a:extLst>
          </p:cNvPr>
          <p:cNvGraphicFramePr>
            <a:graphicFrameLocks noGrp="1"/>
          </p:cNvGraphicFramePr>
          <p:nvPr>
            <p:extLst>
              <p:ext uri="{D42A27DB-BD31-4B8C-83A1-F6EECF244321}">
                <p14:modId xmlns:p14="http://schemas.microsoft.com/office/powerpoint/2010/main" val="908108524"/>
              </p:ext>
            </p:extLst>
          </p:nvPr>
        </p:nvGraphicFramePr>
        <p:xfrm>
          <a:off x="2005960" y="1268760"/>
          <a:ext cx="8229600" cy="1991216"/>
        </p:xfrm>
        <a:graphic>
          <a:graphicData uri="http://schemas.openxmlformats.org/drawingml/2006/table">
            <a:tbl>
              <a:tblPr firstRow="1" bandRow="1">
                <a:tableStyleId>{3B4B98B0-60AC-42C2-AFA5-B58CD77FA1E5}</a:tableStyleId>
              </a:tblPr>
              <a:tblGrid>
                <a:gridCol w="1645920">
                  <a:extLst>
                    <a:ext uri="{9D8B030D-6E8A-4147-A177-3AD203B41FA5}">
                      <a16:colId xmlns:a16="http://schemas.microsoft.com/office/drawing/2014/main" val="479463308"/>
                    </a:ext>
                  </a:extLst>
                </a:gridCol>
                <a:gridCol w="1645920">
                  <a:extLst>
                    <a:ext uri="{9D8B030D-6E8A-4147-A177-3AD203B41FA5}">
                      <a16:colId xmlns:a16="http://schemas.microsoft.com/office/drawing/2014/main" val="1171542012"/>
                    </a:ext>
                  </a:extLst>
                </a:gridCol>
                <a:gridCol w="1645920">
                  <a:extLst>
                    <a:ext uri="{9D8B030D-6E8A-4147-A177-3AD203B41FA5}">
                      <a16:colId xmlns:a16="http://schemas.microsoft.com/office/drawing/2014/main" val="2683890524"/>
                    </a:ext>
                  </a:extLst>
                </a:gridCol>
                <a:gridCol w="1645920">
                  <a:extLst>
                    <a:ext uri="{9D8B030D-6E8A-4147-A177-3AD203B41FA5}">
                      <a16:colId xmlns:a16="http://schemas.microsoft.com/office/drawing/2014/main" val="1720397609"/>
                    </a:ext>
                  </a:extLst>
                </a:gridCol>
                <a:gridCol w="1645920">
                  <a:extLst>
                    <a:ext uri="{9D8B030D-6E8A-4147-A177-3AD203B41FA5}">
                      <a16:colId xmlns:a16="http://schemas.microsoft.com/office/drawing/2014/main" val="951123849"/>
                    </a:ext>
                  </a:extLst>
                </a:gridCol>
              </a:tblGrid>
              <a:tr h="37084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M</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O</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N</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A</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R</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4044326362"/>
                  </a:ext>
                </a:extLst>
              </a:tr>
              <a:tr h="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C</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H</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Y</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B</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D</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209807293"/>
                  </a:ext>
                </a:extLst>
              </a:tr>
              <a:tr h="406256">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E</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F</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G</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I/J</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K</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2060471849"/>
                  </a:ext>
                </a:extLst>
              </a:tr>
              <a:tr h="37084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L</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P</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Q</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S</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T</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649540049"/>
                  </a:ext>
                </a:extLst>
              </a:tr>
              <a:tr h="37084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U</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V</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W</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X</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107" charset="2"/>
                        <a:buNone/>
                        <a:tabLst/>
                      </a:pPr>
                      <a:r>
                        <a:rPr kumimoji="0" lang="en-US" sz="2000" b="0" i="0" u="none" strike="noStrike" cap="none" normalizeH="0" baseline="0">
                          <a:ln>
                            <a:noFill/>
                          </a:ln>
                          <a:solidFill>
                            <a:schemeClr val="tx1"/>
                          </a:solidFill>
                          <a:effectLst/>
                          <a:latin typeface="+mn-lt"/>
                        </a:rPr>
                        <a:t>Z</a:t>
                      </a: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3726903862"/>
                  </a:ext>
                </a:extLst>
              </a:tr>
            </a:tbl>
          </a:graphicData>
        </a:graphic>
      </p:graphicFrame>
      <p:sp>
        <p:nvSpPr>
          <p:cNvPr id="7" name="Rectangle 6">
            <a:extLst>
              <a:ext uri="{FF2B5EF4-FFF2-40B4-BE49-F238E27FC236}">
                <a16:creationId xmlns:a16="http://schemas.microsoft.com/office/drawing/2014/main" id="{75C044E2-60A6-4F62-BD8A-867AE8317365}"/>
              </a:ext>
            </a:extLst>
          </p:cNvPr>
          <p:cNvSpPr/>
          <p:nvPr/>
        </p:nvSpPr>
        <p:spPr>
          <a:xfrm>
            <a:off x="1919536" y="3501008"/>
            <a:ext cx="7618432" cy="523220"/>
          </a:xfrm>
          <a:prstGeom prst="rect">
            <a:avLst/>
          </a:prstGeom>
        </p:spPr>
        <p:txBody>
          <a:bodyPr wrap="square">
            <a:spAutoFit/>
          </a:bodyPr>
          <a:lstStyle/>
          <a:p>
            <a:r>
              <a:rPr lang="en-US">
                <a:solidFill>
                  <a:srgbClr val="202122"/>
                </a:solidFill>
                <a:latin typeface="Arial" panose="020B0604020202020204" pitchFamily="34" charset="0"/>
              </a:rPr>
              <a:t> </a:t>
            </a:r>
            <a:r>
              <a:rPr lang="en-US" b="1">
                <a:solidFill>
                  <a:srgbClr val="202122"/>
                </a:solidFill>
                <a:latin typeface="Arial" panose="020B0604020202020204" pitchFamily="34" charset="0"/>
              </a:rPr>
              <a:t>Plaintext</a:t>
            </a:r>
            <a:r>
              <a:rPr lang="en-US">
                <a:solidFill>
                  <a:srgbClr val="202122"/>
                </a:solidFill>
                <a:latin typeface="Arial" panose="020B0604020202020204" pitchFamily="34" charset="0"/>
              </a:rPr>
              <a:t>: "Hide the gold in the tree stump"</a:t>
            </a:r>
            <a:endParaRPr lang="en-US"/>
          </a:p>
        </p:txBody>
      </p:sp>
      <p:sp>
        <p:nvSpPr>
          <p:cNvPr id="8" name="Rectangle 7">
            <a:extLst>
              <a:ext uri="{FF2B5EF4-FFF2-40B4-BE49-F238E27FC236}">
                <a16:creationId xmlns:a16="http://schemas.microsoft.com/office/drawing/2014/main" id="{C11ECAE6-A089-4771-83D8-D71A4B4D5FB2}"/>
              </a:ext>
            </a:extLst>
          </p:cNvPr>
          <p:cNvSpPr/>
          <p:nvPr/>
        </p:nvSpPr>
        <p:spPr>
          <a:xfrm>
            <a:off x="2005960" y="4005064"/>
            <a:ext cx="3300904" cy="523220"/>
          </a:xfrm>
          <a:prstGeom prst="rect">
            <a:avLst/>
          </a:prstGeom>
        </p:spPr>
        <p:txBody>
          <a:bodyPr wrap="none">
            <a:spAutoFit/>
          </a:bodyPr>
          <a:lstStyle/>
          <a:p>
            <a:r>
              <a:rPr lang="en-US" b="1">
                <a:solidFill>
                  <a:srgbClr val="202122"/>
                </a:solidFill>
                <a:latin typeface="Arial" panose="020B0604020202020204" pitchFamily="34" charset="0"/>
              </a:rPr>
              <a:t>Plaintext diagram:</a:t>
            </a:r>
            <a:endParaRPr lang="en-US"/>
          </a:p>
        </p:txBody>
      </p:sp>
      <p:sp>
        <p:nvSpPr>
          <p:cNvPr id="10" name="Rectangle 9">
            <a:extLst>
              <a:ext uri="{FF2B5EF4-FFF2-40B4-BE49-F238E27FC236}">
                <a16:creationId xmlns:a16="http://schemas.microsoft.com/office/drawing/2014/main" id="{E5482332-3FAA-4F59-B705-43F8C1B14D66}"/>
              </a:ext>
            </a:extLst>
          </p:cNvPr>
          <p:cNvSpPr/>
          <p:nvPr/>
        </p:nvSpPr>
        <p:spPr>
          <a:xfrm>
            <a:off x="2726040" y="4437112"/>
            <a:ext cx="7618432" cy="523220"/>
          </a:xfrm>
          <a:prstGeom prst="rect">
            <a:avLst/>
          </a:prstGeom>
        </p:spPr>
        <p:txBody>
          <a:bodyPr wrap="square">
            <a:spAutoFit/>
          </a:bodyPr>
          <a:lstStyle/>
          <a:p>
            <a:r>
              <a:rPr lang="en-US"/>
              <a:t>HI DE  TH  </a:t>
            </a:r>
            <a:r>
              <a:rPr lang="en-US">
                <a:solidFill>
                  <a:srgbClr val="339966"/>
                </a:solidFill>
              </a:rPr>
              <a:t>EG</a:t>
            </a:r>
            <a:r>
              <a:rPr lang="en-US"/>
              <a:t> OL DI NT HE </a:t>
            </a:r>
            <a:r>
              <a:rPr lang="en-US">
                <a:solidFill>
                  <a:srgbClr val="FFC000"/>
                </a:solidFill>
              </a:rPr>
              <a:t>TR</a:t>
            </a:r>
            <a:r>
              <a:rPr lang="en-US">
                <a:solidFill>
                  <a:schemeClr val="accent2"/>
                </a:solidFill>
              </a:rPr>
              <a:t> EX </a:t>
            </a:r>
            <a:r>
              <a:rPr lang="en-US"/>
              <a:t>ES TU MP</a:t>
            </a:r>
          </a:p>
        </p:txBody>
      </p:sp>
      <p:sp>
        <p:nvSpPr>
          <p:cNvPr id="11" name="Rectangle 10">
            <a:extLst>
              <a:ext uri="{FF2B5EF4-FFF2-40B4-BE49-F238E27FC236}">
                <a16:creationId xmlns:a16="http://schemas.microsoft.com/office/drawing/2014/main" id="{BB0053DC-90E8-4193-AF8F-93511CE5C0EA}"/>
              </a:ext>
            </a:extLst>
          </p:cNvPr>
          <p:cNvSpPr/>
          <p:nvPr/>
        </p:nvSpPr>
        <p:spPr>
          <a:xfrm>
            <a:off x="1991544" y="4941168"/>
            <a:ext cx="3581430" cy="523220"/>
          </a:xfrm>
          <a:prstGeom prst="rect">
            <a:avLst/>
          </a:prstGeom>
        </p:spPr>
        <p:txBody>
          <a:bodyPr wrap="none">
            <a:spAutoFit/>
          </a:bodyPr>
          <a:lstStyle/>
          <a:p>
            <a:r>
              <a:rPr lang="en-US" b="1">
                <a:solidFill>
                  <a:srgbClr val="202122"/>
                </a:solidFill>
                <a:latin typeface="Arial" panose="020B0604020202020204" pitchFamily="34" charset="0"/>
              </a:rPr>
              <a:t>Ciphertext diagram:</a:t>
            </a:r>
            <a:endParaRPr lang="en-US"/>
          </a:p>
        </p:txBody>
      </p:sp>
      <p:cxnSp>
        <p:nvCxnSpPr>
          <p:cNvPr id="13" name="Straight Connector 12">
            <a:extLst>
              <a:ext uri="{FF2B5EF4-FFF2-40B4-BE49-F238E27FC236}">
                <a16:creationId xmlns:a16="http://schemas.microsoft.com/office/drawing/2014/main" id="{E27DC5D8-631E-4177-A065-FDFAA4F6EE10}"/>
              </a:ext>
            </a:extLst>
          </p:cNvPr>
          <p:cNvCxnSpPr/>
          <p:nvPr/>
        </p:nvCxnSpPr>
        <p:spPr bwMode="auto">
          <a:xfrm>
            <a:off x="4583832" y="1916832"/>
            <a:ext cx="3024336" cy="347536"/>
          </a:xfrm>
          <a:prstGeom prst="line">
            <a:avLst/>
          </a:prstGeom>
          <a:solidFill>
            <a:schemeClr val="accent1"/>
          </a:solidFill>
          <a:ln w="9525" cap="flat" cmpd="sng" algn="ctr">
            <a:solidFill>
              <a:schemeClr val="tx1"/>
            </a:solidFill>
            <a:prstDash val="solid"/>
            <a:round/>
            <a:headEnd type="none" w="med" len="med"/>
            <a:tailEnd type="arrow" w="med" len="med"/>
          </a:ln>
          <a:effectLst/>
        </p:spPr>
      </p:cxnSp>
      <p:cxnSp>
        <p:nvCxnSpPr>
          <p:cNvPr id="15" name="Straight Arrow Connector 14">
            <a:extLst>
              <a:ext uri="{FF2B5EF4-FFF2-40B4-BE49-F238E27FC236}">
                <a16:creationId xmlns:a16="http://schemas.microsoft.com/office/drawing/2014/main" id="{E357E253-D859-49BA-AB32-4648A45A54C6}"/>
              </a:ext>
            </a:extLst>
          </p:cNvPr>
          <p:cNvCxnSpPr/>
          <p:nvPr/>
        </p:nvCxnSpPr>
        <p:spPr bwMode="auto">
          <a:xfrm flipH="1">
            <a:off x="4583832" y="1809904"/>
            <a:ext cx="3096344" cy="45446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16" name="Rectangle 15">
            <a:extLst>
              <a:ext uri="{FF2B5EF4-FFF2-40B4-BE49-F238E27FC236}">
                <a16:creationId xmlns:a16="http://schemas.microsoft.com/office/drawing/2014/main" id="{C44DEB18-D20B-4834-ADAA-A3794D76B83D}"/>
              </a:ext>
            </a:extLst>
          </p:cNvPr>
          <p:cNvSpPr/>
          <p:nvPr/>
        </p:nvSpPr>
        <p:spPr>
          <a:xfrm>
            <a:off x="2711624" y="5445224"/>
            <a:ext cx="7618432" cy="523220"/>
          </a:xfrm>
          <a:prstGeom prst="rect">
            <a:avLst/>
          </a:prstGeom>
        </p:spPr>
        <p:txBody>
          <a:bodyPr wrap="square">
            <a:spAutoFit/>
          </a:bodyPr>
          <a:lstStyle/>
          <a:p>
            <a:r>
              <a:rPr lang="en-US">
                <a:solidFill>
                  <a:srgbClr val="FF0000"/>
                </a:solidFill>
              </a:rPr>
              <a:t>BF</a:t>
            </a:r>
            <a:r>
              <a:rPr lang="en-US"/>
              <a:t> </a:t>
            </a:r>
            <a:r>
              <a:rPr lang="en-US">
                <a:solidFill>
                  <a:srgbClr val="FF0000"/>
                </a:solidFill>
              </a:rPr>
              <a:t>CK</a:t>
            </a:r>
            <a:r>
              <a:rPr lang="en-US"/>
              <a:t>  </a:t>
            </a:r>
            <a:r>
              <a:rPr lang="en-US">
                <a:solidFill>
                  <a:srgbClr val="FF0000"/>
                </a:solidFill>
              </a:rPr>
              <a:t>PD</a:t>
            </a:r>
            <a:r>
              <a:rPr lang="en-US"/>
              <a:t>  </a:t>
            </a:r>
            <a:r>
              <a:rPr lang="en-US">
                <a:solidFill>
                  <a:schemeClr val="accent5">
                    <a:lumMod val="50000"/>
                  </a:schemeClr>
                </a:solidFill>
              </a:rPr>
              <a:t>FI   ..     ..   ..    ..    </a:t>
            </a:r>
            <a:r>
              <a:rPr lang="en-US">
                <a:solidFill>
                  <a:srgbClr val="FFC000"/>
                </a:solidFill>
              </a:rPr>
              <a:t>ZD</a:t>
            </a:r>
            <a:r>
              <a:rPr lang="en-US">
                <a:solidFill>
                  <a:schemeClr val="accent5">
                    <a:lumMod val="50000"/>
                  </a:schemeClr>
                </a:solidFill>
              </a:rPr>
              <a:t>      </a:t>
            </a:r>
          </a:p>
        </p:txBody>
      </p:sp>
      <p:sp>
        <p:nvSpPr>
          <p:cNvPr id="4" name="Rectangle 3">
            <a:extLst>
              <a:ext uri="{FF2B5EF4-FFF2-40B4-BE49-F238E27FC236}">
                <a16:creationId xmlns:a16="http://schemas.microsoft.com/office/drawing/2014/main" id="{A1A69541-6348-4007-96FC-E276F707D1FE}"/>
              </a:ext>
            </a:extLst>
          </p:cNvPr>
          <p:cNvSpPr/>
          <p:nvPr/>
        </p:nvSpPr>
        <p:spPr>
          <a:xfrm>
            <a:off x="1919536" y="5880028"/>
            <a:ext cx="9388192" cy="523220"/>
          </a:xfrm>
          <a:prstGeom prst="rect">
            <a:avLst/>
          </a:prstGeom>
        </p:spPr>
        <p:txBody>
          <a:bodyPr wrap="square">
            <a:spAutoFit/>
          </a:bodyPr>
          <a:lstStyle/>
          <a:p>
            <a:r>
              <a:rPr lang="en-US"/>
              <a:t>https://en.wikipedia.org/wiki/Playfair_cipher</a:t>
            </a:r>
          </a:p>
        </p:txBody>
      </p:sp>
    </p:spTree>
    <p:extLst>
      <p:ext uri="{BB962C8B-B14F-4D97-AF65-F5344CB8AC3E}">
        <p14:creationId xmlns:p14="http://schemas.microsoft.com/office/powerpoint/2010/main" val="5119148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6"/>
          </p:nvPr>
        </p:nvSpPr>
        <p:spPr>
          <a:xfrm>
            <a:off x="489660" y="2171735"/>
            <a:ext cx="5597195" cy="3108533"/>
          </a:xfrm>
        </p:spPr>
        <p:txBody>
          <a:bodyPr wrap="square">
            <a:spAutoFit/>
          </a:bodyPr>
          <a:lstStyle/>
          <a:p>
            <a:r>
              <a:rPr lang="en-US" sz="2800"/>
              <a:t>Digram</a:t>
            </a:r>
          </a:p>
          <a:p>
            <a:pPr lvl="1"/>
            <a:r>
              <a:rPr lang="en-US"/>
              <a:t>Two-letter combination</a:t>
            </a:r>
          </a:p>
          <a:p>
            <a:pPr lvl="1"/>
            <a:r>
              <a:rPr lang="en-US"/>
              <a:t>Most common is </a:t>
            </a:r>
            <a:r>
              <a:rPr lang="en-US" i="1" err="1"/>
              <a:t>th</a:t>
            </a:r>
            <a:endParaRPr lang="en-US"/>
          </a:p>
          <a:p>
            <a:r>
              <a:rPr lang="en-US" sz="2800"/>
              <a:t>Trigram </a:t>
            </a:r>
          </a:p>
          <a:p>
            <a:pPr lvl="1"/>
            <a:r>
              <a:rPr lang="en-US"/>
              <a:t>Three-letter combination</a:t>
            </a:r>
          </a:p>
          <a:p>
            <a:pPr lvl="1"/>
            <a:r>
              <a:rPr lang="en-US"/>
              <a:t>Most frequent is </a:t>
            </a:r>
            <a:r>
              <a:rPr lang="en-US" i="1"/>
              <a:t>the </a:t>
            </a:r>
            <a:endParaRPr lang="en-US"/>
          </a:p>
        </p:txBody>
      </p:sp>
      <p:pic>
        <p:nvPicPr>
          <p:cNvPr id="21" name="Picture Placeholder 20">
            <a:extLs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6378078" y="3544824"/>
            <a:ext cx="835152" cy="1255776"/>
          </a:xfrm>
          <a:prstGeom prst="rect">
            <a:avLst/>
          </a:prstGeom>
          <a:noFill/>
          <a:ln>
            <a:noFill/>
          </a:ln>
        </p:spPr>
      </p:pic>
      <p:pic>
        <p:nvPicPr>
          <p:cNvPr id="22" name="Picture Placeholder 21">
            <a:extLst>
              <a:ext uri="{C183D7F6-B498-43B3-948B-1728B52AA6E4}">
                <adec:decorative xmlns:adec="http://schemas.microsoft.com/office/drawing/2017/decorative" val="1"/>
              </a:ext>
            </a:extLst>
          </p:cNvPr>
          <p:cNvPicPr>
            <a:picLocks noGrp="1" noChangeAspect="1"/>
          </p:cNvPicPr>
          <p:nvPr>
            <p:ph type="pic" sz="quarter" idx="14"/>
          </p:nvPr>
        </p:nvPicPr>
        <p:blipFill>
          <a:blip r:embed="rId4">
            <a:extLst>
              <a:ext uri="{28A0092B-C50C-407E-A947-70E740481C1C}">
                <a14:useLocalDpi xmlns:a14="http://schemas.microsoft.com/office/drawing/2010/main" val="0"/>
              </a:ext>
            </a:extLst>
          </a:blip>
          <a:stretch>
            <a:fillRect/>
          </a:stretch>
        </p:blipFill>
        <p:spPr>
          <a:xfrm>
            <a:off x="7504452" y="3611880"/>
            <a:ext cx="768096" cy="1036320"/>
          </a:xfrm>
          <a:prstGeom prst="rect">
            <a:avLst/>
          </a:prstGeom>
          <a:noFill/>
          <a:ln>
            <a:noFill/>
          </a:ln>
        </p:spPr>
      </p:pic>
      <p:pic>
        <p:nvPicPr>
          <p:cNvPr id="23" name="Picture Placeholder 22">
            <a:extLst>
              <a:ext uri="{C183D7F6-B498-43B3-948B-1728B52AA6E4}">
                <adec:decorative xmlns:adec="http://schemas.microsoft.com/office/drawing/2017/decorative" val="1"/>
              </a:ext>
            </a:extLst>
          </p:cNvPr>
          <p:cNvPicPr>
            <a:picLocks noGrp="1" noChangeAspect="1"/>
          </p:cNvPicPr>
          <p:nvPr>
            <p:ph type="pic" sz="quarter" idx="15"/>
          </p:nvPr>
        </p:nvPicPr>
        <p:blipFill>
          <a:blip r:embed="rId5">
            <a:extLst>
              <a:ext uri="{28A0092B-C50C-407E-A947-70E740481C1C}">
                <a14:useLocalDpi xmlns:a14="http://schemas.microsoft.com/office/drawing/2010/main" val="0"/>
              </a:ext>
            </a:extLst>
          </a:blip>
          <a:stretch>
            <a:fillRect/>
          </a:stretch>
        </p:blipFill>
        <p:spPr>
          <a:xfrm>
            <a:off x="7253324" y="5079279"/>
            <a:ext cx="818696" cy="1237008"/>
          </a:xfrm>
          <a:prstGeom prst="rect">
            <a:avLst/>
          </a:prstGeom>
          <a:noFill/>
          <a:ln>
            <a:noFill/>
          </a:ln>
        </p:spPr>
      </p:pic>
      <p:pic>
        <p:nvPicPr>
          <p:cNvPr id="24" name="Picture Placeholder 23">
            <a:extLst>
              <a:ext uri="{C183D7F6-B498-43B3-948B-1728B52AA6E4}">
                <adec:decorative xmlns:adec="http://schemas.microsoft.com/office/drawing/2017/decorative" val="1"/>
              </a:ext>
            </a:extLst>
          </p:cNvPr>
          <p:cNvPicPr>
            <a:picLocks noGrp="1" noChangeAspect="1"/>
          </p:cNvPicPr>
          <p:nvPr>
            <p:ph type="pic" sz="quarter" idx="18"/>
          </p:nvPr>
        </p:nvPicPr>
        <p:blipFill>
          <a:blip r:embed="rId4">
            <a:extLst>
              <a:ext uri="{28A0092B-C50C-407E-A947-70E740481C1C}">
                <a14:useLocalDpi xmlns:a14="http://schemas.microsoft.com/office/drawing/2010/main" val="0"/>
              </a:ext>
            </a:extLst>
          </a:blip>
          <a:stretch>
            <a:fillRect/>
          </a:stretch>
        </p:blipFill>
        <p:spPr>
          <a:xfrm>
            <a:off x="8310310" y="5021862"/>
            <a:ext cx="768096" cy="1036320"/>
          </a:xfrm>
          <a:prstGeom prst="rect">
            <a:avLst/>
          </a:prstGeom>
          <a:noFill/>
          <a:ln>
            <a:noFill/>
          </a:ln>
        </p:spPr>
      </p:pic>
      <p:pic>
        <p:nvPicPr>
          <p:cNvPr id="25" name="Picture Placeholder 24">
            <a:extLst>
              <a:ext uri="{C183D7F6-B498-43B3-948B-1728B52AA6E4}">
                <adec:decorative xmlns:adec="http://schemas.microsoft.com/office/drawing/2017/decorative" val="1"/>
              </a:ext>
            </a:extLst>
          </p:cNvPr>
          <p:cNvPicPr>
            <a:picLocks noGrp="1" noChangeAspect="1"/>
          </p:cNvPicPr>
          <p:nvPr>
            <p:ph type="pic" sz="quarter" idx="17"/>
          </p:nvPr>
        </p:nvPicPr>
        <p:blipFill>
          <a:blip r:embed="rId6">
            <a:extLst>
              <a:ext uri="{28A0092B-C50C-407E-A947-70E740481C1C}">
                <a14:useLocalDpi xmlns:a14="http://schemas.microsoft.com/office/drawing/2010/main" val="0"/>
              </a:ext>
            </a:extLst>
          </a:blip>
          <a:stretch>
            <a:fillRect/>
          </a:stretch>
        </p:blipFill>
        <p:spPr>
          <a:xfrm>
            <a:off x="9228513" y="4649585"/>
            <a:ext cx="835152" cy="1072896"/>
          </a:xfrm>
          <a:prstGeom prst="rect">
            <a:avLst/>
          </a:prstGeom>
          <a:noFill/>
          <a:ln>
            <a:noFill/>
          </a:ln>
        </p:spPr>
      </p:pic>
      <p:sp>
        <p:nvSpPr>
          <p:cNvPr id="3" name="TextBox 2">
            <a:extLst>
              <a:ext uri="{FF2B5EF4-FFF2-40B4-BE49-F238E27FC236}">
                <a16:creationId xmlns:a16="http://schemas.microsoft.com/office/drawing/2014/main" id="{A0FA800A-AAF7-44F6-BB07-533D6E9CDE42}"/>
              </a:ext>
            </a:extLst>
          </p:cNvPr>
          <p:cNvSpPr txBox="1"/>
          <p:nvPr/>
        </p:nvSpPr>
        <p:spPr>
          <a:xfrm>
            <a:off x="566582" y="1165315"/>
            <a:ext cx="5205271" cy="615553"/>
          </a:xfrm>
          <a:prstGeom prst="rect">
            <a:avLst/>
          </a:prstGeom>
          <a:noFill/>
        </p:spPr>
        <p:txBody>
          <a:bodyPr wrap="none" rtlCol="0">
            <a:spAutoFit/>
          </a:bodyPr>
          <a:lstStyle/>
          <a:p>
            <a:r>
              <a:rPr lang="en-US" sz="3400"/>
              <a:t>Cryptoanalys </a:t>
            </a:r>
            <a:r>
              <a:rPr lang="en-IN" altLang="en-US" sz="3400">
                <a:ea typeface="ヒラギノ角ゴ Pro W3" charset="-128"/>
              </a:rPr>
              <a:t>Playfair cipher</a:t>
            </a:r>
            <a:endParaRPr lang="en-US" sz="3400"/>
          </a:p>
        </p:txBody>
      </p:sp>
      <p:sp>
        <p:nvSpPr>
          <p:cNvPr id="10" name="Title 1">
            <a:extLst>
              <a:ext uri="{FF2B5EF4-FFF2-40B4-BE49-F238E27FC236}">
                <a16:creationId xmlns:a16="http://schemas.microsoft.com/office/drawing/2014/main" id="{39E71889-1A0B-42B0-A79F-EBD57EE6DCBA}"/>
              </a:ext>
            </a:extLst>
          </p:cNvPr>
          <p:cNvSpPr txBox="1">
            <a:spLocks/>
          </p:cNvSpPr>
          <p:nvPr/>
        </p:nvSpPr>
        <p:spPr bwMode="auto">
          <a:xfrm>
            <a:off x="1547116" y="158906"/>
            <a:ext cx="7704856" cy="615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ctr" anchorCtr="0" compatLnSpc="1">
            <a:prstTxWarp prst="textNoShape">
              <a:avLst/>
            </a:prstTxWarp>
            <a:spAutoFit/>
          </a:bodyP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charset="0"/>
              </a:defRPr>
            </a:lvl2pPr>
            <a:lvl3pPr algn="l" rtl="0" eaLnBrk="0" fontAlgn="base" hangingPunct="0">
              <a:spcBef>
                <a:spcPct val="0"/>
              </a:spcBef>
              <a:spcAft>
                <a:spcPct val="0"/>
              </a:spcAft>
              <a:defRPr sz="4400">
                <a:solidFill>
                  <a:schemeClr val="tx2"/>
                </a:solidFill>
                <a:latin typeface="Arial" charset="0"/>
              </a:defRPr>
            </a:lvl3pPr>
            <a:lvl4pPr algn="l" rtl="0" eaLnBrk="0" fontAlgn="base" hangingPunct="0">
              <a:spcBef>
                <a:spcPct val="0"/>
              </a:spcBef>
              <a:spcAft>
                <a:spcPct val="0"/>
              </a:spcAft>
              <a:defRPr sz="4400">
                <a:solidFill>
                  <a:schemeClr val="tx2"/>
                </a:solidFill>
                <a:latin typeface="Arial" charset="0"/>
              </a:defRPr>
            </a:lvl4pPr>
            <a:lvl5pPr algn="l" rtl="0" eaLnBrk="0" fontAlgn="base" hangingPunct="0">
              <a:spcBef>
                <a:spcPct val="0"/>
              </a:spcBef>
              <a:spcAft>
                <a:spcPct val="0"/>
              </a:spcAft>
              <a:defRPr sz="4400">
                <a:solidFill>
                  <a:schemeClr val="tx2"/>
                </a:solidFill>
                <a:latin typeface="Arial" charset="0"/>
              </a:defRPr>
            </a:lvl5pPr>
            <a:lvl6pPr marL="457200" algn="l" rtl="0" fontAlgn="base">
              <a:spcBef>
                <a:spcPct val="0"/>
              </a:spcBef>
              <a:spcAft>
                <a:spcPct val="0"/>
              </a:spcAft>
              <a:defRPr sz="4400">
                <a:solidFill>
                  <a:schemeClr val="tx2"/>
                </a:solidFill>
                <a:latin typeface="Arial" charset="0"/>
              </a:defRPr>
            </a:lvl6pPr>
            <a:lvl7pPr marL="914400" algn="l" rtl="0" fontAlgn="base">
              <a:spcBef>
                <a:spcPct val="0"/>
              </a:spcBef>
              <a:spcAft>
                <a:spcPct val="0"/>
              </a:spcAft>
              <a:defRPr sz="4400">
                <a:solidFill>
                  <a:schemeClr val="tx2"/>
                </a:solidFill>
                <a:latin typeface="Arial" charset="0"/>
              </a:defRPr>
            </a:lvl7pPr>
            <a:lvl8pPr marL="1371600" algn="l" rtl="0" fontAlgn="base">
              <a:spcBef>
                <a:spcPct val="0"/>
              </a:spcBef>
              <a:spcAft>
                <a:spcPct val="0"/>
              </a:spcAft>
              <a:defRPr sz="4400">
                <a:solidFill>
                  <a:schemeClr val="tx2"/>
                </a:solidFill>
                <a:latin typeface="Arial" charset="0"/>
              </a:defRPr>
            </a:lvl8pPr>
            <a:lvl9pPr marL="1828800" algn="l" rtl="0" fontAlgn="base">
              <a:spcBef>
                <a:spcPct val="0"/>
              </a:spcBef>
              <a:spcAft>
                <a:spcPct val="0"/>
              </a:spcAft>
              <a:defRPr sz="4400">
                <a:solidFill>
                  <a:schemeClr val="tx2"/>
                </a:solidFill>
                <a:latin typeface="Arial" charset="0"/>
              </a:defRPr>
            </a:lvl9pPr>
          </a:lstStyle>
          <a:p>
            <a:pPr marL="0" lvl="1"/>
            <a:r>
              <a:rPr lang="en-IN" altLang="en-US" sz="3400" b="1" kern="0">
                <a:ea typeface="ヒラギノ角ゴ Pro W3" charset="-128"/>
              </a:rPr>
              <a:t>Polyalphabetic Cipher</a:t>
            </a:r>
          </a:p>
        </p:txBody>
      </p:sp>
    </p:spTree>
    <p:extLst>
      <p:ext uri="{BB962C8B-B14F-4D97-AF65-F5344CB8AC3E}">
        <p14:creationId xmlns:p14="http://schemas.microsoft.com/office/powerpoint/2010/main" val="10739188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3512" y="275341"/>
            <a:ext cx="9731424" cy="646321"/>
          </a:xfrm>
        </p:spPr>
        <p:txBody>
          <a:bodyPr wrap="square">
            <a:spAutoFit/>
          </a:bodyPr>
          <a:lstStyle/>
          <a:p>
            <a:r>
              <a:rPr lang="en-IN" altLang="en-US" sz="3600">
                <a:ea typeface="ヒラギノ角ゴ Pro W3" charset="-128"/>
              </a:rPr>
              <a:t>Relative Frequency of Occurrence of Letters</a:t>
            </a:r>
          </a:p>
        </p:txBody>
      </p:sp>
      <p:pic>
        <p:nvPicPr>
          <p:cNvPr id="6" name="Picture Placeholder 5" descr="The approximate data for each curve are summarized below.&#10;• A horizontal line at 0.32 represents random polyalphabetic&#10;• The curve for plaintext falls from (0, 1.0) through (8, 0.32) to (26, 0)&#10;• The curve for Playfair falls from (0, 0.7) through (12.5, 0.32) to (26, 0)&#10;• The curve for Vignere falls form (0, 0.57) through (10.5, 0.32) to (26, 0.12).&#10;"/>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983432" y="1052735"/>
            <a:ext cx="10225136" cy="5344615"/>
          </a:xfrm>
          <a:prstGeom prst="rect">
            <a:avLst/>
          </a:prstGeom>
          <a:noFill/>
          <a:ln>
            <a:noFill/>
          </a:ln>
        </p:spPr>
      </p:pic>
    </p:spTree>
    <p:extLst>
      <p:ext uri="{BB962C8B-B14F-4D97-AF65-F5344CB8AC3E}">
        <p14:creationId xmlns:p14="http://schemas.microsoft.com/office/powerpoint/2010/main" val="8707983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5213" y="834361"/>
            <a:ext cx="8229600" cy="646321"/>
          </a:xfrm>
        </p:spPr>
        <p:txBody>
          <a:bodyPr wrap="square">
            <a:spAutoFit/>
          </a:bodyPr>
          <a:lstStyle/>
          <a:p>
            <a:r>
              <a:rPr lang="en-IN" altLang="en-US" sz="3600">
                <a:ea typeface="ヒラギノ角ゴ Pro W3" charset="-128"/>
              </a:rPr>
              <a:t>(4) Hill Cipher</a:t>
            </a:r>
            <a:endParaRPr lang="en-US" sz="2800"/>
          </a:p>
        </p:txBody>
      </p:sp>
      <p:sp>
        <p:nvSpPr>
          <p:cNvPr id="4" name="Content Placeholder 3"/>
          <p:cNvSpPr>
            <a:spLocks noGrp="1"/>
          </p:cNvSpPr>
          <p:nvPr>
            <p:ph idx="13"/>
          </p:nvPr>
        </p:nvSpPr>
        <p:spPr>
          <a:xfrm>
            <a:off x="191344" y="2102638"/>
            <a:ext cx="11377264" cy="2973111"/>
          </a:xfrm>
        </p:spPr>
        <p:txBody>
          <a:bodyPr wrap="square">
            <a:spAutoFit/>
          </a:bodyPr>
          <a:lstStyle/>
          <a:p>
            <a:r>
              <a:rPr lang="en-US" sz="2400"/>
              <a:t>Developed by the mathematician Lester Hill in 1929</a:t>
            </a:r>
          </a:p>
          <a:p>
            <a:r>
              <a:rPr lang="en-US" sz="2400"/>
              <a:t>Strength is that it completely hides single-letter frequencies</a:t>
            </a:r>
          </a:p>
          <a:p>
            <a:pPr lvl="1"/>
            <a:r>
              <a:rPr lang="en-US" sz="2400"/>
              <a:t>The use of a larger matrix hides more frequency information</a:t>
            </a:r>
          </a:p>
          <a:p>
            <a:pPr lvl="1"/>
            <a:r>
              <a:rPr lang="en-US" sz="2400"/>
              <a:t>A 3 x 3 Hill cipher hides not only single-letter but also two-letter frequency information</a:t>
            </a:r>
          </a:p>
          <a:p>
            <a:r>
              <a:rPr lang="en-US" sz="2400"/>
              <a:t>Strong against a </a:t>
            </a:r>
            <a:r>
              <a:rPr lang="en-US" sz="2400" err="1"/>
              <a:t>ciphertext</a:t>
            </a:r>
            <a:r>
              <a:rPr lang="en-US" sz="2400"/>
              <a:t>-only attack but easily broken with a known plaintext attack</a:t>
            </a:r>
          </a:p>
        </p:txBody>
      </p:sp>
      <p:graphicFrame>
        <p:nvGraphicFramePr>
          <p:cNvPr id="5" name="Object 4">
            <a:extLst>
              <a:ext uri="{FF2B5EF4-FFF2-40B4-BE49-F238E27FC236}">
                <a16:creationId xmlns:a16="http://schemas.microsoft.com/office/drawing/2014/main" id="{A1989F0B-8B01-4E46-B2DE-9BC4910AA2B5}"/>
              </a:ext>
            </a:extLst>
          </p:cNvPr>
          <p:cNvGraphicFramePr>
            <a:graphicFrameLocks noChangeAspect="1"/>
          </p:cNvGraphicFramePr>
          <p:nvPr>
            <p:extLst>
              <p:ext uri="{D42A27DB-BD31-4B8C-83A1-F6EECF244321}">
                <p14:modId xmlns:p14="http://schemas.microsoft.com/office/powerpoint/2010/main" val="295251048"/>
              </p:ext>
            </p:extLst>
          </p:nvPr>
        </p:nvGraphicFramePr>
        <p:xfrm>
          <a:off x="3889772" y="4852684"/>
          <a:ext cx="5168900" cy="1625600"/>
        </p:xfrm>
        <a:graphic>
          <a:graphicData uri="http://schemas.openxmlformats.org/presentationml/2006/ole">
            <mc:AlternateContent xmlns:mc="http://schemas.openxmlformats.org/markup-compatibility/2006">
              <mc:Choice xmlns:v="urn:schemas-microsoft-com:vml" Requires="v">
                <p:oleObj name="Equation" r:id="rId3" imgW="5168880" imgH="1625400" progId="Equation.DSMT4">
                  <p:embed/>
                </p:oleObj>
              </mc:Choice>
              <mc:Fallback>
                <p:oleObj name="Equation" r:id="rId3" imgW="5168880" imgH="1625400" progId="Equation.DSMT4">
                  <p:embed/>
                  <p:pic>
                    <p:nvPicPr>
                      <p:cNvPr id="0" name=""/>
                      <p:cNvPicPr/>
                      <p:nvPr/>
                    </p:nvPicPr>
                    <p:blipFill>
                      <a:blip r:embed="rId4"/>
                      <a:stretch>
                        <a:fillRect/>
                      </a:stretch>
                    </p:blipFill>
                    <p:spPr>
                      <a:xfrm>
                        <a:off x="3889772" y="4852684"/>
                        <a:ext cx="5168900" cy="1625600"/>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80141558-50F6-4110-838A-4751FC8CBC20}"/>
              </a:ext>
            </a:extLst>
          </p:cNvPr>
          <p:cNvSpPr txBox="1"/>
          <p:nvPr/>
        </p:nvSpPr>
        <p:spPr>
          <a:xfrm>
            <a:off x="4540013" y="3178865"/>
            <a:ext cx="65" cy="430887"/>
          </a:xfrm>
          <a:prstGeom prst="rect">
            <a:avLst/>
          </a:prstGeom>
          <a:noFill/>
        </p:spPr>
        <p:txBody>
          <a:bodyPr wrap="none" lIns="0" tIns="0" rIns="0" bIns="0" rtlCol="0">
            <a:spAutoFit/>
          </a:bodyPr>
          <a:lstStyle/>
          <a:p>
            <a:endParaRPr lang="en-US"/>
          </a:p>
        </p:txBody>
      </p:sp>
      <p:graphicFrame>
        <p:nvGraphicFramePr>
          <p:cNvPr id="7" name="Object 6">
            <a:extLst>
              <a:ext uri="{FF2B5EF4-FFF2-40B4-BE49-F238E27FC236}">
                <a16:creationId xmlns:a16="http://schemas.microsoft.com/office/drawing/2014/main" id="{BFB3D219-E522-4E61-BF5B-6DFCDEDDFB70}"/>
              </a:ext>
            </a:extLst>
          </p:cNvPr>
          <p:cNvGraphicFramePr>
            <a:graphicFrameLocks noChangeAspect="1"/>
          </p:cNvGraphicFramePr>
          <p:nvPr>
            <p:extLst>
              <p:ext uri="{D42A27DB-BD31-4B8C-83A1-F6EECF244321}">
                <p14:modId xmlns:p14="http://schemas.microsoft.com/office/powerpoint/2010/main" val="3432833435"/>
              </p:ext>
            </p:extLst>
          </p:nvPr>
        </p:nvGraphicFramePr>
        <p:xfrm>
          <a:off x="933520" y="5673109"/>
          <a:ext cx="2298700" cy="317500"/>
        </p:xfrm>
        <a:graphic>
          <a:graphicData uri="http://schemas.openxmlformats.org/presentationml/2006/ole">
            <mc:AlternateContent xmlns:mc="http://schemas.openxmlformats.org/markup-compatibility/2006">
              <mc:Choice xmlns:v="urn:schemas-microsoft-com:vml" Requires="v">
                <p:oleObj name="Equation" r:id="rId5" imgW="2298600" imgH="317160" progId="Equation.DSMT4">
                  <p:embed/>
                </p:oleObj>
              </mc:Choice>
              <mc:Fallback>
                <p:oleObj name="Equation" r:id="rId5" imgW="2298600" imgH="317160" progId="Equation.DSMT4">
                  <p:embed/>
                  <p:pic>
                    <p:nvPicPr>
                      <p:cNvPr id="0" name=""/>
                      <p:cNvPicPr/>
                      <p:nvPr/>
                    </p:nvPicPr>
                    <p:blipFill>
                      <a:blip r:embed="rId6"/>
                      <a:stretch>
                        <a:fillRect/>
                      </a:stretch>
                    </p:blipFill>
                    <p:spPr>
                      <a:xfrm>
                        <a:off x="933520" y="5673109"/>
                        <a:ext cx="2298700" cy="317500"/>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979E5930-D76D-47FE-BF13-0CCAE058A43E}"/>
              </a:ext>
            </a:extLst>
          </p:cNvPr>
          <p:cNvSpPr txBox="1">
            <a:spLocks/>
          </p:cNvSpPr>
          <p:nvPr/>
        </p:nvSpPr>
        <p:spPr bwMode="auto">
          <a:xfrm>
            <a:off x="1631504" y="129338"/>
            <a:ext cx="7704856" cy="615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ctr" anchorCtr="0" compatLnSpc="1">
            <a:prstTxWarp prst="textNoShape">
              <a:avLst/>
            </a:prstTxWarp>
            <a:spAutoFit/>
          </a:bodyP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charset="0"/>
              </a:defRPr>
            </a:lvl2pPr>
            <a:lvl3pPr algn="l" rtl="0" eaLnBrk="0" fontAlgn="base" hangingPunct="0">
              <a:spcBef>
                <a:spcPct val="0"/>
              </a:spcBef>
              <a:spcAft>
                <a:spcPct val="0"/>
              </a:spcAft>
              <a:defRPr sz="4400">
                <a:solidFill>
                  <a:schemeClr val="tx2"/>
                </a:solidFill>
                <a:latin typeface="Arial" charset="0"/>
              </a:defRPr>
            </a:lvl3pPr>
            <a:lvl4pPr algn="l" rtl="0" eaLnBrk="0" fontAlgn="base" hangingPunct="0">
              <a:spcBef>
                <a:spcPct val="0"/>
              </a:spcBef>
              <a:spcAft>
                <a:spcPct val="0"/>
              </a:spcAft>
              <a:defRPr sz="4400">
                <a:solidFill>
                  <a:schemeClr val="tx2"/>
                </a:solidFill>
                <a:latin typeface="Arial" charset="0"/>
              </a:defRPr>
            </a:lvl4pPr>
            <a:lvl5pPr algn="l" rtl="0" eaLnBrk="0" fontAlgn="base" hangingPunct="0">
              <a:spcBef>
                <a:spcPct val="0"/>
              </a:spcBef>
              <a:spcAft>
                <a:spcPct val="0"/>
              </a:spcAft>
              <a:defRPr sz="4400">
                <a:solidFill>
                  <a:schemeClr val="tx2"/>
                </a:solidFill>
                <a:latin typeface="Arial" charset="0"/>
              </a:defRPr>
            </a:lvl5pPr>
            <a:lvl6pPr marL="457200" algn="l" rtl="0" fontAlgn="base">
              <a:spcBef>
                <a:spcPct val="0"/>
              </a:spcBef>
              <a:spcAft>
                <a:spcPct val="0"/>
              </a:spcAft>
              <a:defRPr sz="4400">
                <a:solidFill>
                  <a:schemeClr val="tx2"/>
                </a:solidFill>
                <a:latin typeface="Arial" charset="0"/>
              </a:defRPr>
            </a:lvl6pPr>
            <a:lvl7pPr marL="914400" algn="l" rtl="0" fontAlgn="base">
              <a:spcBef>
                <a:spcPct val="0"/>
              </a:spcBef>
              <a:spcAft>
                <a:spcPct val="0"/>
              </a:spcAft>
              <a:defRPr sz="4400">
                <a:solidFill>
                  <a:schemeClr val="tx2"/>
                </a:solidFill>
                <a:latin typeface="Arial" charset="0"/>
              </a:defRPr>
            </a:lvl7pPr>
            <a:lvl8pPr marL="1371600" algn="l" rtl="0" fontAlgn="base">
              <a:spcBef>
                <a:spcPct val="0"/>
              </a:spcBef>
              <a:spcAft>
                <a:spcPct val="0"/>
              </a:spcAft>
              <a:defRPr sz="4400">
                <a:solidFill>
                  <a:schemeClr val="tx2"/>
                </a:solidFill>
                <a:latin typeface="Arial" charset="0"/>
              </a:defRPr>
            </a:lvl8pPr>
            <a:lvl9pPr marL="1828800" algn="l" rtl="0" fontAlgn="base">
              <a:spcBef>
                <a:spcPct val="0"/>
              </a:spcBef>
              <a:spcAft>
                <a:spcPct val="0"/>
              </a:spcAft>
              <a:defRPr sz="4400">
                <a:solidFill>
                  <a:schemeClr val="tx2"/>
                </a:solidFill>
                <a:latin typeface="Arial" charset="0"/>
              </a:defRPr>
            </a:lvl9pPr>
          </a:lstStyle>
          <a:p>
            <a:pPr marL="0" lvl="1"/>
            <a:r>
              <a:rPr lang="en-IN" altLang="en-US" sz="3400" b="1" kern="0">
                <a:ea typeface="ヒラギノ角ゴ Pro W3" charset="-128"/>
              </a:rPr>
              <a:t>Polyalphabetic Cipher</a:t>
            </a:r>
          </a:p>
        </p:txBody>
      </p:sp>
      <p:pic>
        <p:nvPicPr>
          <p:cNvPr id="3" name="Picture 2">
            <a:extLst>
              <a:ext uri="{FF2B5EF4-FFF2-40B4-BE49-F238E27FC236}">
                <a16:creationId xmlns:a16="http://schemas.microsoft.com/office/drawing/2014/main" id="{0EFCB660-FCE6-493D-B38E-7C0E6D049770}"/>
              </a:ext>
            </a:extLst>
          </p:cNvPr>
          <p:cNvPicPr>
            <a:picLocks noChangeAspect="1"/>
          </p:cNvPicPr>
          <p:nvPr/>
        </p:nvPicPr>
        <p:blipFill>
          <a:blip r:embed="rId7"/>
          <a:stretch>
            <a:fillRect/>
          </a:stretch>
        </p:blipFill>
        <p:spPr>
          <a:xfrm>
            <a:off x="623392" y="1340768"/>
            <a:ext cx="10521963" cy="840706"/>
          </a:xfrm>
          <a:prstGeom prst="rect">
            <a:avLst/>
          </a:prstGeom>
        </p:spPr>
      </p:pic>
    </p:spTree>
    <p:extLst>
      <p:ext uri="{BB962C8B-B14F-4D97-AF65-F5344CB8AC3E}">
        <p14:creationId xmlns:p14="http://schemas.microsoft.com/office/powerpoint/2010/main" val="18558199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8728" y="1033598"/>
            <a:ext cx="6984776" cy="646321"/>
          </a:xfrm>
        </p:spPr>
        <p:txBody>
          <a:bodyPr wrap="square">
            <a:spAutoFit/>
          </a:bodyPr>
          <a:lstStyle/>
          <a:p>
            <a:r>
              <a:rPr lang="en-IN" altLang="en-US" sz="3600">
                <a:ea typeface="ヒラギノ角ゴ Pro W3" charset="-128"/>
              </a:rPr>
              <a:t>(5) Vigenère Cipher</a:t>
            </a:r>
            <a:endParaRPr lang="en-US" sz="2800"/>
          </a:p>
        </p:txBody>
      </p:sp>
      <p:sp>
        <p:nvSpPr>
          <p:cNvPr id="4" name="Content Placeholder 3"/>
          <p:cNvSpPr>
            <a:spLocks noGrp="1"/>
          </p:cNvSpPr>
          <p:nvPr>
            <p:ph idx="1"/>
          </p:nvPr>
        </p:nvSpPr>
        <p:spPr>
          <a:xfrm>
            <a:off x="541040" y="2101822"/>
            <a:ext cx="8229600" cy="2825379"/>
          </a:xfrm>
        </p:spPr>
        <p:txBody>
          <a:bodyPr>
            <a:spAutoFit/>
          </a:bodyPr>
          <a:lstStyle/>
          <a:p>
            <a:r>
              <a:rPr lang="en-AU" sz="2400"/>
              <a:t>Best known and one of the simplest polyalphabetic substitution ciphers</a:t>
            </a:r>
          </a:p>
          <a:p>
            <a:r>
              <a:rPr lang="en-AU" sz="2400"/>
              <a:t>In this scheme the set of related </a:t>
            </a:r>
            <a:r>
              <a:rPr lang="en-AU" sz="2400" err="1"/>
              <a:t>monoalphabetic</a:t>
            </a:r>
            <a:r>
              <a:rPr lang="en-AU" sz="2400"/>
              <a:t> substitution rules consists of the 26 Caesar ciphers with shifts of 0 through 25</a:t>
            </a:r>
          </a:p>
          <a:p>
            <a:r>
              <a:rPr lang="en-AU" sz="2400"/>
              <a:t>Each cipher is denoted by a key letter which is the </a:t>
            </a:r>
            <a:r>
              <a:rPr lang="en-AU" sz="2400" err="1"/>
              <a:t>ciphertext</a:t>
            </a:r>
            <a:r>
              <a:rPr lang="en-AU" sz="2400"/>
              <a:t> letter that substitutes for the plaintext letter a</a:t>
            </a:r>
          </a:p>
        </p:txBody>
      </p:sp>
      <p:sp>
        <p:nvSpPr>
          <p:cNvPr id="3" name="Rectangle 2">
            <a:extLst>
              <a:ext uri="{FF2B5EF4-FFF2-40B4-BE49-F238E27FC236}">
                <a16:creationId xmlns:a16="http://schemas.microsoft.com/office/drawing/2014/main" id="{7926C25C-88E7-43F2-A1AF-0E0CC898E54C}"/>
              </a:ext>
            </a:extLst>
          </p:cNvPr>
          <p:cNvSpPr/>
          <p:nvPr/>
        </p:nvSpPr>
        <p:spPr>
          <a:xfrm>
            <a:off x="818728" y="5330615"/>
            <a:ext cx="8229600" cy="523220"/>
          </a:xfrm>
          <a:prstGeom prst="rect">
            <a:avLst/>
          </a:prstGeom>
        </p:spPr>
        <p:txBody>
          <a:bodyPr wrap="square">
            <a:spAutoFit/>
          </a:bodyPr>
          <a:lstStyle/>
          <a:p>
            <a:r>
              <a:rPr lang="en-US"/>
              <a:t>https://en.wikipedia.org/wiki/Vigen%C3%A8re_cipher</a:t>
            </a:r>
          </a:p>
        </p:txBody>
      </p:sp>
      <p:sp>
        <p:nvSpPr>
          <p:cNvPr id="5" name="Title 1">
            <a:extLst>
              <a:ext uri="{FF2B5EF4-FFF2-40B4-BE49-F238E27FC236}">
                <a16:creationId xmlns:a16="http://schemas.microsoft.com/office/drawing/2014/main" id="{2DAA3F47-AD69-416D-B39F-4976027EE22E}"/>
              </a:ext>
            </a:extLst>
          </p:cNvPr>
          <p:cNvSpPr txBox="1">
            <a:spLocks/>
          </p:cNvSpPr>
          <p:nvPr/>
        </p:nvSpPr>
        <p:spPr bwMode="auto">
          <a:xfrm>
            <a:off x="1703512" y="42648"/>
            <a:ext cx="7704856" cy="615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5" rIns="91429" bIns="45715" numCol="1" anchor="ctr" anchorCtr="0" compatLnSpc="1">
            <a:prstTxWarp prst="textNoShape">
              <a:avLst/>
            </a:prstTxWarp>
            <a:spAutoFit/>
          </a:bodyP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Arial" charset="0"/>
              </a:defRPr>
            </a:lvl2pPr>
            <a:lvl3pPr algn="l" rtl="0" eaLnBrk="0" fontAlgn="base" hangingPunct="0">
              <a:spcBef>
                <a:spcPct val="0"/>
              </a:spcBef>
              <a:spcAft>
                <a:spcPct val="0"/>
              </a:spcAft>
              <a:defRPr sz="4400">
                <a:solidFill>
                  <a:schemeClr val="tx2"/>
                </a:solidFill>
                <a:latin typeface="Arial" charset="0"/>
              </a:defRPr>
            </a:lvl3pPr>
            <a:lvl4pPr algn="l" rtl="0" eaLnBrk="0" fontAlgn="base" hangingPunct="0">
              <a:spcBef>
                <a:spcPct val="0"/>
              </a:spcBef>
              <a:spcAft>
                <a:spcPct val="0"/>
              </a:spcAft>
              <a:defRPr sz="4400">
                <a:solidFill>
                  <a:schemeClr val="tx2"/>
                </a:solidFill>
                <a:latin typeface="Arial" charset="0"/>
              </a:defRPr>
            </a:lvl4pPr>
            <a:lvl5pPr algn="l" rtl="0" eaLnBrk="0" fontAlgn="base" hangingPunct="0">
              <a:spcBef>
                <a:spcPct val="0"/>
              </a:spcBef>
              <a:spcAft>
                <a:spcPct val="0"/>
              </a:spcAft>
              <a:defRPr sz="4400">
                <a:solidFill>
                  <a:schemeClr val="tx2"/>
                </a:solidFill>
                <a:latin typeface="Arial" charset="0"/>
              </a:defRPr>
            </a:lvl5pPr>
            <a:lvl6pPr marL="457200" algn="l" rtl="0" fontAlgn="base">
              <a:spcBef>
                <a:spcPct val="0"/>
              </a:spcBef>
              <a:spcAft>
                <a:spcPct val="0"/>
              </a:spcAft>
              <a:defRPr sz="4400">
                <a:solidFill>
                  <a:schemeClr val="tx2"/>
                </a:solidFill>
                <a:latin typeface="Arial" charset="0"/>
              </a:defRPr>
            </a:lvl6pPr>
            <a:lvl7pPr marL="914400" algn="l" rtl="0" fontAlgn="base">
              <a:spcBef>
                <a:spcPct val="0"/>
              </a:spcBef>
              <a:spcAft>
                <a:spcPct val="0"/>
              </a:spcAft>
              <a:defRPr sz="4400">
                <a:solidFill>
                  <a:schemeClr val="tx2"/>
                </a:solidFill>
                <a:latin typeface="Arial" charset="0"/>
              </a:defRPr>
            </a:lvl7pPr>
            <a:lvl8pPr marL="1371600" algn="l" rtl="0" fontAlgn="base">
              <a:spcBef>
                <a:spcPct val="0"/>
              </a:spcBef>
              <a:spcAft>
                <a:spcPct val="0"/>
              </a:spcAft>
              <a:defRPr sz="4400">
                <a:solidFill>
                  <a:schemeClr val="tx2"/>
                </a:solidFill>
                <a:latin typeface="Arial" charset="0"/>
              </a:defRPr>
            </a:lvl8pPr>
            <a:lvl9pPr marL="1828800" algn="l" rtl="0" fontAlgn="base">
              <a:spcBef>
                <a:spcPct val="0"/>
              </a:spcBef>
              <a:spcAft>
                <a:spcPct val="0"/>
              </a:spcAft>
              <a:defRPr sz="4400">
                <a:solidFill>
                  <a:schemeClr val="tx2"/>
                </a:solidFill>
                <a:latin typeface="Arial" charset="0"/>
              </a:defRPr>
            </a:lvl9pPr>
          </a:lstStyle>
          <a:p>
            <a:pPr marL="0" lvl="1"/>
            <a:r>
              <a:rPr lang="en-IN" altLang="en-US" sz="3400" b="1" kern="0">
                <a:ea typeface="ヒラギノ角ゴ Pro W3" charset="-128"/>
              </a:rPr>
              <a:t>Polyalphabetic Cipher</a:t>
            </a:r>
          </a:p>
        </p:txBody>
      </p:sp>
    </p:spTree>
    <p:extLst>
      <p:ext uri="{BB962C8B-B14F-4D97-AF65-F5344CB8AC3E}">
        <p14:creationId xmlns:p14="http://schemas.microsoft.com/office/powerpoint/2010/main" val="4925803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3472" y="188640"/>
            <a:ext cx="7571184" cy="646321"/>
          </a:xfrm>
        </p:spPr>
        <p:txBody>
          <a:bodyPr wrap="square">
            <a:spAutoFit/>
          </a:bodyPr>
          <a:lstStyle/>
          <a:p>
            <a:r>
              <a:rPr lang="en-IN" altLang="en-US" sz="3600">
                <a:ea typeface="ヒラギノ角ゴ Pro W3" charset="-128"/>
              </a:rPr>
              <a:t>Example of </a:t>
            </a:r>
            <a:r>
              <a:rPr lang="en-IN" altLang="en-US" sz="3600" err="1">
                <a:ea typeface="ヒラギノ角ゴ Pro W3" charset="-128"/>
              </a:rPr>
              <a:t>Vigenère</a:t>
            </a:r>
            <a:r>
              <a:rPr lang="en-IN" altLang="en-US" sz="3600">
                <a:ea typeface="ヒラギノ角ゴ Pro W3" charset="-128"/>
              </a:rPr>
              <a:t> Cipher</a:t>
            </a:r>
            <a:endParaRPr lang="en-US" sz="2800"/>
          </a:p>
        </p:txBody>
      </p:sp>
      <p:sp>
        <p:nvSpPr>
          <p:cNvPr id="4" name="Content Placeholder 3"/>
          <p:cNvSpPr>
            <a:spLocks noGrp="1"/>
          </p:cNvSpPr>
          <p:nvPr>
            <p:ph idx="1"/>
          </p:nvPr>
        </p:nvSpPr>
        <p:spPr>
          <a:xfrm>
            <a:off x="983432" y="1252736"/>
            <a:ext cx="9947448" cy="2419114"/>
          </a:xfrm>
        </p:spPr>
        <p:txBody>
          <a:bodyPr wrap="square">
            <a:spAutoFit/>
          </a:bodyPr>
          <a:lstStyle/>
          <a:p>
            <a:r>
              <a:rPr lang="en-US" sz="2800">
                <a:ea typeface="ＭＳ Ｐゴシック" pitchFamily="-107" charset="-128"/>
                <a:cs typeface="ＭＳ Ｐゴシック" pitchFamily="-107" charset="-128"/>
              </a:rPr>
              <a:t>To encrypt a message, a key is needed that is as long as the message</a:t>
            </a:r>
          </a:p>
          <a:p>
            <a:r>
              <a:rPr lang="en-US" sz="2800">
                <a:ea typeface="ＭＳ Ｐゴシック" pitchFamily="-107" charset="-128"/>
                <a:cs typeface="ＭＳ Ｐゴシック" pitchFamily="-107" charset="-128"/>
              </a:rPr>
              <a:t> Usually, the key is a repeating keyword </a:t>
            </a:r>
          </a:p>
          <a:p>
            <a:r>
              <a:rPr lang="en-US" sz="2800">
                <a:ea typeface="ＭＳ Ｐゴシック" pitchFamily="-107" charset="-128"/>
                <a:cs typeface="ＭＳ Ｐゴシック" pitchFamily="-107" charset="-128"/>
              </a:rPr>
              <a:t>For example, if the keyword is </a:t>
            </a:r>
            <a:r>
              <a:rPr lang="en-US" sz="2800" i="1">
                <a:ea typeface="ＭＳ Ｐゴシック" pitchFamily="-107" charset="-128"/>
                <a:cs typeface="ＭＳ Ｐゴシック" pitchFamily="-107" charset="-128"/>
              </a:rPr>
              <a:t>deceptive</a:t>
            </a:r>
            <a:r>
              <a:rPr lang="en-US" sz="2800">
                <a:ea typeface="ＭＳ Ｐゴシック" pitchFamily="-107" charset="-128"/>
                <a:cs typeface="ＭＳ Ｐゴシック" pitchFamily="-107" charset="-128"/>
              </a:rPr>
              <a:t>, the message “we are discovered save yourself” is encrypted as:</a:t>
            </a:r>
          </a:p>
        </p:txBody>
      </p:sp>
      <p:sp>
        <p:nvSpPr>
          <p:cNvPr id="3" name="Content Placeholder 2"/>
          <p:cNvSpPr>
            <a:spLocks noGrp="1"/>
          </p:cNvSpPr>
          <p:nvPr>
            <p:ph idx="13"/>
          </p:nvPr>
        </p:nvSpPr>
        <p:spPr>
          <a:xfrm>
            <a:off x="1981200" y="4273618"/>
            <a:ext cx="8949680" cy="1600200"/>
          </a:xfrm>
        </p:spPr>
        <p:txBody>
          <a:bodyPr/>
          <a:lstStyle/>
          <a:p>
            <a:pPr>
              <a:buNone/>
            </a:pPr>
            <a:r>
              <a:rPr lang="en-AU" sz="2800"/>
              <a:t>plaintext:   wearediscoveredsaveyourself</a:t>
            </a:r>
          </a:p>
          <a:p>
            <a:pPr>
              <a:buNone/>
            </a:pPr>
            <a:r>
              <a:rPr lang="en-AU" sz="2800"/>
              <a:t>key:	       </a:t>
            </a:r>
            <a:r>
              <a:rPr lang="en-AU" sz="2800" err="1"/>
              <a:t>deceptivedeceptivedeceptive</a:t>
            </a:r>
            <a:endParaRPr lang="en-AU" sz="2800"/>
          </a:p>
          <a:p>
            <a:pPr>
              <a:buNone/>
            </a:pPr>
            <a:r>
              <a:rPr lang="en-AU" sz="2800"/>
              <a:t>ciphertext: ??</a:t>
            </a:r>
          </a:p>
        </p:txBody>
      </p:sp>
    </p:spTree>
    <p:extLst>
      <p:ext uri="{BB962C8B-B14F-4D97-AF65-F5344CB8AC3E}">
        <p14:creationId xmlns:p14="http://schemas.microsoft.com/office/powerpoint/2010/main" val="22549059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3472" y="46375"/>
            <a:ext cx="6984776" cy="646321"/>
          </a:xfrm>
        </p:spPr>
        <p:txBody>
          <a:bodyPr wrap="square">
            <a:spAutoFit/>
          </a:bodyPr>
          <a:lstStyle/>
          <a:p>
            <a:r>
              <a:rPr lang="en-IN" altLang="en-US" sz="3600" err="1">
                <a:ea typeface="ヒラギノ角ゴ Pro W3" charset="-128"/>
              </a:rPr>
              <a:t>Vigenère</a:t>
            </a:r>
            <a:r>
              <a:rPr lang="en-IN" altLang="en-US" sz="3600">
                <a:ea typeface="ヒラギノ角ゴ Pro W3" charset="-128"/>
              </a:rPr>
              <a:t> Cipher</a:t>
            </a:r>
            <a:endParaRPr lang="en-US" sz="2800"/>
          </a:p>
        </p:txBody>
      </p:sp>
      <p:sp>
        <p:nvSpPr>
          <p:cNvPr id="4" name="Content Placeholder 3"/>
          <p:cNvSpPr>
            <a:spLocks noGrp="1"/>
          </p:cNvSpPr>
          <p:nvPr>
            <p:ph idx="1"/>
          </p:nvPr>
        </p:nvSpPr>
        <p:spPr>
          <a:xfrm>
            <a:off x="442303" y="1006577"/>
            <a:ext cx="8229600" cy="461655"/>
          </a:xfrm>
        </p:spPr>
        <p:txBody>
          <a:bodyPr>
            <a:spAutoFit/>
          </a:bodyPr>
          <a:lstStyle/>
          <a:p>
            <a:r>
              <a:rPr lang="en-IN" altLang="en-US" sz="2400">
                <a:ea typeface="ヒラギノ角ゴ Pro W3" charset="-128"/>
              </a:rPr>
              <a:t>Vigenère  matrix</a:t>
            </a:r>
            <a:endParaRPr lang="en-AU" sz="2400"/>
          </a:p>
        </p:txBody>
      </p:sp>
      <p:pic>
        <p:nvPicPr>
          <p:cNvPr id="2050" name="Picture 2" descr="https://pages.mtu.edu/~shene/NSF-4/Tutorial/VIG/FIG-VIG-Table.jpg">
            <a:extLst>
              <a:ext uri="{FF2B5EF4-FFF2-40B4-BE49-F238E27FC236}">
                <a16:creationId xmlns:a16="http://schemas.microsoft.com/office/drawing/2014/main" id="{6952977B-26C8-4988-8E38-6FAD980E34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0097" y="1029114"/>
            <a:ext cx="8229600" cy="5212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76539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5480" y="116632"/>
            <a:ext cx="6984776" cy="646321"/>
          </a:xfrm>
        </p:spPr>
        <p:txBody>
          <a:bodyPr wrap="square">
            <a:spAutoFit/>
          </a:bodyPr>
          <a:lstStyle/>
          <a:p>
            <a:r>
              <a:rPr lang="en-IN" altLang="en-US" sz="3600" err="1">
                <a:ea typeface="ヒラギノ角ゴ Pro W3" charset="-128"/>
              </a:rPr>
              <a:t>Vigenère</a:t>
            </a:r>
            <a:r>
              <a:rPr lang="en-IN" altLang="en-US" sz="3600">
                <a:ea typeface="ヒラギノ角ゴ Pro W3" charset="-128"/>
              </a:rPr>
              <a:t> </a:t>
            </a:r>
            <a:r>
              <a:rPr lang="en-IN" altLang="en-US" sz="3600" err="1">
                <a:ea typeface="ヒラギノ角ゴ Pro W3" charset="-128"/>
              </a:rPr>
              <a:t>Autokey</a:t>
            </a:r>
            <a:r>
              <a:rPr lang="en-IN" altLang="en-US" sz="3600">
                <a:ea typeface="ヒラギノ角ゴ Pro W3" charset="-128"/>
              </a:rPr>
              <a:t> System</a:t>
            </a:r>
            <a:endParaRPr lang="en-US" sz="2800"/>
          </a:p>
        </p:txBody>
      </p:sp>
      <p:sp>
        <p:nvSpPr>
          <p:cNvPr id="4" name="Content Placeholder 3"/>
          <p:cNvSpPr>
            <a:spLocks noGrp="1"/>
          </p:cNvSpPr>
          <p:nvPr>
            <p:ph idx="1"/>
          </p:nvPr>
        </p:nvSpPr>
        <p:spPr>
          <a:xfrm>
            <a:off x="1142817" y="1101073"/>
            <a:ext cx="10009112" cy="523210"/>
          </a:xfrm>
        </p:spPr>
        <p:txBody>
          <a:bodyPr wrap="square">
            <a:spAutoFit/>
          </a:bodyPr>
          <a:lstStyle/>
          <a:p>
            <a:r>
              <a:rPr lang="en-US" sz="2800"/>
              <a:t>Example:</a:t>
            </a:r>
          </a:p>
        </p:txBody>
      </p:sp>
      <p:sp>
        <p:nvSpPr>
          <p:cNvPr id="3" name="Content Placeholder 2"/>
          <p:cNvSpPr>
            <a:spLocks noGrp="1"/>
          </p:cNvSpPr>
          <p:nvPr>
            <p:ph idx="13"/>
          </p:nvPr>
        </p:nvSpPr>
        <p:spPr>
          <a:xfrm>
            <a:off x="1119825" y="1869823"/>
            <a:ext cx="10729192" cy="3124200"/>
          </a:xfrm>
        </p:spPr>
        <p:txBody>
          <a:bodyPr/>
          <a:lstStyle/>
          <a:p>
            <a:pPr>
              <a:lnSpc>
                <a:spcPct val="150000"/>
              </a:lnSpc>
              <a:spcBef>
                <a:spcPts val="600"/>
              </a:spcBef>
              <a:buNone/>
            </a:pPr>
            <a:r>
              <a:rPr lang="en-US" sz="2800"/>
              <a:t>    key:           </a:t>
            </a:r>
            <a:r>
              <a:rPr lang="en-US" sz="2800" err="1"/>
              <a:t>deceptivewearediscoveredsav</a:t>
            </a:r>
            <a:endParaRPr lang="en-US" sz="2800"/>
          </a:p>
          <a:p>
            <a:pPr>
              <a:lnSpc>
                <a:spcPct val="150000"/>
              </a:lnSpc>
              <a:spcBef>
                <a:spcPts val="600"/>
              </a:spcBef>
              <a:buNone/>
            </a:pPr>
            <a:r>
              <a:rPr lang="en-US" sz="2800"/>
              <a:t>	plaintext:   </a:t>
            </a:r>
            <a:r>
              <a:rPr lang="en-US" sz="2800" err="1"/>
              <a:t>wearediscoveredsaveyourself</a:t>
            </a:r>
            <a:endParaRPr lang="en-US" sz="2800"/>
          </a:p>
          <a:p>
            <a:pPr>
              <a:lnSpc>
                <a:spcPct val="150000"/>
              </a:lnSpc>
              <a:spcBef>
                <a:spcPts val="600"/>
              </a:spcBef>
              <a:buNone/>
            </a:pPr>
            <a:r>
              <a:rPr lang="en-US" sz="2800"/>
              <a:t>	</a:t>
            </a:r>
            <a:r>
              <a:rPr lang="en-US" sz="2800" err="1"/>
              <a:t>ciphertext</a:t>
            </a:r>
            <a:r>
              <a:rPr lang="en-US" sz="2800"/>
              <a:t>: ZICVTWQNGKZEIIGASXSTSLVVWLA</a:t>
            </a:r>
          </a:p>
          <a:p>
            <a:pPr>
              <a:lnSpc>
                <a:spcPct val="150000"/>
              </a:lnSpc>
            </a:pPr>
            <a:r>
              <a:rPr lang="en-US" sz="2800"/>
              <a:t>Even this scheme is vulnerable to cryptanalysis</a:t>
            </a:r>
          </a:p>
          <a:p>
            <a:pPr lvl="1">
              <a:lnSpc>
                <a:spcPct val="150000"/>
              </a:lnSpc>
            </a:pPr>
            <a:r>
              <a:rPr lang="en-US" sz="2800"/>
              <a:t>Because the key and the plaintext share the same frequency distribution of letters, a statistical technique can be applied</a:t>
            </a:r>
          </a:p>
        </p:txBody>
      </p:sp>
    </p:spTree>
    <p:extLst>
      <p:ext uri="{BB962C8B-B14F-4D97-AF65-F5344CB8AC3E}">
        <p14:creationId xmlns:p14="http://schemas.microsoft.com/office/powerpoint/2010/main" val="15317919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24757" y="1229269"/>
            <a:ext cx="6840760" cy="652431"/>
          </a:xfrm>
        </p:spPr>
        <p:txBody>
          <a:bodyPr wrap="square">
            <a:spAutoFit/>
          </a:bodyPr>
          <a:lstStyle/>
          <a:p>
            <a:r>
              <a:rPr lang="en-IN" altLang="en-US" sz="3600">
                <a:ea typeface="ヒラギノ角ゴ Pro W3" charset="-128"/>
              </a:rPr>
              <a:t>(6) Vernam Cipher</a:t>
            </a:r>
          </a:p>
        </p:txBody>
      </p:sp>
      <p:pic>
        <p:nvPicPr>
          <p:cNvPr id="7" name="Picture Placeholder 6" descr="A diagram has plaintext (p sub i) and cryptographic bit stream (k sub i), from key stream generator, each leading to X O R operation. Then cipher text (c sub i) leads to another X O R operation, meeting another cryptographic bit steam (k sub i) from a key stream generator, resulting in output plaintext (p sub i).&#10;Two diagrams illustrate a three-rotor machine, with fast rotor on the left, medium rotor in the middle, and slow rotor on the right. Letters A through Z are listed in order down the columns, aligned with numbers on the left and right sides of each rotor. The left numbers are in order and the right numbers appear to be in random order. Matching numbers within the rotors are connected. The direction of motion is shown extending down into the top of the rotors. Between the two machines, the numbers in the medium rotor and slow rotor are in the same order. From the initial setting to the setting after one keystroke, the numbers in the fast rotor are moved one letter down, such that the numbers at A are now at B and the numbers at Z are now at A. Three connections within the rotors, beginning at A, B, and C, respectively, for each machine, are summarized below.&#10;"/>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2033886" y="2204865"/>
            <a:ext cx="8126361" cy="2868561"/>
          </a:xfrm>
          <a:prstGeom prst="rect">
            <a:avLst/>
          </a:prstGeom>
          <a:noFill/>
          <a:ln>
            <a:noFill/>
          </a:ln>
        </p:spPr>
      </p:pic>
      <p:sp>
        <p:nvSpPr>
          <p:cNvPr id="5" name="Rectangle 4">
            <a:extLst>
              <a:ext uri="{FF2B5EF4-FFF2-40B4-BE49-F238E27FC236}">
                <a16:creationId xmlns:a16="http://schemas.microsoft.com/office/drawing/2014/main" id="{76385A44-D218-409F-A9FE-5ADA275285ED}"/>
              </a:ext>
            </a:extLst>
          </p:cNvPr>
          <p:cNvSpPr/>
          <p:nvPr/>
        </p:nvSpPr>
        <p:spPr>
          <a:xfrm>
            <a:off x="2024758" y="5429107"/>
            <a:ext cx="8126361" cy="523220"/>
          </a:xfrm>
          <a:prstGeom prst="rect">
            <a:avLst/>
          </a:prstGeom>
        </p:spPr>
        <p:txBody>
          <a:bodyPr wrap="square">
            <a:spAutoFit/>
          </a:bodyPr>
          <a:lstStyle/>
          <a:p>
            <a:r>
              <a:rPr lang="en-US"/>
              <a:t>https://en.wikipedia.org/wiki/Gilbert_Vernam</a:t>
            </a:r>
          </a:p>
        </p:txBody>
      </p:sp>
      <p:sp>
        <p:nvSpPr>
          <p:cNvPr id="6" name="TextBox 5">
            <a:extLst>
              <a:ext uri="{FF2B5EF4-FFF2-40B4-BE49-F238E27FC236}">
                <a16:creationId xmlns:a16="http://schemas.microsoft.com/office/drawing/2014/main" id="{7278D456-CD4C-470B-8CC7-C31E3CEEBCD5}"/>
              </a:ext>
            </a:extLst>
          </p:cNvPr>
          <p:cNvSpPr txBox="1"/>
          <p:nvPr/>
        </p:nvSpPr>
        <p:spPr>
          <a:xfrm>
            <a:off x="1703512" y="107996"/>
            <a:ext cx="2728311" cy="646331"/>
          </a:xfrm>
          <a:prstGeom prst="rect">
            <a:avLst/>
          </a:prstGeom>
          <a:noFill/>
        </p:spPr>
        <p:txBody>
          <a:bodyPr wrap="none" rtlCol="0">
            <a:spAutoFit/>
          </a:bodyPr>
          <a:lstStyle/>
          <a:p>
            <a:r>
              <a:rPr lang="en-US" sz="3600" b="1"/>
              <a:t>Stream ciper</a:t>
            </a:r>
          </a:p>
        </p:txBody>
      </p:sp>
    </p:spTree>
    <p:extLst>
      <p:ext uri="{BB962C8B-B14F-4D97-AF65-F5344CB8AC3E}">
        <p14:creationId xmlns:p14="http://schemas.microsoft.com/office/powerpoint/2010/main" val="27441298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9496" y="155879"/>
            <a:ext cx="8229600" cy="646321"/>
          </a:xfrm>
        </p:spPr>
        <p:txBody>
          <a:bodyPr wrap="square">
            <a:spAutoFit/>
          </a:bodyPr>
          <a:lstStyle/>
          <a:p>
            <a:r>
              <a:rPr lang="en-IN" altLang="en-US" sz="3600">
                <a:ea typeface="ヒラギノ角ゴ Pro W3" charset="-128"/>
              </a:rPr>
              <a:t>One-Time Pad</a:t>
            </a:r>
            <a:endParaRPr lang="en-US" sz="2800"/>
          </a:p>
        </p:txBody>
      </p:sp>
      <p:sp>
        <p:nvSpPr>
          <p:cNvPr id="4" name="Content Placeholder 3"/>
          <p:cNvSpPr>
            <a:spLocks noGrp="1"/>
          </p:cNvSpPr>
          <p:nvPr>
            <p:ph idx="1"/>
          </p:nvPr>
        </p:nvSpPr>
        <p:spPr>
          <a:xfrm>
            <a:off x="335360" y="1070664"/>
            <a:ext cx="6336703" cy="5065223"/>
          </a:xfrm>
        </p:spPr>
        <p:txBody>
          <a:bodyPr wrap="square">
            <a:spAutoFit/>
          </a:bodyPr>
          <a:lstStyle/>
          <a:p>
            <a:pPr>
              <a:lnSpc>
                <a:spcPct val="130000"/>
              </a:lnSpc>
            </a:pPr>
            <a:r>
              <a:rPr lang="en-US" sz="2400"/>
              <a:t>Improvement to </a:t>
            </a:r>
            <a:r>
              <a:rPr lang="en-US" sz="2400" err="1"/>
              <a:t>Vernam</a:t>
            </a:r>
            <a:r>
              <a:rPr lang="en-US" sz="2400"/>
              <a:t> cipher proposed by an Army Signal Corp officer, Joseph </a:t>
            </a:r>
            <a:r>
              <a:rPr lang="en-US" sz="2400" err="1"/>
              <a:t>Mauborgne</a:t>
            </a:r>
            <a:endParaRPr lang="en-US" sz="2400"/>
          </a:p>
          <a:p>
            <a:pPr>
              <a:lnSpc>
                <a:spcPct val="130000"/>
              </a:lnSpc>
            </a:pPr>
            <a:r>
              <a:rPr lang="en-US" sz="2400"/>
              <a:t>Use a </a:t>
            </a:r>
            <a:r>
              <a:rPr lang="en-US" sz="2400" b="1"/>
              <a:t>random key that is as long as the message</a:t>
            </a:r>
            <a:r>
              <a:rPr lang="en-US" sz="2400"/>
              <a:t> so that the key need not be repeated</a:t>
            </a:r>
          </a:p>
          <a:p>
            <a:pPr>
              <a:lnSpc>
                <a:spcPct val="130000"/>
              </a:lnSpc>
            </a:pPr>
            <a:r>
              <a:rPr lang="en-US" sz="2400"/>
              <a:t>Key is used to encrypt and decrypt a single message and then is discarded</a:t>
            </a:r>
          </a:p>
          <a:p>
            <a:pPr>
              <a:lnSpc>
                <a:spcPct val="130000"/>
              </a:lnSpc>
            </a:pPr>
            <a:r>
              <a:rPr lang="en-US" sz="2400"/>
              <a:t>Each new message requires a new key of the same length as the new message</a:t>
            </a:r>
          </a:p>
        </p:txBody>
      </p:sp>
      <p:sp>
        <p:nvSpPr>
          <p:cNvPr id="3" name="Content Placeholder 2"/>
          <p:cNvSpPr>
            <a:spLocks noGrp="1"/>
          </p:cNvSpPr>
          <p:nvPr>
            <p:ph idx="13"/>
          </p:nvPr>
        </p:nvSpPr>
        <p:spPr>
          <a:xfrm>
            <a:off x="6384032" y="1070664"/>
            <a:ext cx="5807968" cy="3942512"/>
          </a:xfrm>
        </p:spPr>
        <p:txBody>
          <a:bodyPr/>
          <a:lstStyle/>
          <a:p>
            <a:pPr>
              <a:lnSpc>
                <a:spcPct val="130000"/>
              </a:lnSpc>
            </a:pPr>
            <a:r>
              <a:rPr lang="en-US" sz="2400" b="1"/>
              <a:t>Scheme is unbreakable</a:t>
            </a:r>
          </a:p>
          <a:p>
            <a:pPr lvl="1">
              <a:lnSpc>
                <a:spcPct val="130000"/>
              </a:lnSpc>
            </a:pPr>
            <a:r>
              <a:rPr lang="en-US" sz="2400"/>
              <a:t>Produces random output that bears no statistical relationship to the plaintext</a:t>
            </a:r>
          </a:p>
          <a:p>
            <a:pPr lvl="1">
              <a:lnSpc>
                <a:spcPct val="130000"/>
              </a:lnSpc>
            </a:pPr>
            <a:r>
              <a:rPr lang="en-US" sz="2400"/>
              <a:t>Because the </a:t>
            </a:r>
            <a:r>
              <a:rPr lang="en-US" sz="2400" err="1"/>
              <a:t>ciphertext</a:t>
            </a:r>
            <a:r>
              <a:rPr lang="en-US" sz="2400"/>
              <a:t> contains no information whatsoever about the plaintext, there is simply no way to break the code</a:t>
            </a:r>
            <a:endParaRPr lang="en-AU" sz="2400"/>
          </a:p>
        </p:txBody>
      </p:sp>
      <p:pic>
        <p:nvPicPr>
          <p:cNvPr id="12" name="Picture Placeholder 11">
            <a:extLst>
              <a:ext uri="{C183D7F6-B498-43B3-948B-1728B52AA6E4}">
                <adec:decorative xmlns:adec="http://schemas.microsoft.com/office/drawing/2017/decorative" val="1"/>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11210514" y="4688370"/>
            <a:ext cx="857014" cy="1644394"/>
          </a:xfrm>
          <a:prstGeom prst="rect">
            <a:avLst/>
          </a:prstGeom>
          <a:noFill/>
          <a:ln>
            <a:noFill/>
          </a:ln>
        </p:spPr>
      </p:pic>
    </p:spTree>
    <p:extLst>
      <p:ext uri="{BB962C8B-B14F-4D97-AF65-F5344CB8AC3E}">
        <p14:creationId xmlns:p14="http://schemas.microsoft.com/office/powerpoint/2010/main" val="9472899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7488" y="117573"/>
            <a:ext cx="6923112" cy="646321"/>
          </a:xfrm>
        </p:spPr>
        <p:txBody>
          <a:bodyPr wrap="square">
            <a:spAutoFit/>
          </a:bodyPr>
          <a:lstStyle/>
          <a:p>
            <a:r>
              <a:rPr lang="en-IN" altLang="en-US" sz="3600">
                <a:ea typeface="ヒラギノ角ゴ Pro W3" charset="-128"/>
              </a:rPr>
              <a:t>Difficulties</a:t>
            </a:r>
            <a:endParaRPr lang="en-US" sz="2800"/>
          </a:p>
        </p:txBody>
      </p:sp>
      <p:sp>
        <p:nvSpPr>
          <p:cNvPr id="4" name="Content Placeholder 3"/>
          <p:cNvSpPr>
            <a:spLocks noGrp="1"/>
          </p:cNvSpPr>
          <p:nvPr>
            <p:ph idx="1"/>
          </p:nvPr>
        </p:nvSpPr>
        <p:spPr>
          <a:xfrm>
            <a:off x="479376" y="1052736"/>
            <a:ext cx="11712624" cy="5041370"/>
          </a:xfrm>
        </p:spPr>
        <p:txBody>
          <a:bodyPr wrap="square">
            <a:spAutoFit/>
          </a:bodyPr>
          <a:lstStyle/>
          <a:p>
            <a:r>
              <a:rPr lang="en-US" sz="2400"/>
              <a:t>The one-time pad offers complete security but, in practice, has two fundamental difficulties:</a:t>
            </a:r>
          </a:p>
          <a:p>
            <a:pPr lvl="1"/>
            <a:r>
              <a:rPr lang="en-US" sz="2400"/>
              <a:t>There is the practical problem of making large quantities of random keys</a:t>
            </a:r>
          </a:p>
          <a:p>
            <a:pPr lvl="2"/>
            <a:r>
              <a:rPr lang="en-US" sz="2400"/>
              <a:t>Any heavily used system might require millions of random characters on a regular basis</a:t>
            </a:r>
          </a:p>
          <a:p>
            <a:pPr lvl="1"/>
            <a:r>
              <a:rPr lang="en-US" sz="2400"/>
              <a:t>Mammoth key distribution problem</a:t>
            </a:r>
          </a:p>
          <a:p>
            <a:pPr lvl="2"/>
            <a:r>
              <a:rPr lang="en-US" sz="2400"/>
              <a:t>For every message to be sent, a key of equal length is needed by both sender and receiver</a:t>
            </a:r>
          </a:p>
          <a:p>
            <a:r>
              <a:rPr lang="en-US" sz="2400"/>
              <a:t>Because of these difficulties, the one-time pad is of limited utility</a:t>
            </a:r>
          </a:p>
          <a:p>
            <a:pPr lvl="1"/>
            <a:r>
              <a:rPr lang="en-US" sz="2400"/>
              <a:t>Useful primarily for low-bandwidth channels requiring very high security</a:t>
            </a:r>
          </a:p>
          <a:p>
            <a:r>
              <a:rPr lang="en-US" sz="2400"/>
              <a:t>The one-time pad is the only cryptosystem that exhibits </a:t>
            </a:r>
            <a:r>
              <a:rPr lang="en-US" sz="2400" i="1"/>
              <a:t>perfect secrecy </a:t>
            </a:r>
            <a:r>
              <a:rPr lang="en-US" sz="2400"/>
              <a:t>(see Appendix F)</a:t>
            </a:r>
          </a:p>
        </p:txBody>
      </p:sp>
    </p:spTree>
    <p:extLst>
      <p:ext uri="{BB962C8B-B14F-4D97-AF65-F5344CB8AC3E}">
        <p14:creationId xmlns:p14="http://schemas.microsoft.com/office/powerpoint/2010/main" val="24045314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7195" y="135025"/>
            <a:ext cx="7523936" cy="646321"/>
          </a:xfrm>
        </p:spPr>
        <p:txBody>
          <a:bodyPr wrap="square">
            <a:spAutoFit/>
          </a:bodyPr>
          <a:lstStyle/>
          <a:p>
            <a:r>
              <a:rPr lang="en-AU" sz="3600"/>
              <a:t>Transposition ciphers</a:t>
            </a:r>
            <a:endParaRPr lang="en-US" sz="2800"/>
          </a:p>
        </p:txBody>
      </p:sp>
      <p:sp>
        <p:nvSpPr>
          <p:cNvPr id="5" name="Rectangle 4">
            <a:extLst>
              <a:ext uri="{FF2B5EF4-FFF2-40B4-BE49-F238E27FC236}">
                <a16:creationId xmlns:a16="http://schemas.microsoft.com/office/drawing/2014/main" id="{F5D6FD26-7594-41F4-BA09-09C495788F3B}"/>
              </a:ext>
            </a:extLst>
          </p:cNvPr>
          <p:cNvSpPr/>
          <p:nvPr/>
        </p:nvSpPr>
        <p:spPr>
          <a:xfrm>
            <a:off x="373652" y="2563111"/>
            <a:ext cx="3701654" cy="523220"/>
          </a:xfrm>
          <a:prstGeom prst="rect">
            <a:avLst/>
          </a:prstGeom>
        </p:spPr>
        <p:txBody>
          <a:bodyPr wrap="none">
            <a:spAutoFit/>
          </a:bodyPr>
          <a:lstStyle/>
          <a:p>
            <a:r>
              <a:rPr lang="en-US" b="1">
                <a:latin typeface="Arial" charset="0"/>
                <a:ea typeface="ＭＳ Ｐゴシック" pitchFamily="-107" charset="-128"/>
                <a:cs typeface="ＭＳ Ｐゴシック" pitchFamily="-107" charset="-128"/>
              </a:rPr>
              <a:t>(1) Rail</a:t>
            </a:r>
            <a:r>
              <a:rPr lang="en-US">
                <a:latin typeface="Arial" charset="0"/>
                <a:ea typeface="ＭＳ Ｐゴシック" pitchFamily="-107" charset="-128"/>
                <a:cs typeface="ＭＳ Ｐゴシック" pitchFamily="-107" charset="-128"/>
              </a:rPr>
              <a:t> </a:t>
            </a:r>
            <a:r>
              <a:rPr lang="en-US" b="1">
                <a:latin typeface="Arial" charset="0"/>
                <a:ea typeface="ＭＳ Ｐゴシック" pitchFamily="-107" charset="-128"/>
                <a:cs typeface="ＭＳ Ｐゴシック" pitchFamily="-107" charset="-128"/>
              </a:rPr>
              <a:t>fence cipher</a:t>
            </a:r>
            <a:r>
              <a:rPr lang="en-US">
                <a:latin typeface="Arial" charset="0"/>
                <a:ea typeface="ＭＳ Ｐゴシック" pitchFamily="-107" charset="-128"/>
                <a:cs typeface="ＭＳ Ｐゴシック" pitchFamily="-107" charset="-128"/>
              </a:rPr>
              <a:t> </a:t>
            </a:r>
            <a:endParaRPr lang="en-US"/>
          </a:p>
        </p:txBody>
      </p:sp>
      <p:sp>
        <p:nvSpPr>
          <p:cNvPr id="9" name="Rectangle 8">
            <a:extLst>
              <a:ext uri="{FF2B5EF4-FFF2-40B4-BE49-F238E27FC236}">
                <a16:creationId xmlns:a16="http://schemas.microsoft.com/office/drawing/2014/main" id="{9EFC83F6-7BE7-4E53-BE02-37A8695EB48C}"/>
              </a:ext>
            </a:extLst>
          </p:cNvPr>
          <p:cNvSpPr/>
          <p:nvPr/>
        </p:nvSpPr>
        <p:spPr>
          <a:xfrm>
            <a:off x="341843" y="3429000"/>
            <a:ext cx="5624104" cy="523220"/>
          </a:xfrm>
          <a:prstGeom prst="rect">
            <a:avLst/>
          </a:prstGeom>
        </p:spPr>
        <p:txBody>
          <a:bodyPr wrap="none">
            <a:spAutoFit/>
          </a:bodyPr>
          <a:lstStyle/>
          <a:p>
            <a:r>
              <a:rPr lang="en-IN" altLang="en-US" b="1">
                <a:ea typeface="ヒラギノ角ゴ Pro W3" charset="-128"/>
              </a:rPr>
              <a:t>(2) Columnar Transposition Cipher</a:t>
            </a:r>
            <a:endParaRPr lang="en-US" b="1"/>
          </a:p>
        </p:txBody>
      </p:sp>
      <p:sp>
        <p:nvSpPr>
          <p:cNvPr id="14" name="Rectangle 13">
            <a:extLst>
              <a:ext uri="{FF2B5EF4-FFF2-40B4-BE49-F238E27FC236}">
                <a16:creationId xmlns:a16="http://schemas.microsoft.com/office/drawing/2014/main" id="{220A8260-220F-4400-80A5-4BB2CBA0695A}"/>
              </a:ext>
            </a:extLst>
          </p:cNvPr>
          <p:cNvSpPr/>
          <p:nvPr/>
        </p:nvSpPr>
        <p:spPr>
          <a:xfrm>
            <a:off x="347028" y="5652927"/>
            <a:ext cx="8808640" cy="523220"/>
          </a:xfrm>
          <a:prstGeom prst="rect">
            <a:avLst/>
          </a:prstGeom>
        </p:spPr>
        <p:txBody>
          <a:bodyPr wrap="square">
            <a:spAutoFit/>
          </a:bodyPr>
          <a:lstStyle/>
          <a:p>
            <a:r>
              <a:rPr lang="en-US"/>
              <a:t>https://en.wikipedia.org/wiki/Transposition_cipher</a:t>
            </a:r>
          </a:p>
        </p:txBody>
      </p:sp>
      <p:pic>
        <p:nvPicPr>
          <p:cNvPr id="2050" name="Picture 2" descr="undefined">
            <a:extLst>
              <a:ext uri="{FF2B5EF4-FFF2-40B4-BE49-F238E27FC236}">
                <a16:creationId xmlns:a16="http://schemas.microsoft.com/office/drawing/2014/main" id="{CBE1EA26-63E4-4FC6-BEFA-17EDE06AB7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9036" y="1637266"/>
            <a:ext cx="5072964" cy="2898129"/>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4208B065-F920-4002-BB8D-622D53F10250}"/>
              </a:ext>
            </a:extLst>
          </p:cNvPr>
          <p:cNvSpPr/>
          <p:nvPr/>
        </p:nvSpPr>
        <p:spPr>
          <a:xfrm>
            <a:off x="331505" y="1320343"/>
            <a:ext cx="7879080" cy="523220"/>
          </a:xfrm>
          <a:prstGeom prst="rect">
            <a:avLst/>
          </a:prstGeom>
        </p:spPr>
        <p:txBody>
          <a:bodyPr wrap="none">
            <a:spAutoFit/>
          </a:bodyPr>
          <a:lstStyle/>
          <a:p>
            <a:r>
              <a:rPr lang="en-US" b="1">
                <a:solidFill>
                  <a:srgbClr val="202122"/>
                </a:solidFill>
                <a:latin typeface="Arial" panose="020B0604020202020204" pitchFamily="34" charset="0"/>
              </a:rPr>
              <a:t>Goals: scrambles the positions of characters</a:t>
            </a:r>
            <a:endParaRPr lang="en-US" b="1"/>
          </a:p>
        </p:txBody>
      </p:sp>
    </p:spTree>
    <p:extLst>
      <p:ext uri="{BB962C8B-B14F-4D97-AF65-F5344CB8AC3E}">
        <p14:creationId xmlns:p14="http://schemas.microsoft.com/office/powerpoint/2010/main" val="229463159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1049" y="120105"/>
            <a:ext cx="7523936" cy="646321"/>
          </a:xfrm>
        </p:spPr>
        <p:txBody>
          <a:bodyPr wrap="square">
            <a:spAutoFit/>
          </a:bodyPr>
          <a:lstStyle/>
          <a:p>
            <a:r>
              <a:rPr lang="en-AU" sz="3600"/>
              <a:t>Transposition cipher</a:t>
            </a:r>
            <a:endParaRPr lang="en-US" sz="2800"/>
          </a:p>
        </p:txBody>
      </p:sp>
      <p:sp>
        <p:nvSpPr>
          <p:cNvPr id="4" name="Content Placeholder 3"/>
          <p:cNvSpPr>
            <a:spLocks noGrp="1"/>
          </p:cNvSpPr>
          <p:nvPr>
            <p:ph idx="1"/>
          </p:nvPr>
        </p:nvSpPr>
        <p:spPr>
          <a:xfrm>
            <a:off x="767408" y="1537003"/>
            <a:ext cx="11040473" cy="2092871"/>
          </a:xfrm>
        </p:spPr>
        <p:txBody>
          <a:bodyPr wrap="square">
            <a:spAutoFit/>
          </a:bodyPr>
          <a:lstStyle/>
          <a:p>
            <a:pPr>
              <a:spcBef>
                <a:spcPts val="600"/>
              </a:spcBef>
            </a:pPr>
            <a:r>
              <a:rPr lang="en-AU" sz="2400"/>
              <a:t>Simplest transposition cipher</a:t>
            </a:r>
          </a:p>
          <a:p>
            <a:pPr>
              <a:spcBef>
                <a:spcPts val="600"/>
              </a:spcBef>
            </a:pPr>
            <a:r>
              <a:rPr lang="en-AU" sz="2400"/>
              <a:t>Plaintext is written down as a sequence of diagonals and then read off as a sequence of rows</a:t>
            </a:r>
          </a:p>
          <a:p>
            <a:pPr>
              <a:spcBef>
                <a:spcPts val="600"/>
              </a:spcBef>
            </a:pPr>
            <a:r>
              <a:rPr lang="en-AU" sz="2400"/>
              <a:t>To encipher the message “</a:t>
            </a:r>
            <a:r>
              <a:rPr lang="en-AU" sz="2400">
                <a:solidFill>
                  <a:srgbClr val="FF0000"/>
                </a:solidFill>
              </a:rPr>
              <a:t>meet me after the toga party</a:t>
            </a:r>
            <a:r>
              <a:rPr lang="en-AU" sz="2400"/>
              <a:t>” with a rail fence of depth 2, we would write:</a:t>
            </a:r>
          </a:p>
        </p:txBody>
      </p:sp>
      <p:sp>
        <p:nvSpPr>
          <p:cNvPr id="3" name="Content Placeholder 2"/>
          <p:cNvSpPr>
            <a:spLocks noGrp="1"/>
          </p:cNvSpPr>
          <p:nvPr>
            <p:ph idx="13"/>
          </p:nvPr>
        </p:nvSpPr>
        <p:spPr>
          <a:xfrm>
            <a:off x="1757844" y="4984804"/>
            <a:ext cx="5987008" cy="904853"/>
          </a:xfrm>
        </p:spPr>
        <p:txBody>
          <a:bodyPr wrap="square">
            <a:spAutoFit/>
          </a:bodyPr>
          <a:lstStyle/>
          <a:p>
            <a:pPr lvl="1">
              <a:buNone/>
            </a:pPr>
            <a:r>
              <a:rPr lang="en-AU" sz="2400"/>
              <a:t>Encrypted message is:</a:t>
            </a:r>
          </a:p>
          <a:p>
            <a:pPr lvl="1">
              <a:buNone/>
            </a:pPr>
            <a:r>
              <a:rPr lang="en-AU" sz="2400"/>
              <a:t>	MEMATRHTGPRYETEFETEOAAT</a:t>
            </a:r>
          </a:p>
        </p:txBody>
      </p:sp>
      <p:pic>
        <p:nvPicPr>
          <p:cNvPr id="7" name="Picture Placeholder 6">
            <a:extLst>
              <a:ext uri="{C183D7F6-B498-43B3-948B-1728B52AA6E4}">
                <adec:decorative xmlns:adec="http://schemas.microsoft.com/office/drawing/2017/decorative" val="1"/>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10434156" y="3734207"/>
            <a:ext cx="1444752" cy="2462784"/>
          </a:xfrm>
          <a:prstGeom prst="rect">
            <a:avLst/>
          </a:prstGeom>
          <a:noFill/>
          <a:ln>
            <a:noFill/>
          </a:ln>
        </p:spPr>
      </p:pic>
      <p:sp>
        <p:nvSpPr>
          <p:cNvPr id="5" name="Rectangle 4">
            <a:extLst>
              <a:ext uri="{FF2B5EF4-FFF2-40B4-BE49-F238E27FC236}">
                <a16:creationId xmlns:a16="http://schemas.microsoft.com/office/drawing/2014/main" id="{F5D6FD26-7594-41F4-BA09-09C495788F3B}"/>
              </a:ext>
            </a:extLst>
          </p:cNvPr>
          <p:cNvSpPr/>
          <p:nvPr/>
        </p:nvSpPr>
        <p:spPr>
          <a:xfrm>
            <a:off x="1049694" y="943463"/>
            <a:ext cx="3701654" cy="523220"/>
          </a:xfrm>
          <a:prstGeom prst="rect">
            <a:avLst/>
          </a:prstGeom>
        </p:spPr>
        <p:txBody>
          <a:bodyPr wrap="none">
            <a:spAutoFit/>
          </a:bodyPr>
          <a:lstStyle/>
          <a:p>
            <a:r>
              <a:rPr lang="en-US" b="1">
                <a:latin typeface="Arial" charset="0"/>
                <a:ea typeface="ＭＳ Ｐゴシック" pitchFamily="-107" charset="-128"/>
                <a:cs typeface="ＭＳ Ｐゴシック" pitchFamily="-107" charset="-128"/>
              </a:rPr>
              <a:t>(1) Rail</a:t>
            </a:r>
            <a:r>
              <a:rPr lang="en-US">
                <a:latin typeface="Arial" charset="0"/>
                <a:ea typeface="ＭＳ Ｐゴシック" pitchFamily="-107" charset="-128"/>
                <a:cs typeface="ＭＳ Ｐゴシック" pitchFamily="-107" charset="-128"/>
              </a:rPr>
              <a:t> </a:t>
            </a:r>
            <a:r>
              <a:rPr lang="en-US" b="1">
                <a:latin typeface="Arial" charset="0"/>
                <a:ea typeface="ＭＳ Ｐゴシック" pitchFamily="-107" charset="-128"/>
                <a:cs typeface="ＭＳ Ｐゴシック" pitchFamily="-107" charset="-128"/>
              </a:rPr>
              <a:t>fence cipher</a:t>
            </a:r>
            <a:r>
              <a:rPr lang="en-US">
                <a:latin typeface="Arial" charset="0"/>
                <a:ea typeface="ＭＳ Ｐゴシック" pitchFamily="-107" charset="-128"/>
                <a:cs typeface="ＭＳ Ｐゴシック" pitchFamily="-107" charset="-128"/>
              </a:rPr>
              <a:t> </a:t>
            </a:r>
            <a:endParaRPr lang="en-US"/>
          </a:p>
        </p:txBody>
      </p:sp>
      <p:sp>
        <p:nvSpPr>
          <p:cNvPr id="6" name="Rectangle 5">
            <a:extLst>
              <a:ext uri="{FF2B5EF4-FFF2-40B4-BE49-F238E27FC236}">
                <a16:creationId xmlns:a16="http://schemas.microsoft.com/office/drawing/2014/main" id="{0D808CA5-868C-4C24-A9D5-EE270BB02546}"/>
              </a:ext>
            </a:extLst>
          </p:cNvPr>
          <p:cNvSpPr/>
          <p:nvPr/>
        </p:nvSpPr>
        <p:spPr>
          <a:xfrm>
            <a:off x="528134" y="5793067"/>
            <a:ext cx="8371469" cy="523220"/>
          </a:xfrm>
          <a:prstGeom prst="rect">
            <a:avLst/>
          </a:prstGeom>
        </p:spPr>
        <p:txBody>
          <a:bodyPr wrap="square">
            <a:spAutoFit/>
          </a:bodyPr>
          <a:lstStyle/>
          <a:p>
            <a:r>
              <a:rPr lang="en-US"/>
              <a:t>https://en.wikipedia.org/wiki/Rail_fence_cipher</a:t>
            </a:r>
          </a:p>
        </p:txBody>
      </p:sp>
      <p:pic>
        <p:nvPicPr>
          <p:cNvPr id="11" name="Picture 10">
            <a:extLst>
              <a:ext uri="{FF2B5EF4-FFF2-40B4-BE49-F238E27FC236}">
                <a16:creationId xmlns:a16="http://schemas.microsoft.com/office/drawing/2014/main" id="{56867F6A-1598-4200-AB23-E2E8C0EA5381}"/>
              </a:ext>
            </a:extLst>
          </p:cNvPr>
          <p:cNvPicPr>
            <a:picLocks noChangeAspect="1"/>
          </p:cNvPicPr>
          <p:nvPr/>
        </p:nvPicPr>
        <p:blipFill>
          <a:blip r:embed="rId4"/>
          <a:stretch>
            <a:fillRect/>
          </a:stretch>
        </p:blipFill>
        <p:spPr>
          <a:xfrm>
            <a:off x="1049694" y="3564846"/>
            <a:ext cx="10926608" cy="993328"/>
          </a:xfrm>
          <a:prstGeom prst="rect">
            <a:avLst/>
          </a:prstGeom>
        </p:spPr>
      </p:pic>
      <p:cxnSp>
        <p:nvCxnSpPr>
          <p:cNvPr id="13" name="Straight Arrow Connector 12">
            <a:extLst>
              <a:ext uri="{FF2B5EF4-FFF2-40B4-BE49-F238E27FC236}">
                <a16:creationId xmlns:a16="http://schemas.microsoft.com/office/drawing/2014/main" id="{7783BC92-16C7-4BDD-A7A3-FBB147B62B8F}"/>
              </a:ext>
            </a:extLst>
          </p:cNvPr>
          <p:cNvCxnSpPr>
            <a:cxnSpLocks/>
          </p:cNvCxnSpPr>
          <p:nvPr/>
        </p:nvCxnSpPr>
        <p:spPr bwMode="auto">
          <a:xfrm>
            <a:off x="1114925" y="3991980"/>
            <a:ext cx="842503" cy="446157"/>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14" name="Arrow: Right 13">
            <a:extLst>
              <a:ext uri="{FF2B5EF4-FFF2-40B4-BE49-F238E27FC236}">
                <a16:creationId xmlns:a16="http://schemas.microsoft.com/office/drawing/2014/main" id="{30006851-03BF-4875-BC88-8C454D8A2489}"/>
              </a:ext>
            </a:extLst>
          </p:cNvPr>
          <p:cNvSpPr/>
          <p:nvPr/>
        </p:nvSpPr>
        <p:spPr bwMode="auto">
          <a:xfrm>
            <a:off x="5735960" y="4558174"/>
            <a:ext cx="1800200" cy="306593"/>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imes" pitchFamily="18" charset="0"/>
            </a:endParaRPr>
          </a:p>
        </p:txBody>
      </p:sp>
      <p:sp>
        <p:nvSpPr>
          <p:cNvPr id="15" name="TextBox 14">
            <a:extLst>
              <a:ext uri="{FF2B5EF4-FFF2-40B4-BE49-F238E27FC236}">
                <a16:creationId xmlns:a16="http://schemas.microsoft.com/office/drawing/2014/main" id="{AAC7594E-186E-4AF4-A360-F11726C5A71A}"/>
              </a:ext>
            </a:extLst>
          </p:cNvPr>
          <p:cNvSpPr txBox="1"/>
          <p:nvPr/>
        </p:nvSpPr>
        <p:spPr>
          <a:xfrm>
            <a:off x="5992542" y="4730562"/>
            <a:ext cx="1697901" cy="523220"/>
          </a:xfrm>
          <a:prstGeom prst="rect">
            <a:avLst/>
          </a:prstGeom>
          <a:noFill/>
        </p:spPr>
        <p:txBody>
          <a:bodyPr wrap="none" rtlCol="0">
            <a:spAutoFit/>
          </a:bodyPr>
          <a:lstStyle/>
          <a:p>
            <a:r>
              <a:rPr lang="en-US"/>
              <a:t>Ciphertext</a:t>
            </a:r>
          </a:p>
        </p:txBody>
      </p:sp>
    </p:spTree>
    <p:extLst>
      <p:ext uri="{BB962C8B-B14F-4D97-AF65-F5344CB8AC3E}">
        <p14:creationId xmlns:p14="http://schemas.microsoft.com/office/powerpoint/2010/main" val="22893265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15480" y="189429"/>
            <a:ext cx="8229600" cy="646321"/>
          </a:xfrm>
        </p:spPr>
        <p:txBody>
          <a:bodyPr wrap="square">
            <a:spAutoFit/>
          </a:bodyPr>
          <a:lstStyle/>
          <a:p>
            <a:r>
              <a:rPr lang="en-IN" altLang="en-US" sz="3600">
                <a:ea typeface="ヒラギノ角ゴ Pro W3" charset="-128"/>
              </a:rPr>
              <a:t>Columnar Transposition Cipher</a:t>
            </a:r>
            <a:endParaRPr lang="en-US" sz="2800"/>
          </a:p>
        </p:txBody>
      </p:sp>
      <p:sp>
        <p:nvSpPr>
          <p:cNvPr id="4" name="Content Placeholder 3"/>
          <p:cNvSpPr>
            <a:spLocks noGrp="1"/>
          </p:cNvSpPr>
          <p:nvPr>
            <p:ph idx="1"/>
          </p:nvPr>
        </p:nvSpPr>
        <p:spPr>
          <a:xfrm>
            <a:off x="695414" y="1052736"/>
            <a:ext cx="11460596" cy="1978993"/>
          </a:xfrm>
        </p:spPr>
        <p:txBody>
          <a:bodyPr wrap="square">
            <a:spAutoFit/>
          </a:bodyPr>
          <a:lstStyle/>
          <a:p>
            <a:pPr>
              <a:spcBef>
                <a:spcPts val="600"/>
              </a:spcBef>
            </a:pPr>
            <a:r>
              <a:rPr lang="en-US" sz="2800"/>
              <a:t>Is a more complex transposition</a:t>
            </a:r>
            <a:endParaRPr lang="en-AU" sz="2800"/>
          </a:p>
          <a:p>
            <a:pPr>
              <a:spcBef>
                <a:spcPts val="600"/>
              </a:spcBef>
            </a:pPr>
            <a:r>
              <a:rPr lang="en-AU" sz="2800"/>
              <a:t>Write the message in a rectangle, row by row, and read the message off, column by column, but permute the order of the columns</a:t>
            </a:r>
          </a:p>
          <a:p>
            <a:pPr lvl="1"/>
            <a:r>
              <a:rPr lang="en-AU" sz="2800"/>
              <a:t>The order of the columns then becomes the key to the algorithm</a:t>
            </a:r>
          </a:p>
        </p:txBody>
      </p:sp>
      <p:sp>
        <p:nvSpPr>
          <p:cNvPr id="3" name="Content Placeholder 2"/>
          <p:cNvSpPr>
            <a:spLocks noGrp="1"/>
          </p:cNvSpPr>
          <p:nvPr>
            <p:ph idx="13"/>
          </p:nvPr>
        </p:nvSpPr>
        <p:spPr>
          <a:xfrm>
            <a:off x="1981200" y="5805264"/>
            <a:ext cx="8229600" cy="461655"/>
          </a:xfrm>
        </p:spPr>
        <p:txBody>
          <a:bodyPr>
            <a:spAutoFit/>
          </a:bodyPr>
          <a:lstStyle/>
          <a:p>
            <a:pPr lvl="1">
              <a:buNone/>
            </a:pPr>
            <a:r>
              <a:rPr lang="en-AU" sz="2400"/>
              <a:t>Ciphertext:   TTNAAPTMTSUOAODWCOIXKNLYPETZ</a:t>
            </a:r>
          </a:p>
        </p:txBody>
      </p:sp>
      <p:pic>
        <p:nvPicPr>
          <p:cNvPr id="9" name="Picture 8">
            <a:extLst>
              <a:ext uri="{FF2B5EF4-FFF2-40B4-BE49-F238E27FC236}">
                <a16:creationId xmlns:a16="http://schemas.microsoft.com/office/drawing/2014/main" id="{5F6A5199-4FC5-431F-8751-EC70A047E157}"/>
              </a:ext>
            </a:extLst>
          </p:cNvPr>
          <p:cNvPicPr>
            <a:picLocks noChangeAspect="1"/>
          </p:cNvPicPr>
          <p:nvPr/>
        </p:nvPicPr>
        <p:blipFill>
          <a:blip r:embed="rId3"/>
          <a:stretch>
            <a:fillRect/>
          </a:stretch>
        </p:blipFill>
        <p:spPr>
          <a:xfrm>
            <a:off x="2768832" y="3248715"/>
            <a:ext cx="6123766" cy="2433391"/>
          </a:xfrm>
          <a:prstGeom prst="rect">
            <a:avLst/>
          </a:prstGeom>
        </p:spPr>
      </p:pic>
      <p:sp>
        <p:nvSpPr>
          <p:cNvPr id="10" name="Arrow: Right 9">
            <a:extLst>
              <a:ext uri="{FF2B5EF4-FFF2-40B4-BE49-F238E27FC236}">
                <a16:creationId xmlns:a16="http://schemas.microsoft.com/office/drawing/2014/main" id="{04840BF9-FD1E-41B7-BF21-8F801A92899E}"/>
              </a:ext>
            </a:extLst>
          </p:cNvPr>
          <p:cNvSpPr/>
          <p:nvPr/>
        </p:nvSpPr>
        <p:spPr bwMode="auto">
          <a:xfrm>
            <a:off x="3027699" y="2995944"/>
            <a:ext cx="5328592" cy="216986"/>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imes" pitchFamily="18" charset="0"/>
            </a:endParaRPr>
          </a:p>
        </p:txBody>
      </p:sp>
      <p:sp>
        <p:nvSpPr>
          <p:cNvPr id="11" name="Arrow: Down 10">
            <a:extLst>
              <a:ext uri="{FF2B5EF4-FFF2-40B4-BE49-F238E27FC236}">
                <a16:creationId xmlns:a16="http://schemas.microsoft.com/office/drawing/2014/main" id="{89E1B2D6-F610-4015-BC45-FAA9A3759A37}"/>
              </a:ext>
            </a:extLst>
          </p:cNvPr>
          <p:cNvSpPr/>
          <p:nvPr/>
        </p:nvSpPr>
        <p:spPr bwMode="auto">
          <a:xfrm>
            <a:off x="9268808" y="3404555"/>
            <a:ext cx="308720" cy="1978993"/>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a:ln>
                <a:noFill/>
              </a:ln>
              <a:solidFill>
                <a:schemeClr val="tx1"/>
              </a:solidFill>
              <a:effectLst/>
              <a:latin typeface="Times" pitchFamily="18" charset="0"/>
            </a:endParaRPr>
          </a:p>
        </p:txBody>
      </p:sp>
      <p:sp>
        <p:nvSpPr>
          <p:cNvPr id="12" name="TextBox 11">
            <a:extLst>
              <a:ext uri="{FF2B5EF4-FFF2-40B4-BE49-F238E27FC236}">
                <a16:creationId xmlns:a16="http://schemas.microsoft.com/office/drawing/2014/main" id="{529E27D2-B690-43C1-A5D8-F7903AEDCEF8}"/>
              </a:ext>
            </a:extLst>
          </p:cNvPr>
          <p:cNvSpPr txBox="1"/>
          <p:nvPr/>
        </p:nvSpPr>
        <p:spPr>
          <a:xfrm>
            <a:off x="9645080" y="4227579"/>
            <a:ext cx="1697901" cy="523220"/>
          </a:xfrm>
          <a:prstGeom prst="rect">
            <a:avLst/>
          </a:prstGeom>
          <a:noFill/>
        </p:spPr>
        <p:txBody>
          <a:bodyPr wrap="none" rtlCol="0">
            <a:spAutoFit/>
          </a:bodyPr>
          <a:lstStyle/>
          <a:p>
            <a:r>
              <a:rPr lang="en-US"/>
              <a:t>Ciphertext</a:t>
            </a:r>
          </a:p>
        </p:txBody>
      </p:sp>
    </p:spTree>
    <p:extLst>
      <p:ext uri="{BB962C8B-B14F-4D97-AF65-F5344CB8AC3E}">
        <p14:creationId xmlns:p14="http://schemas.microsoft.com/office/powerpoint/2010/main" val="14408730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59496" y="168231"/>
            <a:ext cx="6419056" cy="646321"/>
          </a:xfrm>
        </p:spPr>
        <p:txBody>
          <a:bodyPr wrap="square">
            <a:spAutoFit/>
          </a:bodyPr>
          <a:lstStyle/>
          <a:p>
            <a:r>
              <a:rPr lang="en-IN" altLang="en-US" sz="3600" b="1">
                <a:ea typeface="ヒラギノ角ゴ Pro W3" charset="-128"/>
              </a:rPr>
              <a:t>Summary</a:t>
            </a:r>
            <a:endParaRPr lang="en-US" sz="2800" b="1"/>
          </a:p>
        </p:txBody>
      </p:sp>
      <p:sp>
        <p:nvSpPr>
          <p:cNvPr id="4" name="Content Placeholder 3"/>
          <p:cNvSpPr>
            <a:spLocks noGrp="1"/>
          </p:cNvSpPr>
          <p:nvPr>
            <p:ph idx="1"/>
          </p:nvPr>
        </p:nvSpPr>
        <p:spPr>
          <a:xfrm>
            <a:off x="924910" y="1106996"/>
            <a:ext cx="10067633" cy="1839724"/>
          </a:xfrm>
        </p:spPr>
        <p:txBody>
          <a:bodyPr wrap="square">
            <a:spAutoFit/>
          </a:bodyPr>
          <a:lstStyle/>
          <a:p>
            <a:pPr>
              <a:lnSpc>
                <a:spcPct val="150000"/>
              </a:lnSpc>
              <a:spcBef>
                <a:spcPts val="600"/>
              </a:spcBef>
            </a:pPr>
            <a:r>
              <a:rPr lang="en-US" sz="2400"/>
              <a:t>Present an overview of the main concepts of symmetric cryptography</a:t>
            </a:r>
          </a:p>
          <a:p>
            <a:pPr>
              <a:lnSpc>
                <a:spcPct val="150000"/>
              </a:lnSpc>
              <a:spcBef>
                <a:spcPts val="600"/>
              </a:spcBef>
            </a:pPr>
            <a:r>
              <a:rPr lang="en-US" sz="2400"/>
              <a:t>Explain the difference between cryptanalysis and brute-force attack</a:t>
            </a:r>
          </a:p>
          <a:p>
            <a:pPr>
              <a:lnSpc>
                <a:spcPct val="150000"/>
              </a:lnSpc>
              <a:spcBef>
                <a:spcPts val="600"/>
              </a:spcBef>
            </a:pPr>
            <a:r>
              <a:rPr lang="en-US" sz="2400"/>
              <a:t>Understand the operation of a </a:t>
            </a:r>
            <a:r>
              <a:rPr lang="en-US" sz="2400" err="1"/>
              <a:t>monoalphabetic</a:t>
            </a:r>
            <a:r>
              <a:rPr lang="en-US" sz="2400"/>
              <a:t> substitution cipher</a:t>
            </a:r>
            <a:endParaRPr lang="en-AU" sz="2400"/>
          </a:p>
        </p:txBody>
      </p:sp>
      <p:sp>
        <p:nvSpPr>
          <p:cNvPr id="3" name="Content Placeholder 2"/>
          <p:cNvSpPr>
            <a:spLocks noGrp="1"/>
          </p:cNvSpPr>
          <p:nvPr>
            <p:ph idx="13"/>
          </p:nvPr>
        </p:nvSpPr>
        <p:spPr>
          <a:xfrm>
            <a:off x="924911" y="3288602"/>
            <a:ext cx="8229600" cy="1092597"/>
          </a:xfrm>
        </p:spPr>
        <p:txBody>
          <a:bodyPr wrap="square">
            <a:spAutoFit/>
          </a:bodyPr>
          <a:lstStyle/>
          <a:p>
            <a:pPr>
              <a:lnSpc>
                <a:spcPct val="150000"/>
              </a:lnSpc>
              <a:spcBef>
                <a:spcPts val="600"/>
              </a:spcBef>
            </a:pPr>
            <a:r>
              <a:rPr lang="en-US" sz="2400"/>
              <a:t>Understand the operation of a polyalphabetic cipher</a:t>
            </a:r>
          </a:p>
          <a:p>
            <a:pPr>
              <a:spcBef>
                <a:spcPts val="600"/>
              </a:spcBef>
            </a:pPr>
            <a:r>
              <a:rPr lang="en-US" sz="2400"/>
              <a:t>Present an overview of the Hill cipher</a:t>
            </a:r>
          </a:p>
        </p:txBody>
      </p:sp>
      <p:pic>
        <p:nvPicPr>
          <p:cNvPr id="7" name="Picture Placeholder 6">
            <a:extLst>
              <a:ext uri="{C183D7F6-B498-43B3-948B-1728B52AA6E4}">
                <adec:decorative xmlns:adec="http://schemas.microsoft.com/office/drawing/2017/decorative" val="1"/>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tretch>
            <a:fillRect/>
          </a:stretch>
        </p:blipFill>
        <p:spPr>
          <a:xfrm>
            <a:off x="5039711" y="4876800"/>
            <a:ext cx="2112579" cy="1166648"/>
          </a:xfrm>
          <a:prstGeom prst="rect">
            <a:avLst/>
          </a:prstGeom>
          <a:noFill/>
          <a:ln>
            <a:noFill/>
          </a:ln>
        </p:spPr>
      </p:pic>
    </p:spTree>
    <p:extLst>
      <p:ext uri="{BB962C8B-B14F-4D97-AF65-F5344CB8AC3E}">
        <p14:creationId xmlns:p14="http://schemas.microsoft.com/office/powerpoint/2010/main" val="38651378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DA303-53D7-4151-BE36-397FCA5FE75A}"/>
              </a:ext>
            </a:extLst>
          </p:cNvPr>
          <p:cNvSpPr>
            <a:spLocks noGrp="1"/>
          </p:cNvSpPr>
          <p:nvPr>
            <p:ph type="title"/>
          </p:nvPr>
        </p:nvSpPr>
        <p:spPr>
          <a:xfrm>
            <a:off x="1345381" y="0"/>
            <a:ext cx="9002429" cy="799411"/>
          </a:xfrm>
        </p:spPr>
        <p:txBody>
          <a:bodyPr/>
          <a:lstStyle/>
          <a:p>
            <a:r>
              <a:rPr lang="en-US"/>
              <a:t>Modern cipher systems</a:t>
            </a:r>
          </a:p>
        </p:txBody>
      </p:sp>
      <p:pic>
        <p:nvPicPr>
          <p:cNvPr id="6" name="Picture 5">
            <a:extLst>
              <a:ext uri="{FF2B5EF4-FFF2-40B4-BE49-F238E27FC236}">
                <a16:creationId xmlns:a16="http://schemas.microsoft.com/office/drawing/2014/main" id="{65512403-3EC5-4688-B258-E12867F767F4}"/>
              </a:ext>
            </a:extLst>
          </p:cNvPr>
          <p:cNvPicPr>
            <a:picLocks noChangeAspect="1"/>
          </p:cNvPicPr>
          <p:nvPr/>
        </p:nvPicPr>
        <p:blipFill>
          <a:blip r:embed="rId2"/>
          <a:stretch>
            <a:fillRect/>
          </a:stretch>
        </p:blipFill>
        <p:spPr>
          <a:xfrm>
            <a:off x="1766348" y="1124744"/>
            <a:ext cx="8581462" cy="5256584"/>
          </a:xfrm>
          <a:prstGeom prst="rect">
            <a:avLst/>
          </a:prstGeom>
        </p:spPr>
      </p:pic>
    </p:spTree>
    <p:extLst>
      <p:ext uri="{BB962C8B-B14F-4D97-AF65-F5344CB8AC3E}">
        <p14:creationId xmlns:p14="http://schemas.microsoft.com/office/powerpoint/2010/main" val="538045939"/>
      </p:ext>
    </p:extLst>
  </p:cSld>
  <p:clrMapOvr>
    <a:masterClrMapping/>
  </p:clrMapOvr>
</p:sld>
</file>

<file path=ppt/theme/theme1.xml><?xml version="1.0" encoding="utf-8"?>
<a:theme xmlns:a="http://schemas.openxmlformats.org/drawingml/2006/main" name="2_Standarddesign">
  <a:themeElements>
    <a:clrScheme name="1_Standard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altLang="de-DE" sz="28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de-DE" altLang="de-DE" sz="28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1_Standard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Standard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Standard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Standard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Standard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Standard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Standard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ài liệu" ma:contentTypeID="0x010100CA1A274102FDA7499D73FC5D7584578E" ma:contentTypeVersion="7" ma:contentTypeDescription="Tạo tài liệu mới." ma:contentTypeScope="" ma:versionID="f81a0707c02018be675144c3bea691c4">
  <xsd:schema xmlns:xsd="http://www.w3.org/2001/XMLSchema" xmlns:xs="http://www.w3.org/2001/XMLSchema" xmlns:p="http://schemas.microsoft.com/office/2006/metadata/properties" xmlns:ns2="89d814b9-f459-4030-8190-afd690c1894d" targetNamespace="http://schemas.microsoft.com/office/2006/metadata/properties" ma:root="true" ma:fieldsID="fbfdcb84ea22a31d06526ffe599347d7" ns2:_="">
    <xsd:import namespace="89d814b9-f459-4030-8190-afd690c1894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d814b9-f459-4030-8190-afd690c189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Loại Nội dung"/>
        <xsd:element ref="dc:title" minOccurs="0" maxOccurs="1" ma:index="4" ma:displayName="Tiêu đề"/>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9051A2-046D-4567-8DCC-D6A578EDDFC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9d814b9-f459-4030-8190-afd690c1894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0C3465A-BBE9-473D-8E70-8DAC49F1DE08}">
  <ds:schemaRefs>
    <ds:schemaRef ds:uri="http://schemas.microsoft.com/sharepoint/v3/contenttype/forms"/>
  </ds:schemaRefs>
</ds:datastoreItem>
</file>

<file path=customXml/itemProps3.xml><?xml version="1.0" encoding="utf-8"?>
<ds:datastoreItem xmlns:ds="http://schemas.openxmlformats.org/officeDocument/2006/customXml" ds:itemID="{6D1B7B57-FDBC-4AF5-81F6-9CA65E0F3D9A}">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53</Slides>
  <Notes>46</Notes>
  <HiddenSlides>0</HiddenSlide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2_Standarddesign</vt:lpstr>
      <vt:lpstr>  NT219- Cryptography    </vt:lpstr>
      <vt:lpstr>Outline</vt:lpstr>
      <vt:lpstr>Textbooks and References</vt:lpstr>
      <vt:lpstr>Motivations</vt:lpstr>
      <vt:lpstr>Motivations</vt:lpstr>
      <vt:lpstr>What is cryptograph?</vt:lpstr>
      <vt:lpstr>How cryptograph works?</vt:lpstr>
      <vt:lpstr>How cryptograph works?</vt:lpstr>
      <vt:lpstr>How cryptograph works?</vt:lpstr>
      <vt:lpstr>Classical cipher systems </vt:lpstr>
      <vt:lpstr>Classical cipher systems </vt:lpstr>
      <vt:lpstr>Classical cipher systems </vt:lpstr>
      <vt:lpstr>Clascical Ciphers</vt:lpstr>
      <vt:lpstr>Monoalphabetic cipher</vt:lpstr>
      <vt:lpstr>Monoalphabetic cipher</vt:lpstr>
      <vt:lpstr>Clascical Ciphers</vt:lpstr>
      <vt:lpstr>Homophonic ciphers</vt:lpstr>
      <vt:lpstr>PowerPoint Presentation</vt:lpstr>
      <vt:lpstr>(1) Caesar Cipher (small key space)</vt:lpstr>
      <vt:lpstr>Caesar Cipher Algorithm</vt:lpstr>
      <vt:lpstr>Brute-Force Cryptanalysis of Caesar Cipher </vt:lpstr>
      <vt:lpstr>Cryptanalysis randomly Monoalphabetic cipher</vt:lpstr>
      <vt:lpstr>Cryptanalysis randomly Monoalphabetic cipher</vt:lpstr>
      <vt:lpstr>Cryptanalysis randomly Monoalphabetic cipher</vt:lpstr>
      <vt:lpstr>Cryptanalysis randomly Monoalphabetic cipher</vt:lpstr>
      <vt:lpstr>Relative Frequency of Letters in English Text</vt:lpstr>
      <vt:lpstr>Relative Frequency of Letters in English Text</vt:lpstr>
      <vt:lpstr>Cryptanalysis on monoalphabetic cipher</vt:lpstr>
      <vt:lpstr>Relative Frequency of Letters in Ciphertext</vt:lpstr>
      <vt:lpstr>Relative Frequency of Plaintext and Ciphertext</vt:lpstr>
      <vt:lpstr>Cryptanalysis randomly Monoalphabetic cipher</vt:lpstr>
      <vt:lpstr>Homophonic ciphers</vt:lpstr>
      <vt:lpstr>Polyalphabetic Cipher</vt:lpstr>
      <vt:lpstr>Polyalphabetic Cipher</vt:lpstr>
      <vt:lpstr>Polyalphabetic Ciphers</vt:lpstr>
      <vt:lpstr>(3) Playfair Cipher</vt:lpstr>
      <vt:lpstr>Playfair Key Matrix</vt:lpstr>
      <vt:lpstr>Playfair encryption</vt:lpstr>
      <vt:lpstr>PowerPoint Presentation</vt:lpstr>
      <vt:lpstr>Relative Frequency of Occurrence of Letters</vt:lpstr>
      <vt:lpstr>(4) Hill Cipher</vt:lpstr>
      <vt:lpstr>(5) Vigenère Cipher</vt:lpstr>
      <vt:lpstr>Example of Vigenère Cipher</vt:lpstr>
      <vt:lpstr>Vigenère Cipher</vt:lpstr>
      <vt:lpstr>Vigenère Autokey System</vt:lpstr>
      <vt:lpstr>(6) Vernam Cipher</vt:lpstr>
      <vt:lpstr>One-Time Pad</vt:lpstr>
      <vt:lpstr>Difficulties</vt:lpstr>
      <vt:lpstr>Transposition ciphers</vt:lpstr>
      <vt:lpstr>Transposition cipher</vt:lpstr>
      <vt:lpstr>Columnar Transposition Cipher</vt:lpstr>
      <vt:lpstr>Summary</vt:lpstr>
      <vt:lpstr>Modern cipher systems</vt:lpstr>
    </vt:vector>
  </TitlesOfParts>
  <Company>formlab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Technische Universität Hamburg-Harburg</dc:title>
  <dc:creator>b-tina</dc:creator>
  <cp:revision>2</cp:revision>
  <cp:lastPrinted>1999-07-26T11:07:16Z</cp:lastPrinted>
  <dcterms:created xsi:type="dcterms:W3CDTF">1999-06-21T09:15:32Z</dcterms:created>
  <dcterms:modified xsi:type="dcterms:W3CDTF">2026-03-01T12:47:30Z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0x010100CA1A274102FDA7499D73FC5D7584578E</vt:lpwstr>
  </property>
</Properties>
</file>